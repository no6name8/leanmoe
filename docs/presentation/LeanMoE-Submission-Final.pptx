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Geist" panose="020B0604020202020204" charset="0"/>
      <p:regular r:id="rId12"/>
    </p:embeddedFont>
    <p:embeddedFont>
      <p:font typeface="Geist Bold" panose="020B0604020202020204" charset="0"/>
      <p:regular r:id="rId13"/>
    </p:embeddedFont>
    <p:embeddedFont>
      <p:font typeface="Geist Medium" panose="020B0604020202020204" charset="0"/>
      <p:regular r:id="rId14"/>
    </p:embeddedFont>
    <p:embeddedFont>
      <p:font typeface="Geist SemiBold" panose="020B0604020202020204" charset="0"/>
      <p:regular r:id="rId15"/>
    </p:embeddedFont>
    <p:embeddedFont>
      <p:font typeface="Instrument Serif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7633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LeanMoE focuses on local execution of Mixture-of-Experts models when device RAM is smaller than model weights. It trades storage access for a smaller RAM footprint rather than reducing arithmetic operations. Built for the HUMAIN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baseline: Intel Core i5-12450H with 8.30 GB RAM running Windows 11. The model is Qwen1.5-MoE-A2.7B-Chat quantized to int8. The 14.36 GB disk image represents on-disk weights, not process footprint. Windows paging can run models larger than RAM, but repeated reads cost time and other applications compete for memory. Source: https://github.com/No6Name8/LeanMoE/blob/main/results/config_compare_mmap_full_20261030-060448.json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MoE architectures, each token activates only a sparse subset of feed-forward experts. The unmapped local SSD model store holds quantized int8 expert weights. LeanMoE streams selected weights into a managed RAM cache, evicting cold experts. A heuristic predictor anticipates routing; cache misses fall back to synchronous SSD reads. Dense attention runs in memory, while MoE layers execute over cached expert slices. LiveBudget adjusts cache capacity between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details: 3 prompts (fact, code, explanation), 2 runs each alternating order, 48 output tokens generated with greedy decoding. 2.07x is the ratio of overall means (1.842 / 0.891). Source data: https://github.com/No6Name8/LeanMoE/blob/main/results/config_compare_mmap_full_20261030-060448.json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Adaptive demo: Live budget reduction triggered mid-generation after token 20. Cache resized on-the-fly from 124 down to 59 experts, dropping private memory to ~2.39 GB. Output tokens matched the unthrottled run exactly. Sources: https://github.com/No6Name8/LeanMoE/blob/main/results/adaptive_demo_20261030-060626.json and https://github.com/No6Name8/LeanMoE/blob/main/results/adaptive_demo_20261030-060728.json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LeanMoE builds on Abdullah’s earlier ExpertRelay engine. The baseline correction figures are from an earlier matched 2.5 GB cut experiment, not the final adaptation demo. ExpertRelay: https://doi.org/10.5281/zenodo.22980838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engine, two memory environments. On the 8 GB laptop, the live cut used a 2.5 GB planning budget and measured about 2.39 GB private memory afterward; the budget is not a hard memory ceiling. On the 16 GiB cloud VM, automatic configuration set a 10.969 GB expert cache. These are separate experiments with different metrics, so do not read them as one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 demonstration on 16 GiB Windows VM (4 vCPUs). Sizing cache automatically improves throughput 6.58x over small cache, but falls 9.1% behind Windows paging. Cloud memory availability shifts the advantage back toward OS caching. Source: https://github.com/No6Name8/LeanMoE/blob/main/results/resource_profile_comparison.json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 includes task completion, semantic answer validity and token latency; evaluation beyond Qwen1.5-MoE to Mixtral and DBRX across varied edge devices, memory configurations and Linux/macOS unified memory platforms; and improving LiveBudget feedback on system commit pressure and cache limits. These are proposed directions, not completed results. The full 12-task evaluation remained unfinished; the earlier three-task pilot checked the harness only. Repository: https://github.com/No6Name8/LeanMoE | Live demo: https://leanmoe-demo-1.eastus.cloudapp.azure.com/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o6Name8/LeanMo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hyperlink" Target="https://leanmoe-demo-1.eastus.cloudapp.azur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016000"/>
            <a:ext cx="6136923" cy="4826000"/>
          </a:xfrm>
          <a:prstGeom prst="rect">
            <a:avLst/>
          </a:prstGeom>
          <a:solidFill>
            <a:srgbClr val="0E2A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6773" y="2217853"/>
            <a:ext cx="5222546" cy="1095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400" kern="100" spc="-88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LeanMoE: Large AI. Smaller memory </a:t>
            </a:r>
            <a:r>
              <a:rPr lang="en-US" sz="4400" kern="100" spc="-88" dirty="0">
                <a:solidFill>
                  <a:srgbClr val="C4760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footprint.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066773" y="3595985"/>
            <a:ext cx="652645" cy="38100"/>
          </a:xfrm>
          <a:prstGeom prst="roundRect">
            <a:avLst>
              <a:gd name="adj" fmla="val 49999"/>
            </a:avLst>
          </a:prstGeom>
          <a:solidFill>
            <a:srgbClr val="AEBD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66773" y="3942060"/>
            <a:ext cx="583213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HUMAIN Challenge: Deliver AI with Less Compute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6773" y="4444901"/>
            <a:ext cx="583213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Abdullah Ali Alanazi</a:t>
            </a:r>
            <a:endParaRPr 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CECA5A-E49E-1384-6936-504EC49644E4}"/>
              </a:ext>
            </a:extLst>
          </p:cNvPr>
          <p:cNvSpPr/>
          <p:nvPr/>
        </p:nvSpPr>
        <p:spPr>
          <a:xfrm>
            <a:off x="0" y="6580554"/>
            <a:ext cx="12192000" cy="27744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EEF0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80" y="812800"/>
            <a:ext cx="3251119" cy="5232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35464" y="656352"/>
            <a:ext cx="655303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86761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MEMORY CONSTRAINT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35464" y="1015107"/>
            <a:ext cx="594345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500" kern="100" spc="-45" dirty="0">
                <a:solidFill>
                  <a:srgbClr val="0E2A2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A 14.36 GB model store on an 8 GB laptop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35464" y="1718370"/>
            <a:ext cx="742931" cy="38100"/>
          </a:xfrm>
          <a:prstGeom prst="roundRect">
            <a:avLst>
              <a:gd name="adj" fmla="val 49999"/>
            </a:avLst>
          </a:prstGeom>
          <a:solidFill>
            <a:srgbClr val="F596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35464" y="2109593"/>
            <a:ext cx="5943451" cy="447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600" kern="100" spc="-126" dirty="0">
                <a:solidFill>
                  <a:srgbClr val="0E2A2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14.36 GB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435464" y="2798485"/>
            <a:ext cx="594345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86761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Qwen1.5-MoE-A2.7B-Chat int8 weights on local SSD store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35464" y="3461151"/>
            <a:ext cx="5943451" cy="447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600" kern="100" spc="-126" dirty="0">
                <a:solidFill>
                  <a:srgbClr val="0E2A2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8 GB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435464" y="4150043"/>
            <a:ext cx="594345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86761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Total host RAM on the benchmarked physical laptop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35464" y="4615795"/>
            <a:ext cx="5943451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E2A23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Disk store size is not process RAM. Windows paging can run larger models, but repeated weight reads cost time and other applications compete for memory.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435464" y="5779314"/>
            <a:ext cx="5943451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86761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Intel Core i5-12450H · Windows 11 · NVMe SSD store · 48 output tokens evaluated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35464" y="3206452"/>
            <a:ext cx="5943451" cy="12700"/>
          </a:xfrm>
          <a:prstGeom prst="rect">
            <a:avLst/>
          </a:prstGeom>
          <a:solidFill>
            <a:srgbClr val="CBD1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80FC1B9-E32F-E1F0-9435-5E3E9F28A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93478"/>
            <a:ext cx="12192000" cy="2923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16293"/>
            <a:ext cx="1117572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86761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RUNTIME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780" y="1175048"/>
            <a:ext cx="914377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45" dirty="0">
                <a:solidFill>
                  <a:srgbClr val="0E2A2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Stream the experts, not the whole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780" y="1878310"/>
            <a:ext cx="1320767" cy="38100"/>
          </a:xfrm>
          <a:prstGeom prst="roundRect">
            <a:avLst>
              <a:gd name="adj" fmla="val 49999"/>
            </a:avLst>
          </a:prstGeom>
          <a:solidFill>
            <a:srgbClr val="F596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2780" y="2878651"/>
            <a:ext cx="105661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10" dirty="0">
                <a:solidFill>
                  <a:srgbClr val="0E2A23"/>
                </a:solidFill>
                <a:latin typeface="Geist SemiBold" pitchFamily="34" charset="0"/>
                <a:ea typeface="Geist SemiBold" pitchFamily="34" charset="-122"/>
                <a:cs typeface="Geist SemiBold" pitchFamily="34" charset="0"/>
              </a:rPr>
              <a:t>SSD model store → RAM expert cache → Qwen computation → generated token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780" y="3379530"/>
            <a:ext cx="1056613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E2A23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14.36 GB int8 weights stay on disk. LeanMoE reuses selected weights, prefetches likely experts, and adjusts the cache between tokens as the planning budget changes.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12780" y="4936232"/>
            <a:ext cx="10566036" cy="31651"/>
          </a:xfrm>
          <a:prstGeom prst="roundRect">
            <a:avLst>
              <a:gd name="adj" fmla="val 49998"/>
            </a:avLst>
          </a:prstGeom>
          <a:solidFill>
            <a:srgbClr val="CBD1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2780" y="5275005"/>
            <a:ext cx="1117572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E2A23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Qwen1.5-MoE-A2.7B-Chat int8 produces answers; LeanMoE manages weight access.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780" y="5834082"/>
            <a:ext cx="1117572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86761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Prefetch can miss; the planning budget is not a hard memory ceiling.</a:t>
            </a: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51FD9A-A213-C4FC-99CE-73C124DEA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75944"/>
            <a:ext cx="12192000" cy="2923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16293"/>
            <a:ext cx="1117572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86761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BENCHMARK 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780" y="1175048"/>
            <a:ext cx="914377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45" dirty="0">
                <a:solidFill>
                  <a:srgbClr val="0E2A2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2.07× mean decode throughput on the tested laptop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80" y="2093218"/>
            <a:ext cx="6603835" cy="368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9233" y="2124273"/>
            <a:ext cx="3369682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b="1">
                <a:solidFill>
                  <a:srgbClr val="0E2A23"/>
                </a:solidFill>
                <a:latin typeface="Geist Bold" panose="020B0604020202020204" charset="0"/>
                <a:ea typeface="Geist Bold" pitchFamily="34" charset="-122"/>
                <a:cs typeface="Geist Bold" pitchFamily="34" charset="0"/>
              </a:rPr>
              <a:t>1.842 vs 0.891 tokens/s</a:t>
            </a:r>
            <a:r>
              <a:rPr lang="en-US" sz="2200">
                <a:solidFill>
                  <a:srgbClr val="0E2A23"/>
                </a:solidFill>
                <a:latin typeface="Geist" panose="020B0604020202020204" charset="0"/>
                <a:ea typeface="Geist Bold" pitchFamily="34" charset="-122"/>
                <a:cs typeface="Geist Bold" pitchFamily="34" charset="0"/>
              </a:rPr>
              <a:t> mean decode throughput across six matched runs.</a:t>
            </a:r>
            <a:endParaRPr lang="en-US" sz="2200" dirty="0">
              <a:solidFill>
                <a:srgbClr val="0E2A23"/>
              </a:solidFill>
              <a:latin typeface="Geist" panose="020B06040202020202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009233" y="3906242"/>
            <a:ext cx="3369583" cy="31651"/>
          </a:xfrm>
          <a:prstGeom prst="roundRect">
            <a:avLst>
              <a:gd name="adj" fmla="val 49998"/>
            </a:avLst>
          </a:prstGeom>
          <a:solidFill>
            <a:srgbClr val="CBD1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009233" y="4155480"/>
            <a:ext cx="3369682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E2A23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Five of six matched runs favored LeanMoE. In one warm paging run, OS cache outperformed LeanMoE. All 48 output token IDs matched bit-for-bit.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09233" y="5319435"/>
            <a:ext cx="3369682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86761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Excludes load and prefill times. Ratio of means, not mean of ratios.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F76D61-59BA-28C3-E05A-4B04A0A2D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7273"/>
            <a:ext cx="12192000" cy="2923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16293"/>
            <a:ext cx="1117572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86761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DYNAMIC ADAPTATION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780" y="1175048"/>
            <a:ext cx="914377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45" dirty="0">
                <a:solidFill>
                  <a:srgbClr val="0E2A2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A live budget cut, with 80/80 matching tokens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780" y="1878310"/>
            <a:ext cx="1320767" cy="38100"/>
          </a:xfrm>
          <a:prstGeom prst="roundRect">
            <a:avLst>
              <a:gd name="adj" fmla="val 49999"/>
            </a:avLst>
          </a:prstGeom>
          <a:solidFill>
            <a:srgbClr val="F596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2780" y="2568595"/>
            <a:ext cx="528306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86761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TOKENS 1 – 20 (INITIAL BUDGET)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780" y="2947607"/>
            <a:ext cx="4978275" cy="547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400" kern="100" spc="-154" dirty="0">
                <a:solidFill>
                  <a:srgbClr val="0E2A2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3.50 GB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12780" y="3724811"/>
            <a:ext cx="4978275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>
                <a:solidFill>
                  <a:srgbClr val="0E2A23"/>
                </a:solidFill>
                <a:latin typeface="Geist" panose="020B0604020202020204" charset="0"/>
                <a:ea typeface="Geist" pitchFamily="34" charset="-122"/>
                <a:cs typeface="Geist" pitchFamily="34" charset="0"/>
              </a:rPr>
              <a:t>Planning budget allows </a:t>
            </a:r>
            <a:r>
              <a:rPr lang="en-US" sz="1700" b="1">
                <a:solidFill>
                  <a:srgbClr val="0E2A23"/>
                </a:solidFill>
                <a:latin typeface="Geist Bold" panose="020B0604020202020204" charset="0"/>
                <a:ea typeface="Geist" pitchFamily="34" charset="-122"/>
                <a:cs typeface="Geist" pitchFamily="34" charset="0"/>
              </a:rPr>
              <a:t>124 cached experts</a:t>
            </a:r>
            <a:r>
              <a:rPr lang="en-US" sz="1700">
                <a:solidFill>
                  <a:srgbClr val="0E2A23"/>
                </a:solidFill>
                <a:latin typeface="Geist" panose="020B0604020202020204" charset="0"/>
                <a:ea typeface="Geist" pitchFamily="34" charset="-122"/>
                <a:cs typeface="Geist" pitchFamily="34" charset="0"/>
              </a:rPr>
              <a:t> in RAM.</a:t>
            </a:r>
            <a:endParaRPr lang="en-US" sz="1700" dirty="0">
              <a:solidFill>
                <a:srgbClr val="0E2A23"/>
              </a:solidFill>
              <a:latin typeface="Geist" panose="020B06040202020202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5848" y="2361902"/>
            <a:ext cx="5283068" cy="2472134"/>
          </a:xfrm>
          <a:custGeom>
            <a:avLst/>
            <a:gdLst/>
            <a:ahLst/>
            <a:cxnLst/>
            <a:rect l="l" t="t" r="r" b="b"/>
            <a:pathLst>
              <a:path w="5283068" h="2472134">
                <a:moveTo>
                  <a:pt x="0" y="0"/>
                </a:moveTo>
                <a:lnTo>
                  <a:pt x="5256081" y="0"/>
                </a:lnTo>
                <a:arcTo wR="26987" hR="26987" stAng="16200000" swAng="5400000"/>
                <a:lnTo>
                  <a:pt x="5283068" y="2445147"/>
                </a:lnTo>
                <a:arcTo wR="26987" hR="26987" stAng="0" swAng="5400000"/>
                <a:lnTo>
                  <a:pt x="0" y="2472134"/>
                </a:lnTo>
                <a:lnTo>
                  <a:pt x="0" y="0"/>
                </a:lnTo>
                <a:close/>
              </a:path>
            </a:pathLst>
          </a:custGeom>
          <a:solidFill>
            <a:srgbClr val="EE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640" y="2568595"/>
            <a:ext cx="497827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E2A23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TOKENS 21 – 80 (THROTTLED BUDGET)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640" y="2947607"/>
            <a:ext cx="4978275" cy="547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400" kern="100" spc="-154" dirty="0">
                <a:solidFill>
                  <a:srgbClr val="0E2A2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2.50 GB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640" y="3724811"/>
            <a:ext cx="4978275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E2A23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Live budget drops to 2.5 GB; cache contracts to </a:t>
            </a:r>
            <a:r>
              <a:rPr lang="en-US" sz="1700" b="1" dirty="0">
                <a:solidFill>
                  <a:srgbClr val="0E2A23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59 experts</a:t>
            </a:r>
            <a:r>
              <a:rPr lang="en-US" sz="1700" dirty="0">
                <a:solidFill>
                  <a:srgbClr val="0E2A23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. Process private memory measures ~2.39 GB after eviction.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2780" y="5277941"/>
            <a:ext cx="10566036" cy="31651"/>
          </a:xfrm>
          <a:prstGeom prst="roundRect">
            <a:avLst>
              <a:gd name="adj" fmla="val 49998"/>
            </a:avLst>
          </a:prstGeom>
          <a:solidFill>
            <a:srgbClr val="CBD1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2780" y="5619571"/>
            <a:ext cx="1056613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86761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One prompt, greedy decoding; all 80 tokens matched the uncut baseline. Token equality does not prove answer correctness. Separate experiment from the throughput benchmark.</a:t>
            </a:r>
            <a:endParaRPr lang="en-US" sz="1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EB5B124-F2EA-5BCD-FF92-35ED19F5E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65685"/>
            <a:ext cx="12192000" cy="2923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16293"/>
            <a:ext cx="1117572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86761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ENGINEERING PROVENANCE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780" y="1175048"/>
            <a:ext cx="914377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45" dirty="0">
                <a:solidFill>
                  <a:srgbClr val="0E2A2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Measure, correct, and build on ExpertRelay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780" y="1878310"/>
            <a:ext cx="1320767" cy="38100"/>
          </a:xfrm>
          <a:prstGeom prst="roundRect">
            <a:avLst>
              <a:gd name="adj" fmla="val 49999"/>
            </a:avLst>
          </a:prstGeom>
          <a:solidFill>
            <a:srgbClr val="F596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2780" y="2232141"/>
            <a:ext cx="51306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10" dirty="0">
                <a:solidFill>
                  <a:srgbClr val="0E2A23"/>
                </a:solidFill>
                <a:latin typeface="Geist SemiBold" pitchFamily="34" charset="0"/>
                <a:ea typeface="Geist SemiBold" pitchFamily="34" charset="-122"/>
                <a:cs typeface="Geist SemiBold" pitchFamily="34" charset="0"/>
              </a:rPr>
              <a:t>ExpertRelay · Abdullah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780" y="2733020"/>
            <a:ext cx="513067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E2A23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Engine, store readers, LRU expert cache, predictor, LiveBudget and startup guard.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48244" y="2232141"/>
            <a:ext cx="51306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10" dirty="0">
                <a:solidFill>
                  <a:srgbClr val="0E2A23"/>
                </a:solidFill>
                <a:latin typeface="Geist SemiBold" pitchFamily="34" charset="0"/>
                <a:ea typeface="Geist SemiBold" pitchFamily="34" charset="-122"/>
                <a:cs typeface="Geist SemiBold" pitchFamily="34" charset="0"/>
              </a:rPr>
              <a:t>LeanMoE additions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48244" y="2733020"/>
            <a:ext cx="513067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E2A23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Integration, accounting fixes, tuning, real-model evaluation, tests, streaming and dashboard.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2780" y="3643213"/>
            <a:ext cx="10566036" cy="31651"/>
          </a:xfrm>
          <a:prstGeom prst="roundRect">
            <a:avLst>
              <a:gd name="adj" fmla="val 49998"/>
            </a:avLst>
          </a:prstGeom>
          <a:solidFill>
            <a:srgbClr val="CBD1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2780" y="3981986"/>
            <a:ext cx="1056613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E2A23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Import-baseline correction:</a:t>
            </a:r>
            <a:r>
              <a:rPr lang="en-US" sz="1700" dirty="0">
                <a:solidFill>
                  <a:srgbClr val="0E2A23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approximately 2.66 GB before versus 2.47 GB after in an earlier matched 2.5 GB cut experiment, distinct from the final demo.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780" y="4843284"/>
            <a:ext cx="1117572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86761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ExpertRelay · Zenodo DOI: 10.5281/zenodo.22980838</a:t>
            </a:r>
            <a:endParaRPr lang="en-US" sz="13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B7BAF8C-D330-D96E-6528-39883ACE2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65685"/>
            <a:ext cx="12192000" cy="2923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16293"/>
            <a:ext cx="1117572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86761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ONE ENGINE. TWO MEMORY ENVIRONMENTS.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780" y="1175048"/>
            <a:ext cx="1056613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45" dirty="0">
                <a:solidFill>
                  <a:srgbClr val="0E2A2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LeanMoE sizes its memory to the machine it runs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780" y="1878310"/>
            <a:ext cx="1320767" cy="38100"/>
          </a:xfrm>
          <a:prstGeom prst="roundRect">
            <a:avLst>
              <a:gd name="adj" fmla="val 49999"/>
            </a:avLst>
          </a:prstGeom>
          <a:solidFill>
            <a:srgbClr val="F596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2780" y="2224385"/>
            <a:ext cx="5130672" cy="3758307"/>
          </a:xfrm>
          <a:prstGeom prst="rect">
            <a:avLst/>
          </a:prstGeom>
          <a:solidFill>
            <a:srgbClr val="EE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1374" y="2354878"/>
            <a:ext cx="490207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E2A23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LOCAL · WINDOWS LAPTOP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1374" y="2688051"/>
            <a:ext cx="467348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10" dirty="0">
                <a:solidFill>
                  <a:srgbClr val="0E2A23"/>
                </a:solidFill>
                <a:latin typeface="Geist SemiBold" pitchFamily="34" charset="0"/>
                <a:ea typeface="Geist SemiBold" pitchFamily="34" charset="-122"/>
                <a:cs typeface="Geist SemiBold" pitchFamily="34" charset="0"/>
              </a:rPr>
              <a:t>8 GB of RAM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41374" y="3220680"/>
            <a:ext cx="4673483" cy="74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6000" kern="100" spc="-120" dirty="0">
                <a:solidFill>
                  <a:srgbClr val="0E2A2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2.5 GB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041374" y="4179491"/>
            <a:ext cx="4673483" cy="1676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700" dirty="0">
                <a:solidFill>
                  <a:srgbClr val="0E2A23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Planning budget in a live mid-run cut</a:t>
            </a:r>
            <a:endParaRPr lang="en-US" sz="17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E2A23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About 2.39 GB private memory measured after the cut. The budget is a planning target, not a hard ceiling. The 14.36 GB model store streams from disk.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48244" y="2224385"/>
            <a:ext cx="5130672" cy="3758307"/>
          </a:xfrm>
          <a:prstGeom prst="rect">
            <a:avLst/>
          </a:prstGeom>
          <a:solidFill>
            <a:srgbClr val="F596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76838" y="2657098"/>
            <a:ext cx="490207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CLOUD · WINDOWS VM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76838" y="2990272"/>
            <a:ext cx="467348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10" dirty="0">
                <a:solidFill>
                  <a:srgbClr val="000000"/>
                </a:solidFill>
                <a:latin typeface="Geist SemiBold" pitchFamily="34" charset="0"/>
                <a:ea typeface="Geist SemiBold" pitchFamily="34" charset="-122"/>
                <a:cs typeface="Geist SemiBold" pitchFamily="34" charset="0"/>
              </a:rPr>
              <a:t>16 GiB of RAM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6838" y="3522901"/>
            <a:ext cx="4673483" cy="74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6000" kern="100" spc="-12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10.969 GB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476838" y="4481711"/>
            <a:ext cx="4673483" cy="1071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Expert cache set automatically</a:t>
            </a:r>
            <a:endParaRPr lang="en-US" sz="17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The larger VM's automatic configuration chose this cache size for the same engine.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2780" y="6240185"/>
            <a:ext cx="1117572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86761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Separate experiments with different metrics. Not a direct benchmark.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317C99C-EB6F-31F2-F812-F1A931E18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" y="6566130"/>
            <a:ext cx="12192000" cy="2923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16293"/>
            <a:ext cx="1117572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86761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INFRASTRUCTURE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780" y="1175048"/>
            <a:ext cx="914377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45" dirty="0">
                <a:solidFill>
                  <a:srgbClr val="0E2A2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More memory changes the cloud trade-off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80" y="2155924"/>
            <a:ext cx="6349841" cy="35576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72196" y="2124273"/>
            <a:ext cx="3706720" cy="1564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>
                <a:solidFill>
                  <a:srgbClr val="0E2A23"/>
                </a:solidFill>
                <a:latin typeface="Geist" panose="020B0604020202020204" charset="0"/>
                <a:ea typeface="Geist Bold" pitchFamily="34" charset="-122"/>
                <a:cs typeface="Geist Bold" pitchFamily="34" charset="0"/>
              </a:rPr>
              <a:t>Automatic sizing improved LeanMoE decode throughput </a:t>
            </a:r>
            <a:r>
              <a:rPr lang="en-US" b="1">
                <a:solidFill>
                  <a:srgbClr val="0E2A23"/>
                </a:solidFill>
                <a:latin typeface="Geist Bold" panose="020B0604020202020204" charset="0"/>
                <a:ea typeface="Geist Bold" pitchFamily="34" charset="-122"/>
                <a:cs typeface="Geist Bold" pitchFamily="34" charset="0"/>
              </a:rPr>
              <a:t>6.58×</a:t>
            </a:r>
            <a:r>
              <a:rPr lang="en-US">
                <a:solidFill>
                  <a:srgbClr val="0E2A23"/>
                </a:solidFill>
                <a:latin typeface="Geist" panose="020B0604020202020204" charset="0"/>
                <a:ea typeface="Geist Bold" pitchFamily="34" charset="-122"/>
                <a:cs typeface="Geist Bold" pitchFamily="34" charset="0"/>
              </a:rPr>
              <a:t> versus its small-cache configuration.</a:t>
            </a:r>
            <a:endParaRPr lang="en-US" dirty="0">
              <a:solidFill>
                <a:srgbClr val="0E2A23"/>
              </a:solidFill>
              <a:latin typeface="Geist" panose="020B06040202020202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672196" y="3906242"/>
            <a:ext cx="3706720" cy="31651"/>
          </a:xfrm>
          <a:prstGeom prst="roundRect">
            <a:avLst>
              <a:gd name="adj" fmla="val 49998"/>
            </a:avLst>
          </a:prstGeom>
          <a:solidFill>
            <a:srgbClr val="CBD1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72196" y="4155480"/>
            <a:ext cx="3706720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>
                <a:solidFill>
                  <a:srgbClr val="0E2A23"/>
                </a:solidFill>
                <a:latin typeface="Geist" panose="020B0604020202020204" charset="0"/>
                <a:ea typeface="Geist" pitchFamily="34" charset="-122"/>
                <a:cs typeface="Geist" pitchFamily="34" charset="0"/>
              </a:rPr>
              <a:t>LeanMoE automatic achieved 1.998 tokens/s versus Windows paging’s 2.198 tokens/s: about 9.1% lower throughput in this VM test.</a:t>
            </a:r>
            <a:endParaRPr lang="en-US" sz="1300" dirty="0">
              <a:solidFill>
                <a:srgbClr val="0E2A23"/>
              </a:solidFill>
              <a:latin typeface="Geist" panose="020B06040202020202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672196" y="5319435"/>
            <a:ext cx="370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>
                <a:solidFill>
                  <a:srgbClr val="586761"/>
                </a:solidFill>
                <a:latin typeface="Geist" panose="020B0604020202020204" charset="0"/>
                <a:ea typeface="Geist" pitchFamily="34" charset="-122"/>
                <a:cs typeface="Geist" pitchFamily="34" charset="0"/>
              </a:rPr>
              <a:t>16 GiB VM. One prompt, two main repeats; unequal memory use; OS caches uncontrolled.</a:t>
            </a:r>
            <a:endParaRPr lang="en-US" sz="1200" dirty="0">
              <a:solidFill>
                <a:srgbClr val="586761"/>
              </a:solidFill>
              <a:latin typeface="Geist" panose="020B060402020202020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643A79-DD24-5E03-4627-5E4FBB8CA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1547"/>
            <a:ext cx="12192000" cy="2923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16293"/>
            <a:ext cx="1117572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86761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RESEARCH HORIZON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780" y="1175048"/>
            <a:ext cx="914377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45" dirty="0">
                <a:solidFill>
                  <a:srgbClr val="0E2A2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Next: test useful answers across more devices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780" y="1878310"/>
            <a:ext cx="1320767" cy="38100"/>
          </a:xfrm>
          <a:prstGeom prst="roundRect">
            <a:avLst>
              <a:gd name="adj" fmla="val 49999"/>
            </a:avLst>
          </a:prstGeom>
          <a:solidFill>
            <a:srgbClr val="F596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2780" y="2460741"/>
            <a:ext cx="60653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10" dirty="0">
                <a:solidFill>
                  <a:srgbClr val="0E2A23"/>
                </a:solidFill>
                <a:latin typeface="Geist SemiBold" pitchFamily="34" charset="0"/>
                <a:ea typeface="Geist SemiBold" pitchFamily="34" charset="-122"/>
                <a:cs typeface="Geist SemiBold" pitchFamily="34" charset="0"/>
              </a:rPr>
              <a:t>Research priorities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780" y="2960985"/>
            <a:ext cx="6065388" cy="2445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700" b="1">
                <a:solidFill>
                  <a:srgbClr val="0E2A23"/>
                </a:solidFill>
                <a:latin typeface="Geist Bold" panose="020B0604020202020204" charset="0"/>
                <a:ea typeface="Geist Bold" pitchFamily="34" charset="-122"/>
                <a:cs typeface="Geist Bold" pitchFamily="34" charset="0"/>
              </a:rPr>
              <a:t>Evaluate:</a:t>
            </a:r>
            <a:r>
              <a:rPr lang="en-US" sz="1700">
                <a:solidFill>
                  <a:srgbClr val="0E2A23"/>
                </a:solidFill>
                <a:latin typeface="Geist" panose="020B0604020202020204" charset="0"/>
                <a:ea typeface="Geist Bold" pitchFamily="34" charset="-122"/>
                <a:cs typeface="Geist Bold" pitchFamily="34" charset="0"/>
              </a:rPr>
              <a:t> Test more models and constrained devices.</a:t>
            </a:r>
          </a:p>
          <a:p>
            <a:pPr marL="0" indent="0" algn="l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700" b="1">
                <a:solidFill>
                  <a:srgbClr val="0E2A23"/>
                </a:solidFill>
                <a:latin typeface="Geist Bold" panose="020B0604020202020204" charset="0"/>
                <a:ea typeface="Geist Bold" pitchFamily="34" charset="-122"/>
                <a:cs typeface="Geist Bold" pitchFamily="34" charset="0"/>
              </a:rPr>
              <a:t>Build:</a:t>
            </a:r>
            <a:r>
              <a:rPr lang="en-US" sz="1700">
                <a:solidFill>
                  <a:srgbClr val="0E2A23"/>
                </a:solidFill>
                <a:latin typeface="Geist" panose="020B0604020202020204" charset="0"/>
                <a:ea typeface="Geist Bold" pitchFamily="34" charset="-122"/>
                <a:cs typeface="Geist Bold" pitchFamily="34" charset="0"/>
              </a:rPr>
              <a:t> Simplify model-store setup and improve memory feedback from measured usage.</a:t>
            </a:r>
          </a:p>
          <a:p>
            <a:pPr marL="0" indent="0" algn="l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700" b="1">
                <a:solidFill>
                  <a:srgbClr val="0E2A23"/>
                </a:solidFill>
                <a:latin typeface="Geist Bold" panose="020B0604020202020204" charset="0"/>
                <a:ea typeface="Geist Bold" pitchFamily="34" charset="-122"/>
                <a:cs typeface="Geist Bold" pitchFamily="34" charset="0"/>
              </a:rPr>
              <a:t>Evidence boundary:</a:t>
            </a:r>
            <a:r>
              <a:rPr lang="en-US" sz="1700">
                <a:solidFill>
                  <a:srgbClr val="0E2A23"/>
                </a:solidFill>
                <a:latin typeface="Geist" panose="020B0604020202020204" charset="0"/>
                <a:ea typeface="Geist Bold" pitchFamily="34" charset="-122"/>
                <a:cs typeface="Geist Bold" pitchFamily="34" charset="0"/>
              </a:rPr>
              <a:t> Full 12-task laptop check: 8/12 correct and within 120 seconds per mode, first and warm. Four tasks wrong; the earlier three-task pilot was a harness check.</a:t>
            </a:r>
            <a:endParaRPr lang="en-US" sz="1700" dirty="0">
              <a:solidFill>
                <a:srgbClr val="0E2A23"/>
              </a:solidFill>
              <a:latin typeface="Geist" panose="020B06040202020202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35257" y="2224385"/>
            <a:ext cx="4043559" cy="3820815"/>
          </a:xfrm>
          <a:prstGeom prst="rect">
            <a:avLst/>
          </a:prstGeom>
          <a:solidFill>
            <a:srgbClr val="EE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63851" y="2456478"/>
            <a:ext cx="381496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E2A23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ACCESS &amp; ARTIFACTS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63851" y="2789651"/>
            <a:ext cx="358637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10" dirty="0">
                <a:solidFill>
                  <a:srgbClr val="0E2A23"/>
                </a:solidFill>
                <a:latin typeface="Geist SemiBold" pitchFamily="34" charset="0"/>
                <a:ea typeface="Geist SemiBold" pitchFamily="34" charset="-122"/>
                <a:cs typeface="Geist SemiBold" pitchFamily="34" charset="0"/>
              </a:rPr>
              <a:t>Review resources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563851" y="3289895"/>
            <a:ext cx="3586370" cy="1871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>
                <a:solidFill>
                  <a:srgbClr val="0E2A23"/>
                </a:solidFill>
                <a:latin typeface="Geist Bold" panose="020B0604020202020204" charset="0"/>
                <a:ea typeface="Geist Bold" pitchFamily="34" charset="-122"/>
                <a:cs typeface="Geist Bold" pitchFamily="34" charset="0"/>
                <a:hlinkClick r:id="rId3"/>
              </a:rPr>
              <a:t>GitHub</a:t>
            </a:r>
            <a:endParaRPr lang="en-US" sz="1600" b="1">
              <a:solidFill>
                <a:srgbClr val="0E2A23"/>
              </a:solidFill>
              <a:latin typeface="Geist Bold" panose="020B0604020202020204" charset="0"/>
              <a:ea typeface="Geist Bold" pitchFamily="34" charset="-122"/>
              <a:cs typeface="Geist Bold" pitchFamily="34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>
                <a:solidFill>
                  <a:srgbClr val="0E2A23"/>
                </a:solidFill>
                <a:latin typeface="Geist" panose="020B0604020202020204" charset="0"/>
                <a:ea typeface="Geist Bold" pitchFamily="34" charset="-122"/>
                <a:cs typeface="Geist Bold" pitchFamily="34" charset="0"/>
              </a:rPr>
              <a:t>Code, setup and raw evidence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b="1">
                <a:solidFill>
                  <a:srgbClr val="0E2A23"/>
                </a:solidFill>
                <a:latin typeface="Geist Bold" panose="020B0604020202020204" charset="0"/>
                <a:ea typeface="Geist Bold" pitchFamily="34" charset="-122"/>
                <a:cs typeface="Geist Bold" pitchFamily="34" charset="0"/>
                <a:hlinkClick r:id="rId4"/>
              </a:rPr>
              <a:t>Live demo</a:t>
            </a:r>
            <a:endParaRPr lang="en-US" sz="1600" b="1">
              <a:solidFill>
                <a:srgbClr val="0E2A23"/>
              </a:solidFill>
              <a:latin typeface="Geist Bold" panose="020B0604020202020204" charset="0"/>
              <a:ea typeface="Geist Bold" pitchFamily="34" charset="-122"/>
              <a:cs typeface="Geist Bold" pitchFamily="34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>
                <a:solidFill>
                  <a:srgbClr val="0E2A23"/>
                </a:solidFill>
                <a:latin typeface="Geist" panose="020B0604020202020204" charset="0"/>
                <a:ea typeface="Geist Bold" pitchFamily="34" charset="-122"/>
                <a:cs typeface="Geist Bold" pitchFamily="34" charset="0"/>
              </a:rPr>
              <a:t>Runs on a protected Windows server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>
                <a:solidFill>
                  <a:srgbClr val="0E2A23"/>
                </a:solidFill>
                <a:latin typeface="Geist" panose="020B0604020202020204" charset="0"/>
                <a:ea typeface="Geist Bold" pitchFamily="34" charset="-122"/>
                <a:cs typeface="Geist Bold" pitchFamily="34" charset="0"/>
              </a:rPr>
              <a:t>Private credentials required.</a:t>
            </a:r>
            <a:endParaRPr lang="en-US" sz="1600" dirty="0">
              <a:solidFill>
                <a:srgbClr val="0E2A23"/>
              </a:solidFill>
              <a:latin typeface="Geist" panose="020B060402020202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63851" y="5330349"/>
            <a:ext cx="358637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E2A23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HUMAIN Hackathon Submission · October 2026</a:t>
            </a:r>
            <a:endParaRPr lang="en-US" sz="13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11954C-DE94-0B02-A39E-81B5C5F11C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565685"/>
            <a:ext cx="12192000" cy="2923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1322</Words>
  <Application>Microsoft Office PowerPoint</Application>
  <PresentationFormat>Widescreen</PresentationFormat>
  <Paragraphs>89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Geist Bold</vt:lpstr>
      <vt:lpstr>Arial</vt:lpstr>
      <vt:lpstr>Instrument Serif</vt:lpstr>
      <vt:lpstr>Geist</vt:lpstr>
      <vt:lpstr>Geist SemiBold</vt:lpstr>
      <vt:lpstr>Geist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ABDULLAH ALI  MAHDI  ALANAZI</cp:lastModifiedBy>
  <cp:revision>5</cp:revision>
  <dcterms:created xsi:type="dcterms:W3CDTF">2026-10-31T00:53:32Z</dcterms:created>
  <dcterms:modified xsi:type="dcterms:W3CDTF">2026-10-31T05:59:21Z</dcterms:modified>
</cp:coreProperties>
</file>