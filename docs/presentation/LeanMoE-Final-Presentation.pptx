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Geist" panose="020B0604020202020204" charset="0"/>
      <p:regular r:id="rId12"/>
    </p:embeddedFont>
    <p:embeddedFont>
      <p:font typeface="Geist Bold" panose="020B0604020202020204" charset="0"/>
      <p:regular r:id="rId13"/>
    </p:embeddedFont>
    <p:embeddedFont>
      <p:font typeface="Geist Medium" panose="020B0604020202020204" charset="0"/>
      <p:regular r:id="rId14"/>
    </p:embeddedFont>
    <p:embeddedFont>
      <p:font typeface="Geist SemiBold" panose="020B0604020202020204" charset="0"/>
      <p:regular r:id="rId15"/>
    </p:embeddedFont>
    <p:embeddedFont>
      <p:font typeface="Instrument Serif"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137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with a limitation on my own laptop: the model's weights were larger than its RAM. LeanMoE runs Mixture-of-Experts models in that situation by trading storage reads for a smaller RAM footprint. It does not reduce the model's arithmetic. Built for the HUMAIN Challenge: Deliver AI with Less Compute.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laptop has 8.30 GB of installed RAM. The Qwen1.5-MoE-A2.7B-Chat int8 store is 14.36 GB on the local SSD. Disk-store size is not process memory: missing weights must be read from SSD, and other applications compete for RAM. Windows paging can also run models larger than RAM, so the question is how each approach behaves on this machine. Hardware: Intel Core i5-12450H, Windows 11, NVMe SSD. Source: https://github.com/No6Name8/LeanMoE/blob/main/results/config_compare_mmap_full_20261030-060448.json
Transition: The model does not need every expert for every token. That gives us a way to manage memory more deliberately.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unmapped SSD store holds quantized int8 expert weights. LeanMoE keeps selected experts in a RAM cache, prefetches likely experts, and resizes the cache when the planning budget changes. Qwen computes the answers; LeanMoE manages expert-weight access. Prefetch predictions can miss, and the memory budget is a planning target, not a hard memory ceiling. The engine mechanisms come from Abdullah’s earlier ExpertRelay research; slide 7 covers that contribution. Avoid implying fewer arithmetic operations.
Transition: First, I tested whether this execution method helped on the same laptop.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three prompts (fact, code, explanation), two runs per mode per prompt, 48 output tokens per run. Same laptop, model store, fused kernel and thread settings: OpenBLAS 4 threads, Numba 12. Mode order alternated, one process at a time. Decode excludes loading and prefill. The 2.07× is the ratio of the overall means (1.842 / 0.891), not a mean of per-prompt ratios. LeanMoE was faster in five of six matched comparisons; one warm paging run was faster; all 48 output token IDs matched. Source: https://github.com/No6Name8/LeanMoE/blob/main/results/config_compare_mmap_full_20261030-060448.json
Transition: Faster tokens alone were not enough. I also needed to check useful task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a larger machine did not automatically make the engine faster. The original configuration still used a laptop-sized cache. Measuring the bottleneck led to automatic sizing, which improved LeanMoE’s throughput by 6.58× in this experiment.
Scope: same 16 GiB Windows VM with four vCPUs; same model and store, prompt, fused int8 kernel and four-thread settings. One prompt, two main repeats, uncontrolled Windows file-cache state. The configurations differ in cache capacity and memory use. The 6.58× result compares two LeanMoE configurations, not a speedup over Windows paging (2.198 tokens/s).
Disk reads: guest-wide Windows disk counters across measured decode steps, 24.462 GB to 3.477 GB. These are not host physical media reads, not process-isolated reads, not total task I/O, and not energy savings; async prefetch can cross step boundaries.
Separate task evaluation (earlier slide): 12 fixed tasks, both modes achieved 8/12 manually correct answers, with the same four tasks wrong. This does not mean all answers were correct, and it does not establish broad answer quality.
Sources: https://github.com/No6Name8/LeanMoE/blob/main/results/resource_profile_comparison.json ; https://github.com/No6Name8/LeanMoE/blob/main/deploy/RESOURCE_PROFILE.md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 demo, separate from the throughput benchmark: one prompt, greedy decoding, 80 tokens, starting budget 3.5 GB. The committed run generated all 80 tokens with no error. The expert cache was resized from 149 to 109 experts at token 1, limited by free RAM. Peak sampled private memory during decoding was 2.83 GB. Token completion shows execution consistency, not answer correctness. Historically, a fixed 1.3 GB cache with a 2.5 GB budget was refused at startup, not crashed mid-run. Sources: https://github.com/No6Name8/LeanMoE/blob/main/results/adaptive_demo_20261030-060626.json and https://github.com/No6Name8/LeanMoE/blob/main/results/adaptive_demo_20261030-060728.json
Transition: These experiments also exposed assumptions in the implementation that I needed to correct.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LeanMoE builds on Abdullah’s earlier ExpertRelay engine, which supplied the engine, store readers, LRU expert cache, predictor, LiveBudget and startup guard. LeanMoE added integration, corrected memory accounting, thread tuning, new evaluations, strict evidence checks, streaming, a dashboard and automatic sizing. Example: the estimate missed committed runtime memory at import. The import-baseline correction is from an earlier matched 2.5 GB cut experiment: about 2.66 GB before and 2.47 GB after. It is not the final adaptation demo. ExpertRelay: https://doi.org/10.5281/zenodo.22980838
Transition: I wanted others to inspect those decisions and test the system themselves.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quality: real streaming inference and comparisons, live budget control, downloadable run records and recorded evidence, setup scripts and real-engine synthetic-store tests. Synthetic weights produce meaningless output and test the mechanics without the large model download. Full Qwen inference needs the external 14.36 GB store and Windows. Cloud detail, kept separate: on a 16 GiB Windows VM with 4 vCPUs (one prompt, two main repeats, uncontrolled OS caches, unequal memory use), LeanMoE with a 1.197 GB cache ran 0.304 tokens/s; automatic sizing set a 10.969 GB cache and ran 1.998 tokens/s, 6.58× the small-cache configuration; Windows paging ran 2.198 tokens/s, about 9.1% faster than automatic LeanMoE. It is not the main performance story. Source: https://github.com/No6Name8/LeanMoE/blob/main/results/resource_profile_comparison.json
Transition: The current evidence answers a narrow question. The next step is to find how widely the result holds.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not yet scheduled as results. 1) Smarter expert access: improve expert prediction and cache policies to reduce unnecessary disk reads; validate through controlled comparisons of latency, memory and output consistency. 2) A better cloud experience: investigate safe reuse of loaded model weights between requests while keeping each user’s prompts and generation state isolated; tune cache sizing and storage for the server, then measure latency, memory and cost together. Retaining the engine alone is not expected to solve the observed cloud bottleneck. 3) Easier adoption: simplify model-store setup and distribution, add support for more MoE models, and test across more devices. Local inference stays the foundation; cloud is an extension of the same runtime. We make no claims about speedups, savings, cross-platform support or answer quality. Repository: https://github.com/No6Name8/LeanMoE. Live demo: https://leanmoe-demo-1.eastus.cloudapp.azure.com/ (requires private credentials). Close on: Large models on the hardware people already have.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8F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AF8F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5281/zenodo.22980838"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No6Name8/LeanMoE"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hyperlink" Target="https://leanmoe-demo-1.eastus.cloudapp.azure.co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No6Name8/LeanMoE"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hyperlink" Target="https://leanmoe-demo-1.eastus.cloudapp.azur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1016000"/>
            <a:ext cx="6136923" cy="4826000"/>
          </a:xfrm>
          <a:prstGeom prst="rect">
            <a:avLst/>
          </a:prstGeom>
          <a:solidFill>
            <a:srgbClr val="0E2A23"/>
          </a:solidFill>
          <a:ln/>
        </p:spPr>
        <p:txBody>
          <a:bodyPr/>
          <a:lstStyle/>
          <a:p>
            <a:endParaRPr lang="en-US"/>
          </a:p>
        </p:txBody>
      </p:sp>
      <p:sp>
        <p:nvSpPr>
          <p:cNvPr id="3" name="Text 1"/>
          <p:cNvSpPr/>
          <p:nvPr/>
        </p:nvSpPr>
        <p:spPr>
          <a:xfrm>
            <a:off x="1066773" y="2217853"/>
            <a:ext cx="5222546" cy="1095177"/>
          </a:xfrm>
          <a:prstGeom prst="rect">
            <a:avLst/>
          </a:prstGeom>
          <a:noFill/>
          <a:ln/>
        </p:spPr>
        <p:txBody>
          <a:bodyPr wrap="square" lIns="0" tIns="0" rIns="0" bIns="0" rtlCol="0" anchor="t">
            <a:normAutofit/>
          </a:bodyPr>
          <a:lstStyle/>
          <a:p>
            <a:pPr marL="0" indent="0" algn="l">
              <a:lnSpc>
                <a:spcPct val="82000"/>
              </a:lnSpc>
              <a:buNone/>
            </a:pPr>
            <a:r>
              <a:rPr lang="en-US" sz="4400" kern="100" spc="-88" dirty="0">
                <a:solidFill>
                  <a:srgbClr val="FFFFFF"/>
                </a:solidFill>
                <a:latin typeface="Instrument Serif" pitchFamily="34" charset="0"/>
                <a:ea typeface="Instrument Serif" pitchFamily="34" charset="-122"/>
                <a:cs typeface="Instrument Serif" pitchFamily="34" charset="0"/>
              </a:rPr>
              <a:t>LeanMoE: Large AI. Smaller memory </a:t>
            </a:r>
            <a:r>
              <a:rPr lang="en-US" sz="4400" kern="100" spc="-88" dirty="0">
                <a:solidFill>
                  <a:srgbClr val="C47608"/>
                </a:solidFill>
                <a:latin typeface="Instrument Serif" pitchFamily="34" charset="0"/>
                <a:ea typeface="Instrument Serif" pitchFamily="34" charset="-122"/>
                <a:cs typeface="Instrument Serif" pitchFamily="34" charset="0"/>
              </a:rPr>
              <a:t>footprint.</a:t>
            </a:r>
            <a:endParaRPr lang="en-US" sz="4400" dirty="0"/>
          </a:p>
        </p:txBody>
      </p:sp>
      <p:sp>
        <p:nvSpPr>
          <p:cNvPr id="4" name="Shape 2"/>
          <p:cNvSpPr/>
          <p:nvPr/>
        </p:nvSpPr>
        <p:spPr>
          <a:xfrm>
            <a:off x="1066773" y="3595985"/>
            <a:ext cx="652645" cy="38100"/>
          </a:xfrm>
          <a:prstGeom prst="roundRect">
            <a:avLst>
              <a:gd name="adj" fmla="val 49999"/>
            </a:avLst>
          </a:prstGeom>
          <a:solidFill>
            <a:srgbClr val="AEBDB6"/>
          </a:solidFill>
          <a:ln/>
        </p:spPr>
        <p:txBody>
          <a:bodyPr/>
          <a:lstStyle/>
          <a:p>
            <a:endParaRPr lang="en-US"/>
          </a:p>
        </p:txBody>
      </p:sp>
      <p:sp>
        <p:nvSpPr>
          <p:cNvPr id="5" name="Text 3"/>
          <p:cNvSpPr/>
          <p:nvPr/>
        </p:nvSpPr>
        <p:spPr>
          <a:xfrm>
            <a:off x="1066773" y="3942060"/>
            <a:ext cx="5832131" cy="248841"/>
          </a:xfrm>
          <a:prstGeom prst="rect">
            <a:avLst/>
          </a:prstGeom>
          <a:noFill/>
          <a:ln/>
        </p:spPr>
        <p:txBody>
          <a:bodyPr wrap="none" lIns="0" tIns="0" rIns="0" bIns="0" rtlCol="0" anchor="t"/>
          <a:lstStyle/>
          <a:p>
            <a:pPr marL="0" indent="0" algn="l">
              <a:lnSpc>
                <a:spcPct val="117000"/>
              </a:lnSpc>
              <a:buNone/>
            </a:pPr>
            <a:r>
              <a:rPr lang="en-US" sz="1400" dirty="0">
                <a:solidFill>
                  <a:srgbClr val="FFFFFF"/>
                </a:solidFill>
                <a:latin typeface="Geist" pitchFamily="34" charset="0"/>
                <a:ea typeface="Geist" pitchFamily="34" charset="-122"/>
                <a:cs typeface="Geist" pitchFamily="34" charset="0"/>
              </a:rPr>
              <a:t>HUMAIN Challenge: Deliver AI with Less Compute</a:t>
            </a:r>
            <a:endParaRPr lang="en-US" sz="1400" dirty="0"/>
          </a:p>
        </p:txBody>
      </p:sp>
      <p:sp>
        <p:nvSpPr>
          <p:cNvPr id="6" name="Text 4"/>
          <p:cNvSpPr/>
          <p:nvPr/>
        </p:nvSpPr>
        <p:spPr>
          <a:xfrm>
            <a:off x="1066773" y="4444901"/>
            <a:ext cx="5832131" cy="248841"/>
          </a:xfrm>
          <a:prstGeom prst="rect">
            <a:avLst/>
          </a:prstGeom>
          <a:noFill/>
          <a:ln/>
        </p:spPr>
        <p:txBody>
          <a:bodyPr wrap="none" lIns="0" tIns="0" rIns="0" bIns="0" rtlCol="0" anchor="t"/>
          <a:lstStyle/>
          <a:p>
            <a:pPr marL="0" indent="0" algn="l">
              <a:lnSpc>
                <a:spcPct val="117000"/>
              </a:lnSpc>
              <a:buNone/>
            </a:pPr>
            <a:r>
              <a:rPr lang="en-US" sz="1400" dirty="0">
                <a:solidFill>
                  <a:srgbClr val="FFFFFF"/>
                </a:solidFill>
                <a:latin typeface="Geist" pitchFamily="34" charset="0"/>
                <a:ea typeface="Geist" pitchFamily="34" charset="-122"/>
                <a:cs typeface="Geist" pitchFamily="34" charset="0"/>
              </a:rPr>
              <a:t>Abdullah Ali Alanazi</a:t>
            </a:r>
            <a:endParaRPr lang="en-US" sz="1400" dirty="0"/>
          </a:p>
        </p:txBody>
      </p:sp>
      <p:sp>
        <p:nvSpPr>
          <p:cNvPr id="9" name="Rectangle 8">
            <a:extLst>
              <a:ext uri="{FF2B5EF4-FFF2-40B4-BE49-F238E27FC236}">
                <a16:creationId xmlns:a16="http://schemas.microsoft.com/office/drawing/2014/main" id="{B8534D7B-6DE2-53F8-DFE0-027193ABFB11}"/>
              </a:ext>
            </a:extLst>
          </p:cNvPr>
          <p:cNvSpPr/>
          <p:nvPr/>
        </p:nvSpPr>
        <p:spPr>
          <a:xfrm>
            <a:off x="0" y="6588369"/>
            <a:ext cx="12192000" cy="269631"/>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876678" cy="6858000"/>
          </a:xfrm>
          <a:prstGeom prst="rect">
            <a:avLst/>
          </a:prstGeom>
          <a:solidFill>
            <a:srgbClr val="EEF0E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812780" y="812800"/>
            <a:ext cx="3251119" cy="5232400"/>
          </a:xfrm>
          <a:prstGeom prst="rect">
            <a:avLst/>
          </a:prstGeom>
        </p:spPr>
      </p:pic>
      <p:sp>
        <p:nvSpPr>
          <p:cNvPr id="4" name="Text 1"/>
          <p:cNvSpPr/>
          <p:nvPr/>
        </p:nvSpPr>
        <p:spPr>
          <a:xfrm>
            <a:off x="5435464" y="456426"/>
            <a:ext cx="6553036"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MEMORY CONSTRAINT</a:t>
            </a:r>
            <a:endParaRPr lang="en-US" sz="1300" dirty="0"/>
          </a:p>
        </p:txBody>
      </p:sp>
      <p:sp>
        <p:nvSpPr>
          <p:cNvPr id="5" name="Text 2"/>
          <p:cNvSpPr/>
          <p:nvPr/>
        </p:nvSpPr>
        <p:spPr>
          <a:xfrm>
            <a:off x="5435464" y="815181"/>
            <a:ext cx="5943451" cy="800100"/>
          </a:xfrm>
          <a:prstGeom prst="rect">
            <a:avLst/>
          </a:prstGeom>
          <a:noFill/>
          <a:ln/>
        </p:spPr>
        <p:txBody>
          <a:bodyPr wrap="square" lIns="0" tIns="0" rIns="0" bIns="0" rtlCol="0" anchor="t">
            <a:noAutofit/>
          </a:bodyPr>
          <a:lstStyle/>
          <a:p>
            <a:pPr marL="0" indent="0" algn="l">
              <a:lnSpc>
                <a:spcPct val="88000"/>
              </a:lnSpc>
              <a:buNone/>
            </a:pPr>
            <a:r>
              <a:rPr lang="en-US" sz="3000" kern="100" spc="-45">
                <a:solidFill>
                  <a:srgbClr val="0E2A23"/>
                </a:solidFill>
                <a:latin typeface="Geist SemiBold" panose="020B0604020202020204" charset="0"/>
                <a:ea typeface="Geist SemiBold" pitchFamily="34" charset="-122"/>
                <a:cs typeface="Geist SemiBold" pitchFamily="34" charset="0"/>
              </a:rPr>
              <a:t>My laptop had 8 GB. The disk store was 14.4 GB.</a:t>
            </a:r>
            <a:endParaRPr lang="en-US" sz="3000" dirty="0">
              <a:solidFill>
                <a:srgbClr val="0E2A23"/>
              </a:solidFill>
              <a:latin typeface="Geist SemiBold" panose="020B0604020202020204" charset="0"/>
            </a:endParaRPr>
          </a:p>
        </p:txBody>
      </p:sp>
      <p:sp>
        <p:nvSpPr>
          <p:cNvPr id="6" name="Shape 3"/>
          <p:cNvSpPr/>
          <p:nvPr/>
        </p:nvSpPr>
        <p:spPr>
          <a:xfrm>
            <a:off x="5435464" y="1918494"/>
            <a:ext cx="742931" cy="38100"/>
          </a:xfrm>
          <a:prstGeom prst="roundRect">
            <a:avLst>
              <a:gd name="adj" fmla="val 49999"/>
            </a:avLst>
          </a:prstGeom>
          <a:solidFill>
            <a:srgbClr val="F5960F"/>
          </a:solidFill>
          <a:ln/>
        </p:spPr>
        <p:txBody>
          <a:bodyPr/>
          <a:lstStyle/>
          <a:p>
            <a:endParaRPr lang="en-US"/>
          </a:p>
        </p:txBody>
      </p:sp>
      <p:sp>
        <p:nvSpPr>
          <p:cNvPr id="7" name="Text 4"/>
          <p:cNvSpPr/>
          <p:nvPr/>
        </p:nvSpPr>
        <p:spPr>
          <a:xfrm>
            <a:off x="5435464" y="2309717"/>
            <a:ext cx="5943451" cy="447973"/>
          </a:xfrm>
          <a:prstGeom prst="rect">
            <a:avLst/>
          </a:prstGeom>
          <a:noFill/>
          <a:ln/>
        </p:spPr>
        <p:txBody>
          <a:bodyPr wrap="none" lIns="0" tIns="0" rIns="0" bIns="0" rtlCol="0" anchor="t"/>
          <a:lstStyle/>
          <a:p>
            <a:pPr marL="0" indent="0" algn="l">
              <a:lnSpc>
                <a:spcPct val="82000"/>
              </a:lnSpc>
              <a:buNone/>
            </a:pPr>
            <a:r>
              <a:rPr lang="en-US" sz="3600" kern="100" spc="-126" dirty="0">
                <a:solidFill>
                  <a:srgbClr val="0E2A23"/>
                </a:solidFill>
                <a:latin typeface="Instrument Serif" pitchFamily="34" charset="0"/>
                <a:ea typeface="Instrument Serif" pitchFamily="34" charset="-122"/>
                <a:cs typeface="Instrument Serif" pitchFamily="34" charset="0"/>
              </a:rPr>
              <a:t>14.36 GB</a:t>
            </a:r>
            <a:endParaRPr lang="en-US" sz="3600" dirty="0"/>
          </a:p>
        </p:txBody>
      </p:sp>
      <p:sp>
        <p:nvSpPr>
          <p:cNvPr id="8" name="Text 5"/>
          <p:cNvSpPr/>
          <p:nvPr/>
        </p:nvSpPr>
        <p:spPr>
          <a:xfrm>
            <a:off x="5435464" y="2998609"/>
            <a:ext cx="5943451"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Qwen1.5-MoE-A2.7B-Chat int8 weights in the local SSD store (disk size, not process RAM)</a:t>
            </a:r>
            <a:endParaRPr lang="en-US" sz="1300" dirty="0"/>
          </a:p>
        </p:txBody>
      </p:sp>
      <p:sp>
        <p:nvSpPr>
          <p:cNvPr id="9" name="Text 6"/>
          <p:cNvSpPr/>
          <p:nvPr/>
        </p:nvSpPr>
        <p:spPr>
          <a:xfrm>
            <a:off x="5435464" y="3875885"/>
            <a:ext cx="5943451" cy="447973"/>
          </a:xfrm>
          <a:prstGeom prst="rect">
            <a:avLst/>
          </a:prstGeom>
          <a:noFill/>
          <a:ln/>
        </p:spPr>
        <p:txBody>
          <a:bodyPr wrap="none" lIns="0" tIns="0" rIns="0" bIns="0" rtlCol="0" anchor="t"/>
          <a:lstStyle/>
          <a:p>
            <a:pPr marL="0" indent="0" algn="l">
              <a:lnSpc>
                <a:spcPct val="82000"/>
              </a:lnSpc>
              <a:buNone/>
            </a:pPr>
            <a:r>
              <a:rPr lang="en-US" sz="3600" kern="100" spc="-126" dirty="0">
                <a:solidFill>
                  <a:srgbClr val="0E2A23"/>
                </a:solidFill>
                <a:latin typeface="Instrument Serif" pitchFamily="34" charset="0"/>
                <a:ea typeface="Instrument Serif" pitchFamily="34" charset="-122"/>
                <a:cs typeface="Instrument Serif" pitchFamily="34" charset="0"/>
              </a:rPr>
              <a:t>8.30 GB</a:t>
            </a:r>
            <a:endParaRPr lang="en-US" sz="3600" dirty="0"/>
          </a:p>
        </p:txBody>
      </p:sp>
      <p:sp>
        <p:nvSpPr>
          <p:cNvPr id="10" name="Text 7"/>
          <p:cNvSpPr/>
          <p:nvPr/>
        </p:nvSpPr>
        <p:spPr>
          <a:xfrm>
            <a:off x="5435464" y="4564777"/>
            <a:ext cx="5943451"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Installed physical RAM on the benchmarked laptop</a:t>
            </a:r>
            <a:endParaRPr lang="en-US" sz="1300" dirty="0"/>
          </a:p>
        </p:txBody>
      </p:sp>
      <p:sp>
        <p:nvSpPr>
          <p:cNvPr id="11" name="Text 8"/>
          <p:cNvSpPr/>
          <p:nvPr/>
        </p:nvSpPr>
        <p:spPr>
          <a:xfrm>
            <a:off x="5435464" y="5030530"/>
            <a:ext cx="5943451"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Missing weights must be fetched from SSD, and other applications compete for the same RAM. Windows paging can also run larger models, at a cost in time.</a:t>
            </a:r>
            <a:endParaRPr lang="en-US" sz="1700" dirty="0"/>
          </a:p>
        </p:txBody>
      </p:sp>
      <p:sp>
        <p:nvSpPr>
          <p:cNvPr id="12" name="Text 9"/>
          <p:cNvSpPr/>
          <p:nvPr/>
        </p:nvSpPr>
        <p:spPr>
          <a:xfrm>
            <a:off x="5435464" y="6194048"/>
            <a:ext cx="6553036"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Intel Core i5-12450H · Windows 11 · NVMe SSD store</a:t>
            </a:r>
            <a:endParaRPr lang="en-US" sz="1300" dirty="0"/>
          </a:p>
        </p:txBody>
      </p:sp>
      <p:sp>
        <p:nvSpPr>
          <p:cNvPr id="13" name="Shape 10"/>
          <p:cNvSpPr/>
          <p:nvPr/>
        </p:nvSpPr>
        <p:spPr>
          <a:xfrm>
            <a:off x="5435464" y="3621187"/>
            <a:ext cx="5943451" cy="12700"/>
          </a:xfrm>
          <a:prstGeom prst="rect">
            <a:avLst/>
          </a:prstGeom>
          <a:solidFill>
            <a:srgbClr val="CBD1CC"/>
          </a:solidFill>
          <a:ln/>
        </p:spPr>
        <p:txBody>
          <a:bodyPr/>
          <a:lstStyle/>
          <a:p>
            <a:endParaRPr lang="en-US"/>
          </a:p>
        </p:txBody>
      </p:sp>
      <p:pic>
        <p:nvPicPr>
          <p:cNvPr id="15" name="Picture 14">
            <a:extLst>
              <a:ext uri="{FF2B5EF4-FFF2-40B4-BE49-F238E27FC236}">
                <a16:creationId xmlns:a16="http://schemas.microsoft.com/office/drawing/2014/main" id="{458038AB-8DC8-C3EC-250C-EC01087A7DC0}"/>
              </a:ext>
            </a:extLst>
          </p:cNvPr>
          <p:cNvPicPr>
            <a:picLocks noChangeAspect="1"/>
          </p:cNvPicPr>
          <p:nvPr/>
        </p:nvPicPr>
        <p:blipFill>
          <a:blip r:embed="rId4"/>
          <a:stretch>
            <a:fillRect/>
          </a:stretch>
        </p:blipFill>
        <p:spPr>
          <a:xfrm>
            <a:off x="0" y="6594208"/>
            <a:ext cx="12192000" cy="2801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12780" y="816293"/>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RUNTIME ARCHITECTURE</a:t>
            </a:r>
            <a:endParaRPr lang="en-US" sz="1300" dirty="0"/>
          </a:p>
        </p:txBody>
      </p:sp>
      <p:sp>
        <p:nvSpPr>
          <p:cNvPr id="3" name="Text 1"/>
          <p:cNvSpPr/>
          <p:nvPr/>
        </p:nvSpPr>
        <p:spPr>
          <a:xfrm>
            <a:off x="812780" y="1175048"/>
            <a:ext cx="9143771" cy="400050"/>
          </a:xfrm>
          <a:prstGeom prst="rect">
            <a:avLst/>
          </a:prstGeom>
          <a:noFill/>
          <a:ln/>
        </p:spPr>
        <p:txBody>
          <a:bodyPr wrap="none" lIns="0" tIns="0" rIns="0" bIns="0" rtlCol="0" anchor="t"/>
          <a:lstStyle/>
          <a:p>
            <a:pPr marL="0" indent="0" algn="l">
              <a:lnSpc>
                <a:spcPct val="88000"/>
              </a:lnSpc>
              <a:buNone/>
            </a:pPr>
            <a:r>
              <a:rPr lang="en-US" sz="3000" kern="100" spc="-45" dirty="0">
                <a:solidFill>
                  <a:srgbClr val="0E2A23"/>
                </a:solidFill>
                <a:latin typeface="Geist SemiBold" pitchFamily="34" charset="0"/>
                <a:ea typeface="Geist SemiBold" pitchFamily="34" charset="-122"/>
                <a:cs typeface="Geist SemiBold" pitchFamily="34" charset="0"/>
              </a:rPr>
              <a:t>Keep useful experts in memory</a:t>
            </a:r>
            <a:endParaRPr lang="en-US" sz="3000" dirty="0"/>
          </a:p>
        </p:txBody>
      </p:sp>
      <p:sp>
        <p:nvSpPr>
          <p:cNvPr id="4" name="Shape 2"/>
          <p:cNvSpPr/>
          <p:nvPr/>
        </p:nvSpPr>
        <p:spPr>
          <a:xfrm>
            <a:off x="812780" y="1878310"/>
            <a:ext cx="1320767" cy="38100"/>
          </a:xfrm>
          <a:prstGeom prst="roundRect">
            <a:avLst>
              <a:gd name="adj" fmla="val 49999"/>
            </a:avLst>
          </a:prstGeom>
          <a:solidFill>
            <a:srgbClr val="F5960F"/>
          </a:solidFill>
          <a:ln/>
        </p:spPr>
        <p:txBody>
          <a:bodyPr/>
          <a:lstStyle/>
          <a:p>
            <a:endParaRPr lang="en-US"/>
          </a:p>
        </p:txBody>
      </p:sp>
      <p:sp>
        <p:nvSpPr>
          <p:cNvPr id="5" name="Shape 3"/>
          <p:cNvSpPr/>
          <p:nvPr/>
        </p:nvSpPr>
        <p:spPr>
          <a:xfrm>
            <a:off x="812780" y="2224385"/>
            <a:ext cx="2038795" cy="1699220"/>
          </a:xfrm>
          <a:prstGeom prst="rect">
            <a:avLst/>
          </a:prstGeom>
          <a:solidFill>
            <a:srgbClr val="EEF0E8"/>
          </a:solidFill>
          <a:ln/>
        </p:spPr>
        <p:txBody>
          <a:bodyPr/>
          <a:lstStyle/>
          <a:p>
            <a:endParaRPr lang="en-US"/>
          </a:p>
        </p:txBody>
      </p:sp>
      <p:sp>
        <p:nvSpPr>
          <p:cNvPr id="6" name="Text 4"/>
          <p:cNvSpPr/>
          <p:nvPr/>
        </p:nvSpPr>
        <p:spPr>
          <a:xfrm>
            <a:off x="1041374" y="2460741"/>
            <a:ext cx="1581607" cy="609600"/>
          </a:xfrm>
          <a:prstGeom prst="rect">
            <a:avLst/>
          </a:prstGeom>
          <a:noFill/>
          <a:ln/>
        </p:spPr>
        <p:txBody>
          <a:bodyPr wrap="square" lIns="0" tIns="0" rIns="0" bIns="0" rtlCol="0" anchor="t">
            <a:normAutofit/>
          </a:bodyPr>
          <a:lstStyle/>
          <a:p>
            <a:pPr marL="0" indent="0" algn="l">
              <a:lnSpc>
                <a:spcPct val="100000"/>
              </a:lnSpc>
              <a:buNone/>
            </a:pPr>
            <a:r>
              <a:rPr lang="en-US" sz="2000" kern="100" spc="-10" dirty="0">
                <a:solidFill>
                  <a:srgbClr val="0E2A23"/>
                </a:solidFill>
                <a:latin typeface="Geist SemiBold" pitchFamily="34" charset="0"/>
                <a:ea typeface="Geist SemiBold" pitchFamily="34" charset="-122"/>
                <a:cs typeface="Geist SemiBold" pitchFamily="34" charset="0"/>
              </a:rPr>
              <a:t>SSD model store</a:t>
            </a:r>
            <a:endParaRPr lang="en-US" sz="2000" dirty="0"/>
          </a:p>
        </p:txBody>
      </p:sp>
      <p:sp>
        <p:nvSpPr>
          <p:cNvPr id="7" name="Text 5"/>
          <p:cNvSpPr/>
          <p:nvPr/>
        </p:nvSpPr>
        <p:spPr>
          <a:xfrm>
            <a:off x="1041374" y="3269278"/>
            <a:ext cx="1581607"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0E2A23"/>
                </a:solidFill>
                <a:latin typeface="Geist" pitchFamily="34" charset="0"/>
                <a:ea typeface="Geist" pitchFamily="34" charset="-122"/>
                <a:cs typeface="Geist" pitchFamily="34" charset="0"/>
              </a:rPr>
              <a:t>int8 expert weights stay on disk</a:t>
            </a:r>
            <a:endParaRPr lang="en-US" sz="1300" dirty="0"/>
          </a:p>
        </p:txBody>
      </p:sp>
      <p:sp>
        <p:nvSpPr>
          <p:cNvPr id="8" name="Text 6"/>
          <p:cNvSpPr/>
          <p:nvPr/>
        </p:nvSpPr>
        <p:spPr>
          <a:xfrm>
            <a:off x="3156367" y="2734520"/>
            <a:ext cx="291101" cy="846237"/>
          </a:xfrm>
          <a:prstGeom prst="rect">
            <a:avLst/>
          </a:prstGeom>
          <a:noFill/>
          <a:ln/>
        </p:spPr>
        <p:txBody>
          <a:bodyPr wrap="none" lIns="0" tIns="0" rIns="0" bIns="0" rtlCol="0" anchor="t"/>
          <a:lstStyle/>
          <a:p>
            <a:pPr marL="0" indent="0" algn="l">
              <a:lnSpc>
                <a:spcPct val="82000"/>
              </a:lnSpc>
              <a:buNone/>
            </a:pPr>
            <a:r>
              <a:rPr lang="en-US" sz="6800" kern="100" spc="-136" dirty="0">
                <a:solidFill>
                  <a:srgbClr val="0E2A23"/>
                </a:solidFill>
                <a:latin typeface="Instrument Serif" pitchFamily="34" charset="0"/>
                <a:ea typeface="Instrument Serif" pitchFamily="34" charset="-122"/>
                <a:cs typeface="Instrument Serif" pitchFamily="34" charset="0"/>
              </a:rPr>
              <a:t>→</a:t>
            </a:r>
            <a:endParaRPr lang="en-US" sz="6800" dirty="0"/>
          </a:p>
        </p:txBody>
      </p:sp>
      <p:sp>
        <p:nvSpPr>
          <p:cNvPr id="9" name="Shape 7"/>
          <p:cNvSpPr/>
          <p:nvPr/>
        </p:nvSpPr>
        <p:spPr>
          <a:xfrm>
            <a:off x="3752161" y="2224385"/>
            <a:ext cx="1893344" cy="1699220"/>
          </a:xfrm>
          <a:prstGeom prst="rect">
            <a:avLst/>
          </a:prstGeom>
          <a:solidFill>
            <a:srgbClr val="F5960F"/>
          </a:solidFill>
          <a:ln/>
        </p:spPr>
        <p:txBody>
          <a:bodyPr/>
          <a:lstStyle/>
          <a:p>
            <a:endParaRPr lang="en-US"/>
          </a:p>
        </p:txBody>
      </p:sp>
      <p:sp>
        <p:nvSpPr>
          <p:cNvPr id="10" name="Text 8"/>
          <p:cNvSpPr/>
          <p:nvPr/>
        </p:nvSpPr>
        <p:spPr>
          <a:xfrm>
            <a:off x="3980755" y="2460741"/>
            <a:ext cx="1436155" cy="609600"/>
          </a:xfrm>
          <a:prstGeom prst="rect">
            <a:avLst/>
          </a:prstGeom>
          <a:noFill/>
          <a:ln/>
        </p:spPr>
        <p:txBody>
          <a:bodyPr wrap="square" lIns="0" tIns="0" rIns="0" bIns="0" rtlCol="0" anchor="t">
            <a:normAutofit/>
          </a:bodyPr>
          <a:lstStyle/>
          <a:p>
            <a:pPr marL="0" indent="0" algn="l">
              <a:lnSpc>
                <a:spcPct val="100000"/>
              </a:lnSpc>
              <a:buNone/>
            </a:pPr>
            <a:r>
              <a:rPr lang="en-US" sz="2000" kern="100" spc="-10" dirty="0">
                <a:solidFill>
                  <a:srgbClr val="000000"/>
                </a:solidFill>
                <a:latin typeface="Geist SemiBold" pitchFamily="34" charset="0"/>
                <a:ea typeface="Geist SemiBold" pitchFamily="34" charset="-122"/>
                <a:cs typeface="Geist SemiBold" pitchFamily="34" charset="0"/>
              </a:rPr>
              <a:t>RAM expert cache</a:t>
            </a:r>
            <a:endParaRPr lang="en-US" sz="2000" dirty="0"/>
          </a:p>
        </p:txBody>
      </p:sp>
      <p:sp>
        <p:nvSpPr>
          <p:cNvPr id="11" name="Text 9"/>
          <p:cNvSpPr/>
          <p:nvPr/>
        </p:nvSpPr>
        <p:spPr>
          <a:xfrm>
            <a:off x="3980755" y="3269278"/>
            <a:ext cx="1436155"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000000"/>
                </a:solidFill>
                <a:latin typeface="Geist" pitchFamily="34" charset="0"/>
                <a:ea typeface="Geist" pitchFamily="34" charset="-122"/>
                <a:cs typeface="Geist" pitchFamily="34" charset="0"/>
              </a:rPr>
              <a:t>Reused experts, resized by budget</a:t>
            </a:r>
            <a:endParaRPr lang="en-US" sz="1300" dirty="0"/>
          </a:p>
        </p:txBody>
      </p:sp>
      <p:sp>
        <p:nvSpPr>
          <p:cNvPr id="12" name="Text 10"/>
          <p:cNvSpPr/>
          <p:nvPr/>
        </p:nvSpPr>
        <p:spPr>
          <a:xfrm>
            <a:off x="5950198" y="2734520"/>
            <a:ext cx="291200" cy="846237"/>
          </a:xfrm>
          <a:prstGeom prst="rect">
            <a:avLst/>
          </a:prstGeom>
          <a:noFill/>
          <a:ln/>
        </p:spPr>
        <p:txBody>
          <a:bodyPr wrap="none" lIns="0" tIns="0" rIns="0" bIns="0" rtlCol="0" anchor="t"/>
          <a:lstStyle/>
          <a:p>
            <a:pPr marL="0" indent="0" algn="l">
              <a:lnSpc>
                <a:spcPct val="82000"/>
              </a:lnSpc>
              <a:buNone/>
            </a:pPr>
            <a:r>
              <a:rPr lang="en-US" sz="6800" kern="100" spc="-136" dirty="0">
                <a:solidFill>
                  <a:srgbClr val="0E2A23"/>
                </a:solidFill>
                <a:latin typeface="Instrument Serif" pitchFamily="34" charset="0"/>
                <a:ea typeface="Instrument Serif" pitchFamily="34" charset="-122"/>
                <a:cs typeface="Instrument Serif" pitchFamily="34" charset="0"/>
              </a:rPr>
              <a:t>→</a:t>
            </a:r>
            <a:endParaRPr lang="en-US" sz="6800" dirty="0"/>
          </a:p>
        </p:txBody>
      </p:sp>
      <p:sp>
        <p:nvSpPr>
          <p:cNvPr id="13" name="Shape 11"/>
          <p:cNvSpPr/>
          <p:nvPr/>
        </p:nvSpPr>
        <p:spPr>
          <a:xfrm>
            <a:off x="6546091" y="2224385"/>
            <a:ext cx="1893344" cy="1699220"/>
          </a:xfrm>
          <a:prstGeom prst="rect">
            <a:avLst/>
          </a:prstGeom>
          <a:solidFill>
            <a:srgbClr val="EEF0E8"/>
          </a:solidFill>
          <a:ln/>
        </p:spPr>
        <p:txBody>
          <a:bodyPr/>
          <a:lstStyle/>
          <a:p>
            <a:endParaRPr lang="en-US"/>
          </a:p>
        </p:txBody>
      </p:sp>
      <p:sp>
        <p:nvSpPr>
          <p:cNvPr id="14" name="Text 12"/>
          <p:cNvSpPr/>
          <p:nvPr/>
        </p:nvSpPr>
        <p:spPr>
          <a:xfrm>
            <a:off x="6774685" y="2613141"/>
            <a:ext cx="1436155" cy="304800"/>
          </a:xfrm>
          <a:prstGeom prst="rect">
            <a:avLst/>
          </a:prstGeom>
          <a:noFill/>
          <a:ln/>
        </p:spPr>
        <p:txBody>
          <a:bodyPr wrap="none" lIns="0" tIns="0" rIns="0" bIns="0" rtlCol="0" anchor="t"/>
          <a:lstStyle/>
          <a:p>
            <a:pPr marL="0" indent="0" algn="l">
              <a:lnSpc>
                <a:spcPct val="100000"/>
              </a:lnSpc>
              <a:buNone/>
            </a:pPr>
            <a:r>
              <a:rPr lang="en-US" sz="2000" kern="100" spc="-10" dirty="0">
                <a:solidFill>
                  <a:srgbClr val="0E2A23"/>
                </a:solidFill>
                <a:latin typeface="Geist SemiBold" pitchFamily="34" charset="0"/>
                <a:ea typeface="Geist SemiBold" pitchFamily="34" charset="-122"/>
                <a:cs typeface="Geist SemiBold" pitchFamily="34" charset="0"/>
              </a:rPr>
              <a:t>Qwen</a:t>
            </a:r>
            <a:endParaRPr lang="en-US" sz="2000" dirty="0"/>
          </a:p>
        </p:txBody>
      </p:sp>
      <p:sp>
        <p:nvSpPr>
          <p:cNvPr id="15" name="Text 13"/>
          <p:cNvSpPr/>
          <p:nvPr/>
        </p:nvSpPr>
        <p:spPr>
          <a:xfrm>
            <a:off x="6774685" y="3116878"/>
            <a:ext cx="1436155"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0E2A23"/>
                </a:solidFill>
                <a:latin typeface="Geist" pitchFamily="34" charset="0"/>
                <a:ea typeface="Geist" pitchFamily="34" charset="-122"/>
                <a:cs typeface="Geist" pitchFamily="34" charset="0"/>
              </a:rPr>
              <a:t>Computes the answers</a:t>
            </a:r>
            <a:endParaRPr lang="en-US" sz="1300" dirty="0"/>
          </a:p>
        </p:txBody>
      </p:sp>
      <p:sp>
        <p:nvSpPr>
          <p:cNvPr id="16" name="Text 14"/>
          <p:cNvSpPr/>
          <p:nvPr/>
        </p:nvSpPr>
        <p:spPr>
          <a:xfrm>
            <a:off x="8744128" y="2734520"/>
            <a:ext cx="291101" cy="846237"/>
          </a:xfrm>
          <a:prstGeom prst="rect">
            <a:avLst/>
          </a:prstGeom>
          <a:noFill/>
          <a:ln/>
        </p:spPr>
        <p:txBody>
          <a:bodyPr wrap="none" lIns="0" tIns="0" rIns="0" bIns="0" rtlCol="0" anchor="t"/>
          <a:lstStyle/>
          <a:p>
            <a:pPr marL="0" indent="0" algn="l">
              <a:lnSpc>
                <a:spcPct val="82000"/>
              </a:lnSpc>
              <a:buNone/>
            </a:pPr>
            <a:r>
              <a:rPr lang="en-US" sz="6800" kern="100" spc="-136" dirty="0">
                <a:solidFill>
                  <a:srgbClr val="0E2A23"/>
                </a:solidFill>
                <a:latin typeface="Instrument Serif" pitchFamily="34" charset="0"/>
                <a:ea typeface="Instrument Serif" pitchFamily="34" charset="-122"/>
                <a:cs typeface="Instrument Serif" pitchFamily="34" charset="0"/>
              </a:rPr>
              <a:t>→</a:t>
            </a:r>
            <a:endParaRPr lang="en-US" sz="6800" dirty="0"/>
          </a:p>
        </p:txBody>
      </p:sp>
      <p:sp>
        <p:nvSpPr>
          <p:cNvPr id="17" name="Shape 15"/>
          <p:cNvSpPr/>
          <p:nvPr/>
        </p:nvSpPr>
        <p:spPr>
          <a:xfrm>
            <a:off x="9340021" y="2224385"/>
            <a:ext cx="2038894" cy="1699220"/>
          </a:xfrm>
          <a:prstGeom prst="rect">
            <a:avLst/>
          </a:prstGeom>
          <a:solidFill>
            <a:srgbClr val="EEF0E8"/>
          </a:solidFill>
          <a:ln/>
        </p:spPr>
        <p:txBody>
          <a:bodyPr/>
          <a:lstStyle/>
          <a:p>
            <a:endParaRPr lang="en-US"/>
          </a:p>
        </p:txBody>
      </p:sp>
      <p:sp>
        <p:nvSpPr>
          <p:cNvPr id="18" name="Text 16"/>
          <p:cNvSpPr/>
          <p:nvPr/>
        </p:nvSpPr>
        <p:spPr>
          <a:xfrm>
            <a:off x="9568615" y="2720397"/>
            <a:ext cx="1581706" cy="304800"/>
          </a:xfrm>
          <a:prstGeom prst="rect">
            <a:avLst/>
          </a:prstGeom>
          <a:noFill/>
          <a:ln/>
        </p:spPr>
        <p:txBody>
          <a:bodyPr wrap="none" lIns="0" tIns="0" rIns="0" bIns="0" rtlCol="0" anchor="t"/>
          <a:lstStyle/>
          <a:p>
            <a:pPr marL="0" indent="0" algn="l">
              <a:lnSpc>
                <a:spcPct val="100000"/>
              </a:lnSpc>
              <a:buNone/>
            </a:pPr>
            <a:r>
              <a:rPr lang="en-US" sz="2000" kern="100" spc="-10" dirty="0">
                <a:solidFill>
                  <a:srgbClr val="0E2A23"/>
                </a:solidFill>
                <a:latin typeface="Geist SemiBold" pitchFamily="34" charset="0"/>
                <a:ea typeface="Geist SemiBold" pitchFamily="34" charset="-122"/>
                <a:cs typeface="Geist SemiBold" pitchFamily="34" charset="0"/>
              </a:rPr>
              <a:t>Next token</a:t>
            </a:r>
            <a:endParaRPr lang="en-US" sz="2000" dirty="0"/>
          </a:p>
        </p:txBody>
      </p:sp>
      <p:sp>
        <p:nvSpPr>
          <p:cNvPr id="19" name="Text 17"/>
          <p:cNvSpPr/>
          <p:nvPr/>
        </p:nvSpPr>
        <p:spPr>
          <a:xfrm>
            <a:off x="9568615" y="3224133"/>
            <a:ext cx="1810300" cy="214610"/>
          </a:xfrm>
          <a:prstGeom prst="rect">
            <a:avLst/>
          </a:prstGeom>
          <a:noFill/>
          <a:ln/>
        </p:spPr>
        <p:txBody>
          <a:bodyPr wrap="none" lIns="0" tIns="0" rIns="0" bIns="0" rtlCol="0" anchor="t"/>
          <a:lstStyle/>
          <a:p>
            <a:pPr marL="0" indent="0" algn="l">
              <a:lnSpc>
                <a:spcPct val="108000"/>
              </a:lnSpc>
              <a:buNone/>
            </a:pPr>
            <a:r>
              <a:rPr lang="en-US" sz="1300" dirty="0">
                <a:solidFill>
                  <a:srgbClr val="0E2A23"/>
                </a:solidFill>
                <a:latin typeface="Geist" pitchFamily="34" charset="0"/>
                <a:ea typeface="Geist" pitchFamily="34" charset="-122"/>
                <a:cs typeface="Geist" pitchFamily="34" charset="0"/>
              </a:rPr>
              <a:t>Output for each step</a:t>
            </a:r>
            <a:endParaRPr lang="en-US" sz="1300" dirty="0"/>
          </a:p>
        </p:txBody>
      </p:sp>
      <p:sp>
        <p:nvSpPr>
          <p:cNvPr id="20" name="Text 18"/>
          <p:cNvSpPr/>
          <p:nvPr/>
        </p:nvSpPr>
        <p:spPr>
          <a:xfrm>
            <a:off x="812780" y="4177605"/>
            <a:ext cx="10566136" cy="104636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b="1" dirty="0">
                <a:solidFill>
                  <a:srgbClr val="0E2A23"/>
                </a:solidFill>
                <a:latin typeface="Geist Bold" pitchFamily="34" charset="0"/>
                <a:ea typeface="Geist Bold" pitchFamily="34" charset="-122"/>
                <a:cs typeface="Geist Bold" pitchFamily="34" charset="0"/>
              </a:rPr>
              <a:t>Cache:</a:t>
            </a:r>
            <a:r>
              <a:rPr lang="en-US" sz="1700" dirty="0">
                <a:solidFill>
                  <a:srgbClr val="0E2A23"/>
                </a:solidFill>
                <a:latin typeface="Geist" pitchFamily="34" charset="0"/>
                <a:ea typeface="Geist" pitchFamily="34" charset="-122"/>
                <a:cs typeface="Geist" pitchFamily="34" charset="0"/>
              </a:rPr>
              <a:t> keeps recently used experts in RAM</a:t>
            </a:r>
            <a:endParaRPr lang="en-US" sz="1700" dirty="0"/>
          </a:p>
          <a:p>
            <a:pPr marL="345440" indent="-345440" algn="l">
              <a:lnSpc>
                <a:spcPct val="117000"/>
              </a:lnSpc>
              <a:buSzPct val="100000"/>
              <a:buChar char="•"/>
            </a:pPr>
            <a:r>
              <a:rPr lang="en-US" sz="1700" b="1" dirty="0">
                <a:solidFill>
                  <a:srgbClr val="0E2A23"/>
                </a:solidFill>
                <a:latin typeface="Geist Bold" pitchFamily="34" charset="0"/>
                <a:ea typeface="Geist Bold" pitchFamily="34" charset="-122"/>
                <a:cs typeface="Geist Bold" pitchFamily="34" charset="0"/>
              </a:rPr>
              <a:t>Prefetch:</a:t>
            </a:r>
            <a:r>
              <a:rPr lang="en-US" sz="1700" dirty="0">
                <a:solidFill>
                  <a:srgbClr val="0E2A23"/>
                </a:solidFill>
                <a:latin typeface="Geist" pitchFamily="34" charset="0"/>
                <a:ea typeface="Geist" pitchFamily="34" charset="-122"/>
                <a:cs typeface="Geist" pitchFamily="34" charset="0"/>
              </a:rPr>
              <a:t> loads likely experts early; predictions can miss</a:t>
            </a:r>
            <a:endParaRPr lang="en-US" sz="1700" dirty="0"/>
          </a:p>
          <a:p>
            <a:pPr marL="345440" indent="-345440" algn="l">
              <a:lnSpc>
                <a:spcPct val="117000"/>
              </a:lnSpc>
              <a:buSzPct val="100000"/>
              <a:buChar char="•"/>
            </a:pPr>
            <a:r>
              <a:rPr lang="en-US" sz="1700" b="1" dirty="0">
                <a:solidFill>
                  <a:srgbClr val="0E2A23"/>
                </a:solidFill>
                <a:latin typeface="Geist Bold" pitchFamily="34" charset="0"/>
                <a:ea typeface="Geist Bold" pitchFamily="34" charset="-122"/>
                <a:cs typeface="Geist Bold" pitchFamily="34" charset="0"/>
              </a:rPr>
              <a:t>Budget:</a:t>
            </a:r>
            <a:r>
              <a:rPr lang="en-US" sz="1700" dirty="0">
                <a:solidFill>
                  <a:srgbClr val="0E2A23"/>
                </a:solidFill>
                <a:latin typeface="Geist" pitchFamily="34" charset="0"/>
                <a:ea typeface="Geist" pitchFamily="34" charset="-122"/>
                <a:cs typeface="Geist" pitchFamily="34" charset="0"/>
              </a:rPr>
              <a:t> a planning target that resizes the cache between tokens, not a hard memory ceiling</a:t>
            </a:r>
            <a:endParaRPr lang="en-US" sz="1700" dirty="0"/>
          </a:p>
        </p:txBody>
      </p:sp>
      <p:sp>
        <p:nvSpPr>
          <p:cNvPr id="21" name="Text 19"/>
          <p:cNvSpPr/>
          <p:nvPr/>
        </p:nvSpPr>
        <p:spPr>
          <a:xfrm>
            <a:off x="812780" y="5478601"/>
            <a:ext cx="11175720" cy="302220"/>
          </a:xfrm>
          <a:prstGeom prst="rect">
            <a:avLst/>
          </a:prstGeom>
          <a:noFill/>
          <a:ln/>
        </p:spPr>
        <p:txBody>
          <a:bodyPr wrap="none" lIns="0" tIns="0" rIns="0" bIns="0" rtlCol="0" anchor="t"/>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Qwen generates the answers; LeanMoE manages expert-weight access.</a:t>
            </a:r>
            <a:endParaRPr lang="en-US" sz="1700" dirty="0"/>
          </a:p>
        </p:txBody>
      </p:sp>
      <p:sp>
        <p:nvSpPr>
          <p:cNvPr id="22" name="Text 20"/>
          <p:cNvSpPr/>
          <p:nvPr/>
        </p:nvSpPr>
        <p:spPr>
          <a:xfrm>
            <a:off x="812780" y="6037679"/>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Engine mechanisms adapted from Abdullah’s earlier ExpertRelay research. Slide 7 explains the contribution.</a:t>
            </a:r>
            <a:endParaRPr lang="en-US" sz="1300" dirty="0"/>
          </a:p>
        </p:txBody>
      </p:sp>
      <p:pic>
        <p:nvPicPr>
          <p:cNvPr id="24" name="Picture 23">
            <a:extLst>
              <a:ext uri="{FF2B5EF4-FFF2-40B4-BE49-F238E27FC236}">
                <a16:creationId xmlns:a16="http://schemas.microsoft.com/office/drawing/2014/main" id="{D533669C-09D9-D433-25AF-BCA65E6F1C44}"/>
              </a:ext>
            </a:extLst>
          </p:cNvPr>
          <p:cNvPicPr>
            <a:picLocks noChangeAspect="1"/>
          </p:cNvPicPr>
          <p:nvPr/>
        </p:nvPicPr>
        <p:blipFill>
          <a:blip r:embed="rId3"/>
          <a:stretch>
            <a:fillRect/>
          </a:stretch>
        </p:blipFill>
        <p:spPr>
          <a:xfrm>
            <a:off x="-202" y="6577864"/>
            <a:ext cx="12192000" cy="2801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2780" y="812800"/>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BENCHMARK EVALUATION</a:t>
            </a:r>
            <a:endParaRPr lang="en-US" sz="1300" dirty="0"/>
          </a:p>
        </p:txBody>
      </p:sp>
      <p:sp>
        <p:nvSpPr>
          <p:cNvPr id="3" name="Text 1"/>
          <p:cNvSpPr/>
          <p:nvPr/>
        </p:nvSpPr>
        <p:spPr>
          <a:xfrm>
            <a:off x="812780" y="1141710"/>
            <a:ext cx="9143771" cy="800100"/>
          </a:xfrm>
          <a:prstGeom prst="rect">
            <a:avLst/>
          </a:prstGeom>
          <a:noFill/>
          <a:ln/>
        </p:spPr>
        <p:txBody>
          <a:bodyPr wrap="square" lIns="0" tIns="0" rIns="0" bIns="0" rtlCol="0" anchor="t">
            <a:normAutofit/>
          </a:bodyPr>
          <a:lstStyle/>
          <a:p>
            <a:pPr marL="0" indent="0" algn="l">
              <a:lnSpc>
                <a:spcPct val="88000"/>
              </a:lnSpc>
              <a:buNone/>
            </a:pPr>
            <a:r>
              <a:rPr lang="en-US" sz="3000" kern="100" spc="-45" dirty="0">
                <a:solidFill>
                  <a:srgbClr val="0E2A23"/>
                </a:solidFill>
                <a:latin typeface="Geist SemiBold" pitchFamily="34" charset="0"/>
                <a:ea typeface="Geist SemiBold" pitchFamily="34" charset="-122"/>
                <a:cs typeface="Geist SemiBold" pitchFamily="34" charset="0"/>
              </a:rPr>
              <a:t>2.07× ratio of mean decode throughput on the tested laptop</a:t>
            </a:r>
            <a:endParaRPr lang="en-US" sz="3000" dirty="0"/>
          </a:p>
        </p:txBody>
      </p:sp>
      <p:pic>
        <p:nvPicPr>
          <p:cNvPr id="4" name="Image 0" descr="preencoded.png"/>
          <p:cNvPicPr>
            <a:picLocks noChangeAspect="1"/>
          </p:cNvPicPr>
          <p:nvPr/>
        </p:nvPicPr>
        <p:blipFill>
          <a:blip r:embed="rId3"/>
          <a:stretch>
            <a:fillRect/>
          </a:stretch>
        </p:blipFill>
        <p:spPr>
          <a:xfrm>
            <a:off x="812780" y="2300585"/>
            <a:ext cx="6603835" cy="3683000"/>
          </a:xfrm>
          <a:prstGeom prst="rect">
            <a:avLst/>
          </a:prstGeom>
        </p:spPr>
      </p:pic>
      <p:sp>
        <p:nvSpPr>
          <p:cNvPr id="5" name="Text 2"/>
          <p:cNvSpPr/>
          <p:nvPr/>
        </p:nvSpPr>
        <p:spPr>
          <a:xfrm>
            <a:off x="8009233" y="2231370"/>
            <a:ext cx="3369682" cy="1564481"/>
          </a:xfrm>
          <a:prstGeom prst="rect">
            <a:avLst/>
          </a:prstGeom>
          <a:noFill/>
          <a:ln/>
        </p:spPr>
        <p:txBody>
          <a:bodyPr wrap="square" lIns="0" tIns="0" rIns="0" bIns="0" rtlCol="0" anchor="t">
            <a:normAutofit/>
          </a:bodyPr>
          <a:lstStyle/>
          <a:p>
            <a:pPr marL="0" indent="0" algn="l">
              <a:lnSpc>
                <a:spcPct val="117000"/>
              </a:lnSpc>
              <a:buNone/>
            </a:pPr>
            <a:r>
              <a:rPr lang="en-US" sz="2200" b="1" dirty="0">
                <a:solidFill>
                  <a:srgbClr val="0E2A23"/>
                </a:solidFill>
                <a:latin typeface="Geist Bold" pitchFamily="34" charset="0"/>
                <a:ea typeface="Geist Bold" pitchFamily="34" charset="-122"/>
                <a:cs typeface="Geist Bold" pitchFamily="34" charset="0"/>
              </a:rPr>
              <a:t>1.842 vs 0.891 tokens/s</a:t>
            </a:r>
            <a:r>
              <a:rPr lang="en-US" sz="2200" dirty="0">
                <a:solidFill>
                  <a:srgbClr val="0E2A23"/>
                </a:solidFill>
                <a:latin typeface="Geist" pitchFamily="34" charset="0"/>
                <a:ea typeface="Geist" pitchFamily="34" charset="-122"/>
                <a:cs typeface="Geist" pitchFamily="34" charset="0"/>
              </a:rPr>
              <a:t> overall mean decode throughput. Speedup ratio of means: 2.07×.</a:t>
            </a:r>
            <a:endParaRPr lang="en-US" sz="2200" dirty="0"/>
          </a:p>
        </p:txBody>
      </p:sp>
      <p:sp>
        <p:nvSpPr>
          <p:cNvPr id="6" name="Shape 3"/>
          <p:cNvSpPr/>
          <p:nvPr/>
        </p:nvSpPr>
        <p:spPr>
          <a:xfrm>
            <a:off x="8009233" y="4006354"/>
            <a:ext cx="3369583" cy="31651"/>
          </a:xfrm>
          <a:prstGeom prst="roundRect">
            <a:avLst>
              <a:gd name="adj" fmla="val 49998"/>
            </a:avLst>
          </a:prstGeom>
          <a:solidFill>
            <a:srgbClr val="CBD1CC"/>
          </a:solidFill>
          <a:ln/>
        </p:spPr>
        <p:txBody>
          <a:bodyPr/>
          <a:lstStyle/>
          <a:p>
            <a:endParaRPr lang="en-US"/>
          </a:p>
        </p:txBody>
      </p:sp>
      <p:sp>
        <p:nvSpPr>
          <p:cNvPr id="7" name="Text 4"/>
          <p:cNvSpPr/>
          <p:nvPr/>
        </p:nvSpPr>
        <p:spPr>
          <a:xfrm>
            <a:off x="8009233" y="4264799"/>
            <a:ext cx="3369682"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E2A23"/>
                </a:solidFill>
                <a:latin typeface="Geist" pitchFamily="34" charset="0"/>
                <a:ea typeface="Geist" pitchFamily="34" charset="-122"/>
                <a:cs typeface="Geist" pitchFamily="34" charset="0"/>
              </a:rPr>
              <a:t>Five of six matched runs favored LeanMoE. In one warm paging run, OS cache outperformed LeanMoE. All 48 output token IDs matched bit-for-bit.</a:t>
            </a:r>
            <a:endParaRPr lang="en-US" sz="1400" dirty="0"/>
          </a:p>
        </p:txBody>
      </p:sp>
      <p:sp>
        <p:nvSpPr>
          <p:cNvPr id="8" name="Text 5"/>
          <p:cNvSpPr/>
          <p:nvPr/>
        </p:nvSpPr>
        <p:spPr>
          <a:xfrm>
            <a:off x="8009233" y="5429071"/>
            <a:ext cx="3369682" cy="64383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Decode only: excludes loading and prefill. Windows file-cache state varied. Ratio of means, not mean of ratios.</a:t>
            </a:r>
            <a:endParaRPr lang="en-US" sz="1300" dirty="0"/>
          </a:p>
        </p:txBody>
      </p:sp>
      <p:pic>
        <p:nvPicPr>
          <p:cNvPr id="10" name="Picture 9">
            <a:extLst>
              <a:ext uri="{FF2B5EF4-FFF2-40B4-BE49-F238E27FC236}">
                <a16:creationId xmlns:a16="http://schemas.microsoft.com/office/drawing/2014/main" id="{0EC265F6-6D69-76A8-C5DB-655D6868829F}"/>
              </a:ext>
            </a:extLst>
          </p:cNvPr>
          <p:cNvPicPr>
            <a:picLocks noChangeAspect="1"/>
          </p:cNvPicPr>
          <p:nvPr/>
        </p:nvPicPr>
        <p:blipFill>
          <a:blip r:embed="rId4"/>
          <a:stretch>
            <a:fillRect/>
          </a:stretch>
        </p:blipFill>
        <p:spPr>
          <a:xfrm>
            <a:off x="0" y="6577864"/>
            <a:ext cx="12192000" cy="2801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12780" y="816293"/>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CLOUD VM · SAME-VM CONFIGURATION COMPARISON</a:t>
            </a:r>
            <a:endParaRPr lang="en-US" sz="1300" dirty="0"/>
          </a:p>
        </p:txBody>
      </p:sp>
      <p:sp>
        <p:nvSpPr>
          <p:cNvPr id="3" name="Text 1"/>
          <p:cNvSpPr/>
          <p:nvPr/>
        </p:nvSpPr>
        <p:spPr>
          <a:xfrm>
            <a:off x="812780" y="1175048"/>
            <a:ext cx="9143771" cy="800100"/>
          </a:xfrm>
          <a:prstGeom prst="rect">
            <a:avLst/>
          </a:prstGeom>
          <a:noFill/>
          <a:ln/>
        </p:spPr>
        <p:txBody>
          <a:bodyPr wrap="square" lIns="0" tIns="0" rIns="0" bIns="0" rtlCol="0" anchor="t">
            <a:normAutofit/>
          </a:bodyPr>
          <a:lstStyle/>
          <a:p>
            <a:pPr marL="0" indent="0" algn="l">
              <a:lnSpc>
                <a:spcPct val="88000"/>
              </a:lnSpc>
              <a:buNone/>
            </a:pPr>
            <a:r>
              <a:rPr lang="en-US" sz="3000" kern="100" spc="-45" dirty="0">
                <a:solidFill>
                  <a:srgbClr val="0E2A23"/>
                </a:solidFill>
                <a:latin typeface="Geist SemiBold" pitchFamily="34" charset="0"/>
                <a:ea typeface="Geist SemiBold" pitchFamily="34" charset="-122"/>
                <a:cs typeface="Geist SemiBold" pitchFamily="34" charset="0"/>
              </a:rPr>
              <a:t>Automatic sizing adapts LeanMoE to stronger hardware</a:t>
            </a:r>
            <a:endParaRPr lang="en-US" sz="3000" dirty="0"/>
          </a:p>
        </p:txBody>
      </p:sp>
      <p:pic>
        <p:nvPicPr>
          <p:cNvPr id="4" name="Image 0" descr="preencoded.png"/>
          <p:cNvPicPr>
            <a:picLocks noChangeAspect="1"/>
          </p:cNvPicPr>
          <p:nvPr/>
        </p:nvPicPr>
        <p:blipFill>
          <a:blip r:embed="rId3"/>
          <a:stretch>
            <a:fillRect/>
          </a:stretch>
        </p:blipFill>
        <p:spPr>
          <a:xfrm>
            <a:off x="812780" y="2224385"/>
            <a:ext cx="6603835" cy="3683000"/>
          </a:xfrm>
          <a:prstGeom prst="rect">
            <a:avLst/>
          </a:prstGeom>
        </p:spPr>
      </p:pic>
      <p:sp>
        <p:nvSpPr>
          <p:cNvPr id="5" name="Text 2"/>
          <p:cNvSpPr/>
          <p:nvPr/>
        </p:nvSpPr>
        <p:spPr>
          <a:xfrm>
            <a:off x="812780" y="6025178"/>
            <a:ext cx="6739265"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Mean decode throughput, same 16 GiB Windows VM.</a:t>
            </a:r>
            <a:endParaRPr lang="en-US" sz="1300" dirty="0"/>
          </a:p>
        </p:txBody>
      </p:sp>
      <p:sp>
        <p:nvSpPr>
          <p:cNvPr id="6" name="Text 3"/>
          <p:cNvSpPr/>
          <p:nvPr/>
        </p:nvSpPr>
        <p:spPr>
          <a:xfrm>
            <a:off x="8009233" y="2519279"/>
            <a:ext cx="3369682" cy="547588"/>
          </a:xfrm>
          <a:prstGeom prst="rect">
            <a:avLst/>
          </a:prstGeom>
          <a:noFill/>
          <a:ln/>
        </p:spPr>
        <p:txBody>
          <a:bodyPr wrap="none" lIns="0" tIns="0" rIns="0" bIns="0" rtlCol="0" anchor="t"/>
          <a:lstStyle/>
          <a:p>
            <a:pPr marL="0" indent="0" algn="l">
              <a:lnSpc>
                <a:spcPct val="82000"/>
              </a:lnSpc>
              <a:buNone/>
            </a:pPr>
            <a:r>
              <a:rPr lang="en-US" sz="4400" kern="100" spc="-154" dirty="0">
                <a:solidFill>
                  <a:srgbClr val="0E2A23"/>
                </a:solidFill>
                <a:latin typeface="Instrument Serif" pitchFamily="34" charset="0"/>
                <a:ea typeface="Instrument Serif" pitchFamily="34" charset="-122"/>
                <a:cs typeface="Instrument Serif" pitchFamily="34" charset="0"/>
              </a:rPr>
              <a:t>6.58×</a:t>
            </a:r>
            <a:endParaRPr lang="en-US" sz="4400" dirty="0"/>
          </a:p>
        </p:txBody>
      </p:sp>
      <p:sp>
        <p:nvSpPr>
          <p:cNvPr id="7" name="Text 4"/>
          <p:cNvSpPr/>
          <p:nvPr/>
        </p:nvSpPr>
        <p:spPr>
          <a:xfrm>
            <a:off x="8009233" y="3299341"/>
            <a:ext cx="3369682"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higher decode throughput vs small-cache LeanMoE, same VM</a:t>
            </a:r>
            <a:endParaRPr lang="en-US" sz="1300" dirty="0"/>
          </a:p>
        </p:txBody>
      </p:sp>
      <p:sp>
        <p:nvSpPr>
          <p:cNvPr id="8" name="Text 5"/>
          <p:cNvSpPr/>
          <p:nvPr/>
        </p:nvSpPr>
        <p:spPr>
          <a:xfrm>
            <a:off x="8009233" y="3890804"/>
            <a:ext cx="3369682" cy="120888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Automatic sizing picks a larger cache from available RAM, commit headroom and safety reserves.</a:t>
            </a:r>
            <a:endParaRPr lang="en-US" sz="1700" dirty="0"/>
          </a:p>
        </p:txBody>
      </p:sp>
      <p:sp>
        <p:nvSpPr>
          <p:cNvPr id="9" name="Shape 6"/>
          <p:cNvSpPr/>
          <p:nvPr/>
        </p:nvSpPr>
        <p:spPr>
          <a:xfrm>
            <a:off x="8009233" y="5316538"/>
            <a:ext cx="3369583" cy="31651"/>
          </a:xfrm>
          <a:prstGeom prst="roundRect">
            <a:avLst>
              <a:gd name="adj" fmla="val 49998"/>
            </a:avLst>
          </a:prstGeom>
          <a:solidFill>
            <a:srgbClr val="CBD1CC"/>
          </a:solidFill>
          <a:ln/>
        </p:spPr>
        <p:txBody>
          <a:bodyPr/>
          <a:lstStyle/>
          <a:p>
            <a:endParaRPr lang="en-US"/>
          </a:p>
        </p:txBody>
      </p:sp>
      <p:sp>
        <p:nvSpPr>
          <p:cNvPr id="10" name="Text 7"/>
          <p:cNvSpPr/>
          <p:nvPr/>
        </p:nvSpPr>
        <p:spPr>
          <a:xfrm>
            <a:off x="8009233" y="5569268"/>
            <a:ext cx="3369682"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One prompt, uncontrolled file cache. Not versus Windows paging (2.198 tokens/s).</a:t>
            </a:r>
            <a:endParaRPr lang="en-US" sz="1300" dirty="0"/>
          </a:p>
        </p:txBody>
      </p:sp>
      <p:sp>
        <p:nvSpPr>
          <p:cNvPr id="11" name="Shape 8"/>
          <p:cNvSpPr/>
          <p:nvPr/>
        </p:nvSpPr>
        <p:spPr>
          <a:xfrm>
            <a:off x="812780" y="6544270"/>
            <a:ext cx="1320767" cy="38100"/>
          </a:xfrm>
          <a:prstGeom prst="roundRect">
            <a:avLst>
              <a:gd name="adj" fmla="val 49999"/>
            </a:avLst>
          </a:prstGeom>
          <a:solidFill>
            <a:srgbClr val="F5960F"/>
          </a:solidFill>
          <a:ln/>
        </p:spPr>
        <p:txBody>
          <a:bodyPr/>
          <a:lstStyle/>
          <a:p>
            <a:endParaRPr lang="en-US"/>
          </a:p>
        </p:txBody>
      </p:sp>
      <p:pic>
        <p:nvPicPr>
          <p:cNvPr id="13" name="Picture 12">
            <a:extLst>
              <a:ext uri="{FF2B5EF4-FFF2-40B4-BE49-F238E27FC236}">
                <a16:creationId xmlns:a16="http://schemas.microsoft.com/office/drawing/2014/main" id="{11574822-96FB-676D-449E-922E6B7E7AAF}"/>
              </a:ext>
            </a:extLst>
          </p:cNvPr>
          <p:cNvPicPr>
            <a:picLocks noChangeAspect="1"/>
          </p:cNvPicPr>
          <p:nvPr/>
        </p:nvPicPr>
        <p:blipFill>
          <a:blip r:embed="rId4"/>
          <a:stretch>
            <a:fillRect/>
          </a:stretch>
        </p:blipFill>
        <p:spPr>
          <a:xfrm>
            <a:off x="0" y="6582370"/>
            <a:ext cx="12192000" cy="2801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12780" y="816293"/>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DYNAMIC ADAPTATION · SEPARATE DEMO</a:t>
            </a:r>
            <a:endParaRPr lang="en-US" sz="1300" dirty="0"/>
          </a:p>
        </p:txBody>
      </p:sp>
      <p:sp>
        <p:nvSpPr>
          <p:cNvPr id="3" name="Text 1"/>
          <p:cNvSpPr/>
          <p:nvPr/>
        </p:nvSpPr>
        <p:spPr>
          <a:xfrm>
            <a:off x="812780" y="1175048"/>
            <a:ext cx="9143771" cy="800100"/>
          </a:xfrm>
          <a:prstGeom prst="rect">
            <a:avLst/>
          </a:prstGeom>
          <a:noFill/>
          <a:ln/>
        </p:spPr>
        <p:txBody>
          <a:bodyPr wrap="square" lIns="0" tIns="0" rIns="0" bIns="0" rtlCol="0" anchor="t">
            <a:normAutofit/>
          </a:bodyPr>
          <a:lstStyle/>
          <a:p>
            <a:pPr marL="0" indent="0" algn="l">
              <a:lnSpc>
                <a:spcPct val="88000"/>
              </a:lnSpc>
              <a:buNone/>
            </a:pPr>
            <a:r>
              <a:rPr lang="en-US" sz="3000" kern="100" spc="-45" dirty="0">
                <a:solidFill>
                  <a:srgbClr val="0E2A23"/>
                </a:solidFill>
                <a:latin typeface="Geist SemiBold" pitchFamily="34" charset="0"/>
                <a:ea typeface="Geist SemiBold" pitchFamily="34" charset="-122"/>
                <a:cs typeface="Geist SemiBold" pitchFamily="34" charset="0"/>
              </a:rPr>
              <a:t>The cache resized to the budget, and all 80 tokens completed</a:t>
            </a:r>
            <a:endParaRPr lang="en-US" sz="3000" dirty="0"/>
          </a:p>
        </p:txBody>
      </p:sp>
      <p:sp>
        <p:nvSpPr>
          <p:cNvPr id="4" name="Shape 2"/>
          <p:cNvSpPr/>
          <p:nvPr/>
        </p:nvSpPr>
        <p:spPr>
          <a:xfrm>
            <a:off x="812780" y="2278360"/>
            <a:ext cx="1320767" cy="38100"/>
          </a:xfrm>
          <a:prstGeom prst="roundRect">
            <a:avLst>
              <a:gd name="adj" fmla="val 49999"/>
            </a:avLst>
          </a:prstGeom>
          <a:solidFill>
            <a:srgbClr val="F5960F"/>
          </a:solidFill>
          <a:ln/>
        </p:spPr>
        <p:txBody>
          <a:bodyPr/>
          <a:lstStyle/>
          <a:p>
            <a:endParaRPr lang="en-US"/>
          </a:p>
        </p:txBody>
      </p:sp>
      <p:sp>
        <p:nvSpPr>
          <p:cNvPr id="5" name="Text 3"/>
          <p:cNvSpPr/>
          <p:nvPr/>
        </p:nvSpPr>
        <p:spPr>
          <a:xfrm>
            <a:off x="812780" y="2875875"/>
            <a:ext cx="5283068"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PLANNING BUDGET</a:t>
            </a:r>
            <a:endParaRPr lang="en-US" sz="1300" dirty="0"/>
          </a:p>
        </p:txBody>
      </p:sp>
      <p:sp>
        <p:nvSpPr>
          <p:cNvPr id="6" name="Text 4"/>
          <p:cNvSpPr/>
          <p:nvPr/>
        </p:nvSpPr>
        <p:spPr>
          <a:xfrm>
            <a:off x="812780" y="3254887"/>
            <a:ext cx="4978275" cy="547588"/>
          </a:xfrm>
          <a:prstGeom prst="rect">
            <a:avLst/>
          </a:prstGeom>
          <a:noFill/>
          <a:ln/>
        </p:spPr>
        <p:txBody>
          <a:bodyPr wrap="none" lIns="0" tIns="0" rIns="0" bIns="0" rtlCol="0" anchor="t"/>
          <a:lstStyle/>
          <a:p>
            <a:pPr marL="0" indent="0" algn="l">
              <a:lnSpc>
                <a:spcPct val="82000"/>
              </a:lnSpc>
              <a:buNone/>
            </a:pPr>
            <a:r>
              <a:rPr lang="en-US" sz="4400" kern="100" spc="-154" dirty="0">
                <a:solidFill>
                  <a:srgbClr val="0E2A23"/>
                </a:solidFill>
                <a:latin typeface="Instrument Serif" pitchFamily="34" charset="0"/>
                <a:ea typeface="Instrument Serif" pitchFamily="34" charset="-122"/>
                <a:cs typeface="Instrument Serif" pitchFamily="34" charset="0"/>
              </a:rPr>
              <a:t>3.5 GB</a:t>
            </a:r>
            <a:endParaRPr lang="en-US" sz="4400" dirty="0"/>
          </a:p>
        </p:txBody>
      </p:sp>
      <p:sp>
        <p:nvSpPr>
          <p:cNvPr id="7" name="Text 5"/>
          <p:cNvSpPr/>
          <p:nvPr/>
        </p:nvSpPr>
        <p:spPr>
          <a:xfrm>
            <a:off x="812780" y="4032091"/>
            <a:ext cx="4978275"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The run started with a 3.5 GB planning budget. Free RAM limited the expert cache at token 1.</a:t>
            </a:r>
            <a:endParaRPr lang="en-US" sz="1700" dirty="0"/>
          </a:p>
        </p:txBody>
      </p:sp>
      <p:sp>
        <p:nvSpPr>
          <p:cNvPr id="8" name="Shape 6"/>
          <p:cNvSpPr/>
          <p:nvPr/>
        </p:nvSpPr>
        <p:spPr>
          <a:xfrm>
            <a:off x="6095848" y="2669183"/>
            <a:ext cx="5283068" cy="2472134"/>
          </a:xfrm>
          <a:custGeom>
            <a:avLst/>
            <a:gdLst/>
            <a:ahLst/>
            <a:cxnLst/>
            <a:rect l="l" t="t" r="r" b="b"/>
            <a:pathLst>
              <a:path w="5283068" h="2472134">
                <a:moveTo>
                  <a:pt x="0" y="0"/>
                </a:moveTo>
                <a:lnTo>
                  <a:pt x="5256081" y="0"/>
                </a:lnTo>
                <a:arcTo wR="26987" hR="26987" stAng="16200000" swAng="5400000"/>
                <a:lnTo>
                  <a:pt x="5283068" y="2445147"/>
                </a:lnTo>
                <a:arcTo wR="26987" hR="26987" stAng="0" swAng="5400000"/>
                <a:lnTo>
                  <a:pt x="0" y="2472134"/>
                </a:lnTo>
                <a:lnTo>
                  <a:pt x="0" y="0"/>
                </a:lnTo>
                <a:close/>
              </a:path>
            </a:pathLst>
          </a:custGeom>
          <a:solidFill>
            <a:srgbClr val="EEF0E8"/>
          </a:solidFill>
          <a:ln/>
        </p:spPr>
        <p:txBody>
          <a:bodyPr/>
          <a:lstStyle/>
          <a:p>
            <a:endParaRPr lang="en-US"/>
          </a:p>
        </p:txBody>
      </p:sp>
      <p:sp>
        <p:nvSpPr>
          <p:cNvPr id="9" name="Text 7"/>
          <p:cNvSpPr/>
          <p:nvPr/>
        </p:nvSpPr>
        <p:spPr>
          <a:xfrm>
            <a:off x="6400640" y="2875875"/>
            <a:ext cx="4978275" cy="214610"/>
          </a:xfrm>
          <a:prstGeom prst="rect">
            <a:avLst/>
          </a:prstGeom>
          <a:noFill/>
          <a:ln/>
        </p:spPr>
        <p:txBody>
          <a:bodyPr wrap="none" lIns="0" tIns="0" rIns="0" bIns="0" rtlCol="0" anchor="t"/>
          <a:lstStyle/>
          <a:p>
            <a:pPr marL="0" indent="0" algn="l">
              <a:lnSpc>
                <a:spcPct val="108000"/>
              </a:lnSpc>
              <a:buNone/>
            </a:pPr>
            <a:r>
              <a:rPr lang="en-US" sz="1300" dirty="0">
                <a:solidFill>
                  <a:srgbClr val="0E2A23"/>
                </a:solidFill>
                <a:latin typeface="Geist Medium" pitchFamily="34" charset="0"/>
                <a:ea typeface="Geist Medium" pitchFamily="34" charset="-122"/>
                <a:cs typeface="Geist Medium" pitchFamily="34" charset="0"/>
              </a:rPr>
              <a:t>EXPERT CACHE</a:t>
            </a:r>
            <a:endParaRPr lang="en-US" sz="1300" dirty="0"/>
          </a:p>
        </p:txBody>
      </p:sp>
      <p:sp>
        <p:nvSpPr>
          <p:cNvPr id="10" name="Text 8"/>
          <p:cNvSpPr/>
          <p:nvPr/>
        </p:nvSpPr>
        <p:spPr>
          <a:xfrm>
            <a:off x="6400640" y="3254887"/>
            <a:ext cx="4749681" cy="547588"/>
          </a:xfrm>
          <a:prstGeom prst="rect">
            <a:avLst/>
          </a:prstGeom>
          <a:noFill/>
          <a:ln/>
        </p:spPr>
        <p:txBody>
          <a:bodyPr wrap="none" lIns="0" tIns="0" rIns="0" bIns="0" rtlCol="0" anchor="t"/>
          <a:lstStyle/>
          <a:p>
            <a:pPr marL="0" indent="0" algn="l">
              <a:lnSpc>
                <a:spcPct val="82000"/>
              </a:lnSpc>
              <a:buNone/>
            </a:pPr>
            <a:r>
              <a:rPr lang="en-US" sz="4400" kern="100" spc="-154" dirty="0">
                <a:solidFill>
                  <a:srgbClr val="0E2A23"/>
                </a:solidFill>
                <a:latin typeface="Instrument Serif" pitchFamily="34" charset="0"/>
                <a:ea typeface="Instrument Serif" pitchFamily="34" charset="-122"/>
                <a:cs typeface="Instrument Serif" pitchFamily="34" charset="0"/>
              </a:rPr>
              <a:t>149 → 109</a:t>
            </a:r>
            <a:endParaRPr lang="en-US" sz="4400" dirty="0"/>
          </a:p>
        </p:txBody>
      </p:sp>
      <p:sp>
        <p:nvSpPr>
          <p:cNvPr id="11" name="Text 9"/>
          <p:cNvSpPr/>
          <p:nvPr/>
        </p:nvSpPr>
        <p:spPr>
          <a:xfrm>
            <a:off x="6400640" y="4032091"/>
            <a:ext cx="4749681"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Cache slots resized from 149 to 109 experts. Peak sampled private memory during decoding was 2.83 GB.</a:t>
            </a:r>
            <a:endParaRPr lang="en-US" sz="1700" dirty="0"/>
          </a:p>
        </p:txBody>
      </p:sp>
      <p:sp>
        <p:nvSpPr>
          <p:cNvPr id="12" name="Shape 10"/>
          <p:cNvSpPr/>
          <p:nvPr/>
        </p:nvSpPr>
        <p:spPr>
          <a:xfrm>
            <a:off x="812780" y="5492452"/>
            <a:ext cx="10566036" cy="31651"/>
          </a:xfrm>
          <a:prstGeom prst="roundRect">
            <a:avLst>
              <a:gd name="adj" fmla="val 49998"/>
            </a:avLst>
          </a:prstGeom>
          <a:solidFill>
            <a:srgbClr val="CBD1CC"/>
          </a:solidFill>
          <a:ln/>
        </p:spPr>
        <p:txBody>
          <a:bodyPr/>
          <a:lstStyle/>
          <a:p>
            <a:endParaRPr lang="en-US"/>
          </a:p>
        </p:txBody>
      </p:sp>
      <p:sp>
        <p:nvSpPr>
          <p:cNvPr id="13" name="Text 11"/>
          <p:cNvSpPr/>
          <p:nvPr/>
        </p:nvSpPr>
        <p:spPr>
          <a:xfrm>
            <a:off x="812780" y="5834082"/>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One prompt, greedy decoding, 80 tokens generated. Token completion shows execution consistency, not answer correctness.</a:t>
            </a:r>
            <a:endParaRPr lang="en-US" sz="1300" dirty="0"/>
          </a:p>
        </p:txBody>
      </p:sp>
      <p:pic>
        <p:nvPicPr>
          <p:cNvPr id="15" name="Picture 14">
            <a:extLst>
              <a:ext uri="{FF2B5EF4-FFF2-40B4-BE49-F238E27FC236}">
                <a16:creationId xmlns:a16="http://schemas.microsoft.com/office/drawing/2014/main" id="{ABB6ED47-0F83-51CC-E61B-41C3AEC244C8}"/>
              </a:ext>
            </a:extLst>
          </p:cNvPr>
          <p:cNvPicPr>
            <a:picLocks noChangeAspect="1"/>
          </p:cNvPicPr>
          <p:nvPr/>
        </p:nvPicPr>
        <p:blipFill>
          <a:blip r:embed="rId3"/>
          <a:stretch>
            <a:fillRect/>
          </a:stretch>
        </p:blipFill>
        <p:spPr>
          <a:xfrm>
            <a:off x="0" y="6577864"/>
            <a:ext cx="12192000" cy="2801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12780" y="816293"/>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RESEARCH ITERATION</a:t>
            </a:r>
            <a:endParaRPr lang="en-US" sz="1300" dirty="0"/>
          </a:p>
        </p:txBody>
      </p:sp>
      <p:sp>
        <p:nvSpPr>
          <p:cNvPr id="3" name="Text 1"/>
          <p:cNvSpPr/>
          <p:nvPr/>
        </p:nvSpPr>
        <p:spPr>
          <a:xfrm>
            <a:off x="812780" y="1175048"/>
            <a:ext cx="10566136" cy="800100"/>
          </a:xfrm>
          <a:prstGeom prst="rect">
            <a:avLst/>
          </a:prstGeom>
          <a:noFill/>
          <a:ln/>
        </p:spPr>
        <p:txBody>
          <a:bodyPr wrap="square" lIns="0" tIns="0" rIns="0" bIns="0" rtlCol="0" anchor="t">
            <a:normAutofit/>
          </a:bodyPr>
          <a:lstStyle/>
          <a:p>
            <a:pPr marL="0" indent="0" algn="l">
              <a:lnSpc>
                <a:spcPct val="88000"/>
              </a:lnSpc>
              <a:buNone/>
            </a:pPr>
            <a:r>
              <a:rPr lang="en-US" sz="3000" kern="100" spc="-45" dirty="0">
                <a:solidFill>
                  <a:srgbClr val="0E2A23"/>
                </a:solidFill>
                <a:latin typeface="Geist SemiBold" pitchFamily="34" charset="0"/>
                <a:ea typeface="Geist SemiBold" pitchFamily="34" charset="-122"/>
                <a:cs typeface="Geist SemiBold" pitchFamily="34" charset="0"/>
              </a:rPr>
              <a:t>Experiments exposed a memory-accounting error, which I corrected</a:t>
            </a:r>
            <a:endParaRPr lang="en-US" sz="3000" dirty="0"/>
          </a:p>
        </p:txBody>
      </p:sp>
      <p:sp>
        <p:nvSpPr>
          <p:cNvPr id="4" name="Shape 2"/>
          <p:cNvSpPr/>
          <p:nvPr/>
        </p:nvSpPr>
        <p:spPr>
          <a:xfrm>
            <a:off x="812780" y="2278360"/>
            <a:ext cx="1320767" cy="38100"/>
          </a:xfrm>
          <a:prstGeom prst="roundRect">
            <a:avLst>
              <a:gd name="adj" fmla="val 49999"/>
            </a:avLst>
          </a:prstGeom>
          <a:solidFill>
            <a:srgbClr val="F5960F"/>
          </a:solidFill>
          <a:ln/>
        </p:spPr>
        <p:txBody>
          <a:bodyPr/>
          <a:lstStyle/>
          <a:p>
            <a:endParaRPr lang="en-US"/>
          </a:p>
        </p:txBody>
      </p:sp>
      <p:sp>
        <p:nvSpPr>
          <p:cNvPr id="5" name="Shape 3"/>
          <p:cNvSpPr/>
          <p:nvPr/>
        </p:nvSpPr>
        <p:spPr>
          <a:xfrm>
            <a:off x="812780" y="2624435"/>
            <a:ext cx="5130672" cy="1743571"/>
          </a:xfrm>
          <a:prstGeom prst="rect">
            <a:avLst/>
          </a:prstGeom>
          <a:solidFill>
            <a:srgbClr val="EEF0E8"/>
          </a:solidFill>
          <a:ln/>
        </p:spPr>
        <p:txBody>
          <a:bodyPr/>
          <a:lstStyle/>
          <a:p>
            <a:endParaRPr lang="en-US"/>
          </a:p>
        </p:txBody>
      </p:sp>
      <p:sp>
        <p:nvSpPr>
          <p:cNvPr id="6" name="Text 4"/>
          <p:cNvSpPr/>
          <p:nvPr/>
        </p:nvSpPr>
        <p:spPr>
          <a:xfrm>
            <a:off x="1041374" y="3007638"/>
            <a:ext cx="4902077" cy="214610"/>
          </a:xfrm>
          <a:prstGeom prst="rect">
            <a:avLst/>
          </a:prstGeom>
          <a:noFill/>
          <a:ln/>
        </p:spPr>
        <p:txBody>
          <a:bodyPr wrap="none" lIns="0" tIns="0" rIns="0" bIns="0" rtlCol="0" anchor="t"/>
          <a:lstStyle/>
          <a:p>
            <a:pPr marL="0" indent="0" algn="l">
              <a:lnSpc>
                <a:spcPct val="108000"/>
              </a:lnSpc>
              <a:buNone/>
            </a:pPr>
            <a:r>
              <a:rPr lang="en-US" sz="1300" dirty="0">
                <a:solidFill>
                  <a:srgbClr val="0E2A23"/>
                </a:solidFill>
                <a:latin typeface="Geist Medium" pitchFamily="34" charset="0"/>
                <a:ea typeface="Geist Medium" pitchFamily="34" charset="-122"/>
                <a:cs typeface="Geist Medium" pitchFamily="34" charset="0"/>
              </a:rPr>
              <a:t>EXPERTRELAY · ABDULLAH</a:t>
            </a:r>
            <a:endParaRPr lang="en-US" sz="1300" dirty="0"/>
          </a:p>
        </p:txBody>
      </p:sp>
      <p:sp>
        <p:nvSpPr>
          <p:cNvPr id="7" name="Text 5"/>
          <p:cNvSpPr/>
          <p:nvPr/>
        </p:nvSpPr>
        <p:spPr>
          <a:xfrm>
            <a:off x="1041374" y="3384491"/>
            <a:ext cx="4673483"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Engine, store readers, LRU expert cache, predictor, LiveBudget and startup guard.</a:t>
            </a:r>
            <a:endParaRPr lang="en-US" sz="1700" dirty="0"/>
          </a:p>
        </p:txBody>
      </p:sp>
      <p:sp>
        <p:nvSpPr>
          <p:cNvPr id="8" name="Shape 6"/>
          <p:cNvSpPr/>
          <p:nvPr/>
        </p:nvSpPr>
        <p:spPr>
          <a:xfrm>
            <a:off x="6248244" y="2624435"/>
            <a:ext cx="5130672" cy="1743571"/>
          </a:xfrm>
          <a:prstGeom prst="rect">
            <a:avLst/>
          </a:prstGeom>
          <a:solidFill>
            <a:srgbClr val="F5960F"/>
          </a:solidFill>
          <a:ln/>
        </p:spPr>
        <p:txBody>
          <a:bodyPr/>
          <a:lstStyle/>
          <a:p>
            <a:endParaRPr lang="en-US"/>
          </a:p>
        </p:txBody>
      </p:sp>
      <p:sp>
        <p:nvSpPr>
          <p:cNvPr id="9" name="Text 7"/>
          <p:cNvSpPr/>
          <p:nvPr/>
        </p:nvSpPr>
        <p:spPr>
          <a:xfrm>
            <a:off x="6476838" y="2856528"/>
            <a:ext cx="4902077" cy="214610"/>
          </a:xfrm>
          <a:prstGeom prst="rect">
            <a:avLst/>
          </a:prstGeom>
          <a:noFill/>
          <a:ln/>
        </p:spPr>
        <p:txBody>
          <a:bodyPr wrap="none" lIns="0" tIns="0" rIns="0" bIns="0" rtlCol="0" anchor="t"/>
          <a:lstStyle/>
          <a:p>
            <a:pPr marL="0" indent="0" algn="l">
              <a:lnSpc>
                <a:spcPct val="108000"/>
              </a:lnSpc>
              <a:buNone/>
            </a:pPr>
            <a:r>
              <a:rPr lang="en-US" sz="1300" dirty="0">
                <a:solidFill>
                  <a:srgbClr val="000000"/>
                </a:solidFill>
                <a:latin typeface="Geist Medium" pitchFamily="34" charset="0"/>
                <a:ea typeface="Geist Medium" pitchFamily="34" charset="-122"/>
                <a:cs typeface="Geist Medium" pitchFamily="34" charset="0"/>
              </a:rPr>
              <a:t>LEANMOE ADDITIONS</a:t>
            </a:r>
            <a:endParaRPr lang="en-US" sz="1300" dirty="0"/>
          </a:p>
        </p:txBody>
      </p:sp>
      <p:sp>
        <p:nvSpPr>
          <p:cNvPr id="10" name="Text 8"/>
          <p:cNvSpPr/>
          <p:nvPr/>
        </p:nvSpPr>
        <p:spPr>
          <a:xfrm>
            <a:off x="6476838" y="3233380"/>
            <a:ext cx="4673483"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00000"/>
                </a:solidFill>
                <a:latin typeface="Geist" pitchFamily="34" charset="0"/>
                <a:ea typeface="Geist" pitchFamily="34" charset="-122"/>
                <a:cs typeface="Geist" pitchFamily="34" charset="0"/>
              </a:rPr>
              <a:t>Integration, corrected memory accounting, thread tuning, new evaluations, streaming, dashboard and automatic sizing.</a:t>
            </a:r>
            <a:endParaRPr lang="en-US" sz="1700" dirty="0"/>
          </a:p>
        </p:txBody>
      </p:sp>
      <p:sp>
        <p:nvSpPr>
          <p:cNvPr id="11" name="Shape 9"/>
          <p:cNvSpPr/>
          <p:nvPr/>
        </p:nvSpPr>
        <p:spPr>
          <a:xfrm>
            <a:off x="812780" y="4674394"/>
            <a:ext cx="10566036" cy="31651"/>
          </a:xfrm>
          <a:prstGeom prst="roundRect">
            <a:avLst>
              <a:gd name="adj" fmla="val 49998"/>
            </a:avLst>
          </a:prstGeom>
          <a:solidFill>
            <a:srgbClr val="CBD1CC"/>
          </a:solidFill>
          <a:ln/>
        </p:spPr>
        <p:txBody>
          <a:bodyPr/>
          <a:lstStyle/>
          <a:p>
            <a:endParaRPr lang="en-US"/>
          </a:p>
        </p:txBody>
      </p:sp>
      <p:sp>
        <p:nvSpPr>
          <p:cNvPr id="12" name="Text 10"/>
          <p:cNvSpPr/>
          <p:nvPr/>
        </p:nvSpPr>
        <p:spPr>
          <a:xfrm>
            <a:off x="812780" y="5013166"/>
            <a:ext cx="10566136" cy="906661"/>
          </a:xfrm>
          <a:prstGeom prst="rect">
            <a:avLst/>
          </a:prstGeom>
          <a:noFill/>
          <a:ln/>
        </p:spPr>
        <p:txBody>
          <a:bodyPr wrap="square" lIns="0" tIns="0" rIns="0" bIns="0" rtlCol="0" anchor="t">
            <a:normAutofit/>
          </a:bodyPr>
          <a:lstStyle/>
          <a:p>
            <a:pPr marL="0" indent="0" algn="l">
              <a:lnSpc>
                <a:spcPct val="117000"/>
              </a:lnSpc>
              <a:buNone/>
            </a:pPr>
            <a:r>
              <a:rPr lang="en-US" sz="1700" b="1" dirty="0">
                <a:solidFill>
                  <a:srgbClr val="0E2A23"/>
                </a:solidFill>
                <a:latin typeface="Geist Bold" pitchFamily="34" charset="0"/>
                <a:ea typeface="Geist Bold" pitchFamily="34" charset="-122"/>
                <a:cs typeface="Geist Bold" pitchFamily="34" charset="0"/>
              </a:rPr>
              <a:t>Example:</a:t>
            </a:r>
            <a:r>
              <a:rPr lang="en-US" sz="1700" dirty="0">
                <a:solidFill>
                  <a:srgbClr val="0E2A23"/>
                </a:solidFill>
                <a:latin typeface="Geist" pitchFamily="34" charset="0"/>
                <a:ea typeface="Geist" pitchFamily="34" charset="-122"/>
                <a:cs typeface="Geist" pitchFamily="34" charset="0"/>
              </a:rPr>
              <a:t> the early estimate missed committed runtime memory at import. In an earlier matched 2.5 GB cut experiment, private memory was about 2.66 GB before the correction and 2.47 GB after. That is a separate accounting experiment from the 2.39 GB adaptation demo.</a:t>
            </a:r>
            <a:endParaRPr lang="en-US" sz="1700" dirty="0"/>
          </a:p>
        </p:txBody>
      </p:sp>
      <p:sp>
        <p:nvSpPr>
          <p:cNvPr id="13" name="Text 11"/>
          <p:cNvSpPr/>
          <p:nvPr/>
        </p:nvSpPr>
        <p:spPr>
          <a:xfrm>
            <a:off x="812780" y="6176685"/>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ExpertRelay · Zenodo DOI </a:t>
            </a:r>
            <a:r>
              <a:rPr lang="en-US" sz="1300" b="1" u="sng" dirty="0">
                <a:solidFill>
                  <a:srgbClr val="0E2A23"/>
                </a:solidFill>
                <a:latin typeface="Geist Bold" pitchFamily="34" charset="0"/>
                <a:ea typeface="Geist Bold" pitchFamily="34" charset="-122"/>
                <a:cs typeface="Geist Bold" pitchFamily="34" charset="0"/>
                <a:hlinkClick r:id="rId3">
                  <a:extLst>
                    <a:ext uri="{A12FA001-AC4F-418D-AE19-62706E023703}">
                      <ahyp:hlinkClr xmlns:ahyp="http://schemas.microsoft.com/office/drawing/2018/hyperlinkcolor" val="tx"/>
                    </a:ext>
                  </a:extLst>
                </a:hlinkClick>
              </a:rPr>
              <a:t>10.5281/zenodo.22980838</a:t>
            </a:r>
            <a:endParaRPr lang="en-US" sz="1300" dirty="0"/>
          </a:p>
        </p:txBody>
      </p:sp>
      <p:pic>
        <p:nvPicPr>
          <p:cNvPr id="15" name="Picture 14">
            <a:extLst>
              <a:ext uri="{FF2B5EF4-FFF2-40B4-BE49-F238E27FC236}">
                <a16:creationId xmlns:a16="http://schemas.microsoft.com/office/drawing/2014/main" id="{3B0FC0AE-1238-1383-1B11-3C6613E0C079}"/>
              </a:ext>
            </a:extLst>
          </p:cNvPr>
          <p:cNvPicPr>
            <a:picLocks noChangeAspect="1"/>
          </p:cNvPicPr>
          <p:nvPr/>
        </p:nvPicPr>
        <p:blipFill>
          <a:blip r:embed="rId4"/>
          <a:stretch>
            <a:fillRect/>
          </a:stretch>
        </p:blipFill>
        <p:spPr>
          <a:xfrm>
            <a:off x="0" y="6577864"/>
            <a:ext cx="12192000" cy="2801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12780" y="816293"/>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INSPECTABLE SOFTWARE</a:t>
            </a:r>
            <a:endParaRPr lang="en-US" sz="1300" dirty="0"/>
          </a:p>
        </p:txBody>
      </p:sp>
      <p:sp>
        <p:nvSpPr>
          <p:cNvPr id="3" name="Text 1"/>
          <p:cNvSpPr/>
          <p:nvPr/>
        </p:nvSpPr>
        <p:spPr>
          <a:xfrm>
            <a:off x="812780" y="1175048"/>
            <a:ext cx="9143771" cy="400050"/>
          </a:xfrm>
          <a:prstGeom prst="rect">
            <a:avLst/>
          </a:prstGeom>
          <a:noFill/>
          <a:ln/>
        </p:spPr>
        <p:txBody>
          <a:bodyPr wrap="none" lIns="0" tIns="0" rIns="0" bIns="0" rtlCol="0" anchor="t"/>
          <a:lstStyle/>
          <a:p>
            <a:pPr marL="0" indent="0" algn="l">
              <a:lnSpc>
                <a:spcPct val="88000"/>
              </a:lnSpc>
              <a:buNone/>
            </a:pPr>
            <a:r>
              <a:rPr lang="en-US" sz="3000" kern="100" spc="-45" dirty="0">
                <a:solidFill>
                  <a:srgbClr val="0E2A23"/>
                </a:solidFill>
                <a:latin typeface="Geist SemiBold" pitchFamily="34" charset="0"/>
                <a:ea typeface="Geist SemiBold" pitchFamily="34" charset="-122"/>
                <a:cs typeface="Geist SemiBold" pitchFamily="34" charset="0"/>
              </a:rPr>
              <a:t>A working system others can inspect</a:t>
            </a:r>
            <a:endParaRPr lang="en-US" sz="3000" dirty="0"/>
          </a:p>
        </p:txBody>
      </p:sp>
      <p:sp>
        <p:nvSpPr>
          <p:cNvPr id="4" name="Shape 2"/>
          <p:cNvSpPr/>
          <p:nvPr/>
        </p:nvSpPr>
        <p:spPr>
          <a:xfrm>
            <a:off x="812780" y="1878310"/>
            <a:ext cx="1320767" cy="38100"/>
          </a:xfrm>
          <a:prstGeom prst="roundRect">
            <a:avLst>
              <a:gd name="adj" fmla="val 49999"/>
            </a:avLst>
          </a:prstGeom>
          <a:solidFill>
            <a:srgbClr val="F5960F"/>
          </a:solidFill>
          <a:ln/>
        </p:spPr>
        <p:txBody>
          <a:bodyPr/>
          <a:lstStyle/>
          <a:p>
            <a:endParaRPr lang="en-US"/>
          </a:p>
        </p:txBody>
      </p:sp>
      <p:sp>
        <p:nvSpPr>
          <p:cNvPr id="5" name="Text 3"/>
          <p:cNvSpPr/>
          <p:nvPr/>
        </p:nvSpPr>
        <p:spPr>
          <a:xfrm>
            <a:off x="812780" y="2889647"/>
            <a:ext cx="6065388" cy="141843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0E2A23"/>
                </a:solidFill>
                <a:latin typeface="Geist" pitchFamily="34" charset="0"/>
                <a:ea typeface="Geist" pitchFamily="34" charset="-122"/>
                <a:cs typeface="Geist" pitchFamily="34" charset="0"/>
              </a:rPr>
              <a:t>Real streaming inference and comparisons</a:t>
            </a:r>
            <a:endParaRPr lang="en-US" sz="1700" dirty="0"/>
          </a:p>
          <a:p>
            <a:pPr marL="345440" indent="-345440" algn="l">
              <a:lnSpc>
                <a:spcPct val="117000"/>
              </a:lnSpc>
              <a:buSzPct val="100000"/>
              <a:buChar char="•"/>
            </a:pPr>
            <a:r>
              <a:rPr lang="en-US" sz="1700" dirty="0">
                <a:solidFill>
                  <a:srgbClr val="0E2A23"/>
                </a:solidFill>
                <a:latin typeface="Geist" pitchFamily="34" charset="0"/>
                <a:ea typeface="Geist" pitchFamily="34" charset="-122"/>
                <a:cs typeface="Geist" pitchFamily="34" charset="0"/>
              </a:rPr>
              <a:t>Live budget control</a:t>
            </a:r>
            <a:endParaRPr lang="en-US" sz="1700" dirty="0"/>
          </a:p>
          <a:p>
            <a:pPr marL="345440" indent="-345440" algn="l">
              <a:lnSpc>
                <a:spcPct val="117000"/>
              </a:lnSpc>
              <a:buSzPct val="100000"/>
              <a:buChar char="•"/>
            </a:pPr>
            <a:r>
              <a:rPr lang="en-US" sz="1700" dirty="0">
                <a:solidFill>
                  <a:srgbClr val="0E2A23"/>
                </a:solidFill>
                <a:latin typeface="Geist" pitchFamily="34" charset="0"/>
                <a:ea typeface="Geist" pitchFamily="34" charset="-122"/>
                <a:cs typeface="Geist" pitchFamily="34" charset="0"/>
              </a:rPr>
              <a:t>Downloadable run records and recorded evidence</a:t>
            </a:r>
            <a:endParaRPr lang="en-US" sz="1700" dirty="0"/>
          </a:p>
          <a:p>
            <a:pPr marL="345440" indent="-345440" algn="l">
              <a:lnSpc>
                <a:spcPct val="117000"/>
              </a:lnSpc>
              <a:buSzPct val="100000"/>
              <a:buChar char="•"/>
            </a:pPr>
            <a:r>
              <a:rPr lang="en-US" sz="1700" dirty="0">
                <a:solidFill>
                  <a:srgbClr val="0E2A23"/>
                </a:solidFill>
                <a:latin typeface="Geist" pitchFamily="34" charset="0"/>
                <a:ea typeface="Geist" pitchFamily="34" charset="-122"/>
                <a:cs typeface="Geist" pitchFamily="34" charset="0"/>
              </a:rPr>
              <a:t>Setup scripts and real-engine synthetic-store tests</a:t>
            </a:r>
            <a:endParaRPr lang="en-US" sz="1700" dirty="0"/>
          </a:p>
        </p:txBody>
      </p:sp>
      <p:sp>
        <p:nvSpPr>
          <p:cNvPr id="6" name="Text 4"/>
          <p:cNvSpPr/>
          <p:nvPr/>
        </p:nvSpPr>
        <p:spPr>
          <a:xfrm>
            <a:off x="812780" y="4473813"/>
            <a:ext cx="6065388" cy="906661"/>
          </a:xfrm>
          <a:prstGeom prst="rect">
            <a:avLst/>
          </a:prstGeom>
          <a:noFill/>
          <a:ln/>
        </p:spPr>
        <p:txBody>
          <a:bodyPr wrap="square" lIns="0" tIns="0" rIns="0" bIns="0" rtlCol="0" anchor="t">
            <a:normAutofit/>
          </a:bodyPr>
          <a:lstStyle/>
          <a:p>
            <a:pPr marL="0" indent="0" algn="l">
              <a:lnSpc>
                <a:spcPct val="117000"/>
              </a:lnSpc>
              <a:buNone/>
            </a:pPr>
            <a:r>
              <a:rPr lang="en-US" sz="1700">
                <a:solidFill>
                  <a:srgbClr val="0E2A23"/>
                </a:solidFill>
                <a:latin typeface="Geist" panose="020B0604020202020204" charset="0"/>
                <a:ea typeface="Geist" pitchFamily="34" charset="-122"/>
                <a:cs typeface="Geist" pitchFamily="34" charset="0"/>
              </a:rPr>
              <a:t>Synthetic weights produce meaningless output; they test the mechanics without the 14.36 GB model store. Full Qwen inference needs the external store and Windows.</a:t>
            </a:r>
            <a:endParaRPr lang="en-US" sz="1700" dirty="0">
              <a:solidFill>
                <a:srgbClr val="0E2A23"/>
              </a:solidFill>
              <a:latin typeface="Geist" panose="020B0604020202020204" charset="0"/>
            </a:endParaRPr>
          </a:p>
        </p:txBody>
      </p:sp>
      <p:sp>
        <p:nvSpPr>
          <p:cNvPr id="7" name="Shape 5"/>
          <p:cNvSpPr/>
          <p:nvPr/>
        </p:nvSpPr>
        <p:spPr>
          <a:xfrm>
            <a:off x="7335257" y="2224385"/>
            <a:ext cx="4043559" cy="3820815"/>
          </a:xfrm>
          <a:prstGeom prst="rect">
            <a:avLst/>
          </a:prstGeom>
          <a:solidFill>
            <a:srgbClr val="EEF0E8"/>
          </a:solidFill>
          <a:ln/>
        </p:spPr>
        <p:txBody>
          <a:bodyPr/>
          <a:lstStyle/>
          <a:p>
            <a:endParaRPr lang="en-US"/>
          </a:p>
        </p:txBody>
      </p:sp>
      <p:sp>
        <p:nvSpPr>
          <p:cNvPr id="8" name="Text 6"/>
          <p:cNvSpPr/>
          <p:nvPr/>
        </p:nvSpPr>
        <p:spPr>
          <a:xfrm>
            <a:off x="7563851" y="3043932"/>
            <a:ext cx="3586370" cy="1587401"/>
          </a:xfrm>
          <a:prstGeom prst="rect">
            <a:avLst/>
          </a:prstGeom>
          <a:noFill/>
          <a:ln/>
        </p:spPr>
        <p:txBody>
          <a:bodyPr wrap="square" lIns="0" tIns="0" rIns="0" bIns="0" rtlCol="0" anchor="t">
            <a:normAutofit/>
          </a:bodyPr>
          <a:lstStyle/>
          <a:p>
            <a:pPr marL="0" indent="0" algn="l">
              <a:lnSpc>
                <a:spcPct val="117000"/>
              </a:lnSpc>
              <a:buNone/>
            </a:pPr>
            <a:r>
              <a:rPr lang="en-US" sz="1600" b="1" dirty="0">
                <a:solidFill>
                  <a:srgbClr val="0E2A23"/>
                </a:solidFill>
                <a:latin typeface="Geist Bold" pitchFamily="34" charset="0"/>
                <a:ea typeface="Geist Bold" pitchFamily="34" charset="-122"/>
                <a:cs typeface="Geist Bold" pitchFamily="34" charset="0"/>
              </a:rPr>
              <a:t>GitHub</a:t>
            </a:r>
            <a:endParaRPr lang="en-US" sz="1600" dirty="0"/>
          </a:p>
          <a:p>
            <a:pPr marL="0" indent="0" algn="l">
              <a:lnSpc>
                <a:spcPct val="117000"/>
              </a:lnSpc>
              <a:spcAft>
                <a:spcPts val="1250"/>
              </a:spcAft>
              <a:buNone/>
            </a:pPr>
            <a:r>
              <a:rPr lang="en-US" sz="1600" b="1" u="sng" dirty="0">
                <a:solidFill>
                  <a:srgbClr val="0E2A23"/>
                </a:solidFill>
                <a:latin typeface="Geist Bold" pitchFamily="34" charset="0"/>
                <a:ea typeface="Geist Bold" pitchFamily="34" charset="-122"/>
                <a:cs typeface="Geist Bold" pitchFamily="34" charset="0"/>
                <a:hlinkClick r:id="rId3">
                  <a:extLst>
                    <a:ext uri="{A12FA001-AC4F-418D-AE19-62706E023703}">
                      <ahyp:hlinkClr xmlns:ahyp="http://schemas.microsoft.com/office/drawing/2018/hyperlinkcolor" val="tx"/>
                    </a:ext>
                  </a:extLst>
                </a:hlinkClick>
              </a:rPr>
              <a:t>github.com/No6Name8/LeanMoE</a:t>
            </a:r>
            <a:endParaRPr lang="en-US" sz="1600" dirty="0"/>
          </a:p>
          <a:p>
            <a:pPr marL="0" indent="0" algn="l">
              <a:lnSpc>
                <a:spcPct val="117000"/>
              </a:lnSpc>
              <a:buNone/>
            </a:pPr>
            <a:r>
              <a:rPr lang="en-US" sz="1600" b="1" dirty="0">
                <a:solidFill>
                  <a:srgbClr val="0E2A23"/>
                </a:solidFill>
                <a:latin typeface="Geist Bold" pitchFamily="34" charset="0"/>
                <a:ea typeface="Geist Bold" pitchFamily="34" charset="-122"/>
                <a:cs typeface="Geist Bold" pitchFamily="34" charset="0"/>
              </a:rPr>
              <a:t>Live demo</a:t>
            </a:r>
            <a:endParaRPr lang="en-US" sz="1600" dirty="0"/>
          </a:p>
          <a:p>
            <a:pPr marL="0" indent="0" algn="l">
              <a:lnSpc>
                <a:spcPct val="117000"/>
              </a:lnSpc>
              <a:buNone/>
            </a:pPr>
            <a:r>
              <a:rPr lang="en-US" sz="1600" b="1" u="sng" dirty="0">
                <a:solidFill>
                  <a:srgbClr val="0E2A23"/>
                </a:solidFill>
                <a:latin typeface="Geist Bold" pitchFamily="34" charset="0"/>
                <a:ea typeface="Geist Bold" pitchFamily="34" charset="-122"/>
                <a:cs typeface="Geist Bold" pitchFamily="34" charset="0"/>
                <a:hlinkClick r:id="rId4">
                  <a:extLst>
                    <a:ext uri="{A12FA001-AC4F-418D-AE19-62706E023703}">
                      <ahyp:hlinkClr xmlns:ahyp="http://schemas.microsoft.com/office/drawing/2018/hyperlinkcolor" val="tx"/>
                    </a:ext>
                  </a:extLst>
                </a:hlinkClick>
              </a:rPr>
              <a:t>Live demo</a:t>
            </a:r>
            <a:endParaRPr lang="en-US" sz="1600" dirty="0"/>
          </a:p>
          <a:p>
            <a:pPr marL="0" indent="0" algn="l">
              <a:lnSpc>
                <a:spcPct val="117000"/>
              </a:lnSpc>
              <a:buNone/>
            </a:pPr>
            <a:r>
              <a:rPr lang="en-US" sz="1600" dirty="0">
                <a:solidFill>
                  <a:srgbClr val="0E2A23"/>
                </a:solidFill>
                <a:latin typeface="Geist" pitchFamily="34" charset="0"/>
                <a:ea typeface="Geist" pitchFamily="34" charset="-122"/>
                <a:cs typeface="Geist" pitchFamily="34" charset="0"/>
              </a:rPr>
              <a:t>Private credentials required.</a:t>
            </a:r>
            <a:endParaRPr lang="en-US" sz="1600" dirty="0"/>
          </a:p>
        </p:txBody>
      </p:sp>
      <p:sp>
        <p:nvSpPr>
          <p:cNvPr id="9" name="Text 7"/>
          <p:cNvSpPr/>
          <p:nvPr/>
        </p:nvSpPr>
        <p:spPr>
          <a:xfrm>
            <a:off x="7563851" y="4799925"/>
            <a:ext cx="3586370"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0E2A23"/>
                </a:solidFill>
                <a:latin typeface="Geist" pitchFamily="34" charset="0"/>
                <a:ea typeface="Geist" pitchFamily="34" charset="-122"/>
                <a:cs typeface="Geist" pitchFamily="34" charset="0"/>
              </a:rPr>
              <a:t>Cloud is an optional remote way to try the same engine, not the main performance story.</a:t>
            </a:r>
            <a:endParaRPr lang="en-US" sz="1300" dirty="0"/>
          </a:p>
        </p:txBody>
      </p:sp>
      <p:pic>
        <p:nvPicPr>
          <p:cNvPr id="11" name="Picture 10">
            <a:extLst>
              <a:ext uri="{FF2B5EF4-FFF2-40B4-BE49-F238E27FC236}">
                <a16:creationId xmlns:a16="http://schemas.microsoft.com/office/drawing/2014/main" id="{C0B78F9B-7419-2151-5E23-D40C5A8B6B1B}"/>
              </a:ext>
            </a:extLst>
          </p:cNvPr>
          <p:cNvPicPr>
            <a:picLocks noChangeAspect="1"/>
          </p:cNvPicPr>
          <p:nvPr/>
        </p:nvPicPr>
        <p:blipFill>
          <a:blip r:embed="rId5"/>
          <a:stretch>
            <a:fillRect/>
          </a:stretch>
        </p:blipFill>
        <p:spPr>
          <a:xfrm>
            <a:off x="0" y="6577864"/>
            <a:ext cx="12192000" cy="2801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12780" y="816293"/>
            <a:ext cx="11175720" cy="214610"/>
          </a:xfrm>
          <a:prstGeom prst="rect">
            <a:avLst/>
          </a:prstGeom>
          <a:noFill/>
          <a:ln/>
        </p:spPr>
        <p:txBody>
          <a:bodyPr wrap="none" lIns="0" tIns="0" rIns="0" bIns="0" rtlCol="0" anchor="t"/>
          <a:lstStyle/>
          <a:p>
            <a:pPr marL="0" indent="0" algn="l">
              <a:lnSpc>
                <a:spcPct val="108000"/>
              </a:lnSpc>
              <a:buNone/>
            </a:pPr>
            <a:r>
              <a:rPr lang="en-US" sz="1300" dirty="0">
                <a:solidFill>
                  <a:srgbClr val="586761"/>
                </a:solidFill>
                <a:latin typeface="Geist Medium" pitchFamily="34" charset="0"/>
                <a:ea typeface="Geist Medium" pitchFamily="34" charset="-122"/>
                <a:cs typeface="Geist Medium" pitchFamily="34" charset="0"/>
              </a:rPr>
              <a:t>FUTURE WORK</a:t>
            </a:r>
            <a:endParaRPr lang="en-US" sz="1300" dirty="0"/>
          </a:p>
        </p:txBody>
      </p:sp>
      <p:sp>
        <p:nvSpPr>
          <p:cNvPr id="3" name="Text 1"/>
          <p:cNvSpPr/>
          <p:nvPr/>
        </p:nvSpPr>
        <p:spPr>
          <a:xfrm>
            <a:off x="812780" y="1175048"/>
            <a:ext cx="9143771" cy="400050"/>
          </a:xfrm>
          <a:prstGeom prst="rect">
            <a:avLst/>
          </a:prstGeom>
          <a:noFill/>
          <a:ln/>
        </p:spPr>
        <p:txBody>
          <a:bodyPr wrap="none" lIns="0" tIns="0" rIns="0" bIns="0" rtlCol="0" anchor="t"/>
          <a:lstStyle/>
          <a:p>
            <a:pPr marL="0" indent="0" algn="l">
              <a:lnSpc>
                <a:spcPct val="88000"/>
              </a:lnSpc>
              <a:buNone/>
            </a:pPr>
            <a:r>
              <a:rPr lang="en-US" sz="3000" kern="100" spc="-45" dirty="0">
                <a:solidFill>
                  <a:srgbClr val="0E2A23"/>
                </a:solidFill>
                <a:latin typeface="Geist SemiBold" pitchFamily="34" charset="0"/>
                <a:ea typeface="Geist SemiBold" pitchFamily="34" charset="-122"/>
                <a:cs typeface="Geist SemiBold" pitchFamily="34" charset="0"/>
              </a:rPr>
              <a:t>What we would build next</a:t>
            </a:r>
            <a:endParaRPr lang="en-US" sz="3000" dirty="0"/>
          </a:p>
        </p:txBody>
      </p:sp>
      <p:sp>
        <p:nvSpPr>
          <p:cNvPr id="4" name="Shape 2"/>
          <p:cNvSpPr/>
          <p:nvPr/>
        </p:nvSpPr>
        <p:spPr>
          <a:xfrm>
            <a:off x="812780" y="1878310"/>
            <a:ext cx="1320767" cy="38100"/>
          </a:xfrm>
          <a:prstGeom prst="roundRect">
            <a:avLst>
              <a:gd name="adj" fmla="val 49999"/>
            </a:avLst>
          </a:prstGeom>
          <a:solidFill>
            <a:srgbClr val="F5960F"/>
          </a:solidFill>
          <a:ln/>
        </p:spPr>
        <p:txBody>
          <a:bodyPr/>
          <a:lstStyle/>
          <a:p>
            <a:endParaRPr lang="en-US"/>
          </a:p>
        </p:txBody>
      </p:sp>
      <p:sp>
        <p:nvSpPr>
          <p:cNvPr id="5" name="Text 3"/>
          <p:cNvSpPr/>
          <p:nvPr/>
        </p:nvSpPr>
        <p:spPr>
          <a:xfrm>
            <a:off x="812780" y="2232141"/>
            <a:ext cx="3318784" cy="304800"/>
          </a:xfrm>
          <a:prstGeom prst="rect">
            <a:avLst/>
          </a:prstGeom>
          <a:noFill/>
          <a:ln/>
        </p:spPr>
        <p:txBody>
          <a:bodyPr wrap="none" lIns="0" tIns="0" rIns="0" bIns="0" rtlCol="0" anchor="t"/>
          <a:lstStyle/>
          <a:p>
            <a:pPr marL="0" indent="0" algn="l">
              <a:lnSpc>
                <a:spcPct val="100000"/>
              </a:lnSpc>
              <a:buNone/>
            </a:pPr>
            <a:r>
              <a:rPr lang="en-US" sz="2000" kern="100" spc="-10" dirty="0">
                <a:solidFill>
                  <a:srgbClr val="0E2A23"/>
                </a:solidFill>
                <a:latin typeface="Geist SemiBold" pitchFamily="34" charset="0"/>
                <a:ea typeface="Geist SemiBold" pitchFamily="34" charset="-122"/>
                <a:cs typeface="Geist SemiBold" pitchFamily="34" charset="0"/>
              </a:rPr>
              <a:t>Smarter expert access</a:t>
            </a:r>
            <a:endParaRPr lang="en-US" sz="2000" dirty="0"/>
          </a:p>
        </p:txBody>
      </p:sp>
      <p:sp>
        <p:nvSpPr>
          <p:cNvPr id="6" name="Text 4"/>
          <p:cNvSpPr/>
          <p:nvPr/>
        </p:nvSpPr>
        <p:spPr>
          <a:xfrm>
            <a:off x="812780" y="2733020"/>
            <a:ext cx="3318784"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Improve expert prediction and cache policies to reduce unnecessary disk reads.</a:t>
            </a:r>
            <a:endParaRPr lang="en-US" sz="1700" dirty="0"/>
          </a:p>
        </p:txBody>
      </p:sp>
      <p:sp>
        <p:nvSpPr>
          <p:cNvPr id="7" name="Text 5"/>
          <p:cNvSpPr/>
          <p:nvPr/>
        </p:nvSpPr>
        <p:spPr>
          <a:xfrm>
            <a:off x="812780" y="3807639"/>
            <a:ext cx="3318784"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Validate with controlled comparisons of latency, memory and output consistency.</a:t>
            </a:r>
            <a:endParaRPr lang="en-US" sz="1300" dirty="0"/>
          </a:p>
        </p:txBody>
      </p:sp>
      <p:sp>
        <p:nvSpPr>
          <p:cNvPr id="8" name="Text 6"/>
          <p:cNvSpPr/>
          <p:nvPr/>
        </p:nvSpPr>
        <p:spPr>
          <a:xfrm>
            <a:off x="4436356" y="2232141"/>
            <a:ext cx="3318883" cy="304800"/>
          </a:xfrm>
          <a:prstGeom prst="rect">
            <a:avLst/>
          </a:prstGeom>
          <a:noFill/>
          <a:ln/>
        </p:spPr>
        <p:txBody>
          <a:bodyPr wrap="none" lIns="0" tIns="0" rIns="0" bIns="0" rtlCol="0" anchor="t"/>
          <a:lstStyle/>
          <a:p>
            <a:pPr marL="0" indent="0" algn="l">
              <a:lnSpc>
                <a:spcPct val="100000"/>
              </a:lnSpc>
              <a:buNone/>
            </a:pPr>
            <a:r>
              <a:rPr lang="en-US" sz="2000" kern="100" spc="-10" dirty="0">
                <a:solidFill>
                  <a:srgbClr val="0E2A23"/>
                </a:solidFill>
                <a:latin typeface="Geist SemiBold" pitchFamily="34" charset="0"/>
                <a:ea typeface="Geist SemiBold" pitchFamily="34" charset="-122"/>
                <a:cs typeface="Geist SemiBold" pitchFamily="34" charset="0"/>
              </a:rPr>
              <a:t>A better cloud experience</a:t>
            </a:r>
            <a:endParaRPr lang="en-US" sz="2000" dirty="0"/>
          </a:p>
        </p:txBody>
      </p:sp>
      <p:sp>
        <p:nvSpPr>
          <p:cNvPr id="9" name="Text 7"/>
          <p:cNvSpPr/>
          <p:nvPr/>
        </p:nvSpPr>
        <p:spPr>
          <a:xfrm>
            <a:off x="4436356" y="2733020"/>
            <a:ext cx="3318883" cy="120888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Investigate safe reuse of loaded model weights while keeping each user’s prompts and state isolated.</a:t>
            </a:r>
            <a:endParaRPr lang="en-US" sz="1700" dirty="0"/>
          </a:p>
        </p:txBody>
      </p:sp>
      <p:sp>
        <p:nvSpPr>
          <p:cNvPr id="10" name="Text 8"/>
          <p:cNvSpPr/>
          <p:nvPr/>
        </p:nvSpPr>
        <p:spPr>
          <a:xfrm>
            <a:off x="4436356" y="4109859"/>
            <a:ext cx="3318883" cy="64383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Tune cache sizing and storage, then measure latency, memory and cost together.</a:t>
            </a:r>
            <a:endParaRPr lang="en-US" sz="1300" dirty="0"/>
          </a:p>
        </p:txBody>
      </p:sp>
      <p:sp>
        <p:nvSpPr>
          <p:cNvPr id="11" name="Text 9"/>
          <p:cNvSpPr/>
          <p:nvPr/>
        </p:nvSpPr>
        <p:spPr>
          <a:xfrm>
            <a:off x="8060032" y="2232141"/>
            <a:ext cx="3318883" cy="304800"/>
          </a:xfrm>
          <a:prstGeom prst="rect">
            <a:avLst/>
          </a:prstGeom>
          <a:noFill/>
          <a:ln/>
        </p:spPr>
        <p:txBody>
          <a:bodyPr wrap="none" lIns="0" tIns="0" rIns="0" bIns="0" rtlCol="0" anchor="t"/>
          <a:lstStyle/>
          <a:p>
            <a:pPr marL="0" indent="0" algn="l">
              <a:lnSpc>
                <a:spcPct val="100000"/>
              </a:lnSpc>
              <a:buNone/>
            </a:pPr>
            <a:r>
              <a:rPr lang="en-US" sz="2000" kern="100" spc="-10" dirty="0">
                <a:solidFill>
                  <a:srgbClr val="0E2A23"/>
                </a:solidFill>
                <a:latin typeface="Geist SemiBold" pitchFamily="34" charset="0"/>
                <a:ea typeface="Geist SemiBold" pitchFamily="34" charset="-122"/>
                <a:cs typeface="Geist SemiBold" pitchFamily="34" charset="0"/>
              </a:rPr>
              <a:t>Easier adoption</a:t>
            </a:r>
            <a:endParaRPr lang="en-US" sz="2000" dirty="0"/>
          </a:p>
        </p:txBody>
      </p:sp>
      <p:sp>
        <p:nvSpPr>
          <p:cNvPr id="12" name="Text 10"/>
          <p:cNvSpPr/>
          <p:nvPr/>
        </p:nvSpPr>
        <p:spPr>
          <a:xfrm>
            <a:off x="8060032" y="2733020"/>
            <a:ext cx="3318883" cy="120888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E2A23"/>
                </a:solidFill>
                <a:latin typeface="Geist" pitchFamily="34" charset="0"/>
                <a:ea typeface="Geist" pitchFamily="34" charset="-122"/>
                <a:cs typeface="Geist" pitchFamily="34" charset="0"/>
              </a:rPr>
              <a:t>Simplify model-store setup and distribution, add more MoE models, and test across more devices.</a:t>
            </a:r>
            <a:endParaRPr lang="en-US" sz="1700" dirty="0"/>
          </a:p>
        </p:txBody>
      </p:sp>
      <p:sp>
        <p:nvSpPr>
          <p:cNvPr id="13" name="Text 11"/>
          <p:cNvSpPr/>
          <p:nvPr/>
        </p:nvSpPr>
        <p:spPr>
          <a:xfrm>
            <a:off x="8060032" y="4109859"/>
            <a:ext cx="3318883"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586761"/>
                </a:solidFill>
                <a:latin typeface="Geist" pitchFamily="34" charset="0"/>
                <a:ea typeface="Geist" pitchFamily="34" charset="-122"/>
                <a:cs typeface="Geist" pitchFamily="34" charset="0"/>
              </a:rPr>
              <a:t>Local inference remains the foundation; cloud extends the same runtime.</a:t>
            </a:r>
            <a:endParaRPr lang="en-US" sz="1300" dirty="0"/>
          </a:p>
        </p:txBody>
      </p:sp>
      <p:sp>
        <p:nvSpPr>
          <p:cNvPr id="14" name="Shape 12"/>
          <p:cNvSpPr/>
          <p:nvPr/>
        </p:nvSpPr>
        <p:spPr>
          <a:xfrm>
            <a:off x="812780" y="4921647"/>
            <a:ext cx="6156766" cy="1570930"/>
          </a:xfrm>
          <a:prstGeom prst="rect">
            <a:avLst/>
          </a:prstGeom>
          <a:solidFill>
            <a:srgbClr val="EEF0E8"/>
          </a:solidFill>
          <a:ln/>
        </p:spPr>
        <p:txBody>
          <a:bodyPr/>
          <a:lstStyle/>
          <a:p>
            <a:endParaRPr lang="en-US"/>
          </a:p>
        </p:txBody>
      </p:sp>
      <p:sp>
        <p:nvSpPr>
          <p:cNvPr id="15" name="Text 13"/>
          <p:cNvSpPr/>
          <p:nvPr/>
        </p:nvSpPr>
        <p:spPr>
          <a:xfrm>
            <a:off x="1041374" y="5232797"/>
            <a:ext cx="5699578" cy="734020"/>
          </a:xfrm>
          <a:prstGeom prst="rect">
            <a:avLst/>
          </a:prstGeom>
          <a:noFill/>
          <a:ln/>
        </p:spPr>
        <p:txBody>
          <a:bodyPr wrap="square" lIns="0" tIns="0" rIns="0" bIns="0" rtlCol="0" anchor="t"/>
          <a:lstStyle/>
          <a:p>
            <a:pPr marL="0" indent="0" algn="l">
              <a:lnSpc>
                <a:spcPct val="117000"/>
              </a:lnSpc>
              <a:spcAft>
                <a:spcPts val="1250"/>
              </a:spcAft>
              <a:buNone/>
            </a:pPr>
            <a:r>
              <a:rPr lang="en-US" sz="1600" b="1" u="sng" dirty="0">
                <a:solidFill>
                  <a:srgbClr val="0E2A23"/>
                </a:solidFill>
                <a:latin typeface="Geist Bold" pitchFamily="34" charset="0"/>
                <a:ea typeface="Geist Bold" pitchFamily="34" charset="-122"/>
                <a:cs typeface="Geist Bold" pitchFamily="34" charset="0"/>
                <a:hlinkClick r:id="rId3">
                  <a:extLst>
                    <a:ext uri="{A12FA001-AC4F-418D-AE19-62706E023703}">
                      <ahyp:hlinkClr xmlns:ahyp="http://schemas.microsoft.com/office/drawing/2018/hyperlinkcolor" val="tx"/>
                    </a:ext>
                  </a:extLst>
                </a:hlinkClick>
              </a:rPr>
              <a:t>GitHub</a:t>
            </a:r>
            <a:endParaRPr lang="en-US" sz="1600" dirty="0"/>
          </a:p>
          <a:p>
            <a:pPr marL="0" indent="0" algn="l">
              <a:lnSpc>
                <a:spcPct val="117000"/>
              </a:lnSpc>
              <a:buNone/>
            </a:pPr>
            <a:r>
              <a:rPr lang="en-US" sz="1600" b="1" u="sng" dirty="0">
                <a:solidFill>
                  <a:srgbClr val="0E2A23"/>
                </a:solidFill>
                <a:latin typeface="Geist Bold" pitchFamily="34" charset="0"/>
                <a:ea typeface="Geist Bold" pitchFamily="34" charset="-122"/>
                <a:cs typeface="Geist Bold" pitchFamily="34" charset="0"/>
                <a:hlinkClick r:id="rId4">
                  <a:extLst>
                    <a:ext uri="{A12FA001-AC4F-418D-AE19-62706E023703}">
                      <ahyp:hlinkClr xmlns:ahyp="http://schemas.microsoft.com/office/drawing/2018/hyperlinkcolor" val="tx"/>
                    </a:ext>
                  </a:extLst>
                </a:hlinkClick>
              </a:rPr>
              <a:t>Live demo</a:t>
            </a:r>
            <a:endParaRPr lang="en-US" sz="1600" dirty="0"/>
          </a:p>
        </p:txBody>
      </p:sp>
      <p:sp>
        <p:nvSpPr>
          <p:cNvPr id="16" name="Text 14"/>
          <p:cNvSpPr/>
          <p:nvPr/>
        </p:nvSpPr>
        <p:spPr>
          <a:xfrm>
            <a:off x="1041374" y="6135410"/>
            <a:ext cx="5928172" cy="214610"/>
          </a:xfrm>
          <a:prstGeom prst="rect">
            <a:avLst/>
          </a:prstGeom>
          <a:noFill/>
          <a:ln/>
        </p:spPr>
        <p:txBody>
          <a:bodyPr wrap="none" lIns="0" tIns="0" rIns="0" bIns="0" rtlCol="0" anchor="t"/>
          <a:lstStyle/>
          <a:p>
            <a:pPr marL="0" indent="0" algn="l">
              <a:lnSpc>
                <a:spcPct val="108000"/>
              </a:lnSpc>
              <a:buNone/>
            </a:pPr>
            <a:r>
              <a:rPr lang="en-US" sz="1300">
                <a:solidFill>
                  <a:srgbClr val="0E2A23"/>
                </a:solidFill>
                <a:latin typeface="Geist" panose="020B0604020202020204" charset="0"/>
                <a:ea typeface="Geist" pitchFamily="34" charset="-122"/>
                <a:cs typeface="Geist" pitchFamily="34" charset="0"/>
              </a:rPr>
              <a:t>Demo requires private credentials.</a:t>
            </a:r>
            <a:endParaRPr lang="en-US" sz="1300" dirty="0">
              <a:solidFill>
                <a:srgbClr val="0E2A23"/>
              </a:solidFill>
              <a:latin typeface="Geist" panose="020B0604020202020204" charset="0"/>
            </a:endParaRPr>
          </a:p>
        </p:txBody>
      </p:sp>
      <p:sp>
        <p:nvSpPr>
          <p:cNvPr id="17" name="Text 15"/>
          <p:cNvSpPr/>
          <p:nvPr/>
        </p:nvSpPr>
        <p:spPr>
          <a:xfrm>
            <a:off x="7274239" y="5492569"/>
            <a:ext cx="4104577" cy="609600"/>
          </a:xfrm>
          <a:prstGeom prst="rect">
            <a:avLst/>
          </a:prstGeom>
          <a:noFill/>
          <a:ln/>
        </p:spPr>
        <p:txBody>
          <a:bodyPr wrap="square" lIns="0" tIns="0" rIns="0" bIns="0" rtlCol="0" anchor="t">
            <a:normAutofit/>
          </a:bodyPr>
          <a:lstStyle/>
          <a:p>
            <a:pPr marL="0" indent="0" algn="l">
              <a:lnSpc>
                <a:spcPct val="100000"/>
              </a:lnSpc>
              <a:buNone/>
            </a:pPr>
            <a:r>
              <a:rPr lang="en-US" sz="2000" kern="100" spc="-10" dirty="0">
                <a:solidFill>
                  <a:srgbClr val="0E2A23"/>
                </a:solidFill>
                <a:latin typeface="Geist SemiBold" pitchFamily="34" charset="0"/>
                <a:ea typeface="Geist SemiBold" pitchFamily="34" charset="-122"/>
                <a:cs typeface="Geist SemiBold" pitchFamily="34" charset="0"/>
              </a:rPr>
              <a:t>Large models on the hardware people already have.</a:t>
            </a:r>
            <a:endParaRPr lang="en-US" sz="2000" dirty="0"/>
          </a:p>
        </p:txBody>
      </p:sp>
      <p:pic>
        <p:nvPicPr>
          <p:cNvPr id="19" name="Picture 18">
            <a:extLst>
              <a:ext uri="{FF2B5EF4-FFF2-40B4-BE49-F238E27FC236}">
                <a16:creationId xmlns:a16="http://schemas.microsoft.com/office/drawing/2014/main" id="{A59EB951-31D6-A736-7A21-4FA4B4888DD1}"/>
              </a:ext>
            </a:extLst>
          </p:cNvPr>
          <p:cNvPicPr>
            <a:picLocks noChangeAspect="1"/>
          </p:cNvPicPr>
          <p:nvPr/>
        </p:nvPicPr>
        <p:blipFill>
          <a:blip r:embed="rId5"/>
          <a:stretch>
            <a:fillRect/>
          </a:stretch>
        </p:blipFill>
        <p:spPr>
          <a:xfrm>
            <a:off x="0" y="6577864"/>
            <a:ext cx="12192000" cy="2801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E2A2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2128</Words>
  <Application>Microsoft Office PowerPoint</Application>
  <PresentationFormat>Widescreen</PresentationFormat>
  <Paragraphs>104</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Instrument Serif</vt:lpstr>
      <vt:lpstr>Geist</vt:lpstr>
      <vt:lpstr>Geist SemiBold</vt:lpstr>
      <vt:lpstr>Geist Medium</vt:lpstr>
      <vt:lpstr>Geist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ABDULLAH ALI  MAHDI  ALANAZI</cp:lastModifiedBy>
  <cp:revision>3</cp:revision>
  <dcterms:created xsi:type="dcterms:W3CDTF">2026-10-31T06:46:37Z</dcterms:created>
  <dcterms:modified xsi:type="dcterms:W3CDTF">2026-10-31T06:57:19Z</dcterms:modified>
</cp:coreProperties>
</file>