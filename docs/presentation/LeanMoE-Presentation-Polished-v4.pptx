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ee26c13cf2a4421" /><Relationship Type="http://schemas.openxmlformats.org/officeDocument/2006/relationships/extended-properties" Target="/docProps/app.xml" Id="R10b456a40e544891" /><Relationship Type="http://schemas.openxmlformats.org/officeDocument/2006/relationships/officeDocument" Target="/ppt/presentation.xml" Id="Ra37fc412169147fc" /></Relationships>
</file>

<file path=ppt/presentation.xml><?xml version="1.0" encoding="utf-8"?>
<p:presentation xmlns:p="http://schemas.openxmlformats.org/presentationml/2006/main">
  <p:sldMasterIdLst>
    <p:sldMasterId xmlns:r="http://schemas.openxmlformats.org/officeDocument/2006/relationships" id="2147483648" r:id="R68cf7ea8700e449f"/>
  </p:sldMasterIdLst>
  <p:notesMasterIdLst>
    <p:notesMasterId xmlns:r="http://schemas.openxmlformats.org/officeDocument/2006/relationships" r:id="Recaecab0bf77437d"/>
  </p:notesMasterIdLst>
  <p:sldIdLst>
    <p:sldId xmlns:r="http://schemas.openxmlformats.org/officeDocument/2006/relationships" id="256" r:id="R3ad112a434824f22"/>
    <p:sldId xmlns:r="http://schemas.openxmlformats.org/officeDocument/2006/relationships" id="257" r:id="R53d4e81732384134"/>
    <p:sldId xmlns:r="http://schemas.openxmlformats.org/officeDocument/2006/relationships" id="258" r:id="R54d01f3938804caa"/>
    <p:sldId xmlns:r="http://schemas.openxmlformats.org/officeDocument/2006/relationships" id="259" r:id="R9307d9d5e5b744d3"/>
    <p:sldId xmlns:r="http://schemas.openxmlformats.org/officeDocument/2006/relationships" id="260" r:id="Ra2acb28caf2b4b49"/>
    <p:sldId xmlns:r="http://schemas.openxmlformats.org/officeDocument/2006/relationships" id="261" r:id="R05d8766f17e44d99"/>
    <p:sldId xmlns:r="http://schemas.openxmlformats.org/officeDocument/2006/relationships" id="262" r:id="Rbc94501d27b54dde"/>
    <p:sldId xmlns:r="http://schemas.openxmlformats.org/officeDocument/2006/relationships" id="263" r:id="R2828e7a245c7434b"/>
    <p:sldId xmlns:r="http://schemas.openxmlformats.org/officeDocument/2006/relationships" id="264" r:id="R826ec6026d9b41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5eb9dd7a4b430e" /><Relationship Type="http://schemas.openxmlformats.org/officeDocument/2006/relationships/slideMaster" Target="/ppt/slideMasters/slideMaster1.xml" Id="R68cf7ea8700e449f" /><Relationship Type="http://schemas.openxmlformats.org/officeDocument/2006/relationships/notesMaster" Target="/ppt/notesMasters/notesMaster1.xml" Id="Recaecab0bf77437d" /><Relationship Type="http://schemas.openxmlformats.org/officeDocument/2006/relationships/presProps" Target="/ppt/presProps.xml" Id="R3f579b74da0e4c84" /><Relationship Type="http://schemas.openxmlformats.org/officeDocument/2006/relationships/tableStyles" Target="/ppt/tableStyles.xml" Id="R456edeb98bf94097" /><Relationship Type="http://schemas.openxmlformats.org/officeDocument/2006/relationships/slide" Target="/ppt/slides/slide1.xml" Id="R3ad112a434824f22" /><Relationship Type="http://schemas.openxmlformats.org/officeDocument/2006/relationships/slide" Target="/ppt/slides/slide2.xml" Id="R53d4e81732384134" /><Relationship Type="http://schemas.openxmlformats.org/officeDocument/2006/relationships/slide" Target="/ppt/slides/slide3.xml" Id="R54d01f3938804caa" /><Relationship Type="http://schemas.openxmlformats.org/officeDocument/2006/relationships/slide" Target="/ppt/slides/slide4.xml" Id="R9307d9d5e5b744d3" /><Relationship Type="http://schemas.openxmlformats.org/officeDocument/2006/relationships/slide" Target="/ppt/slides/slide5.xml" Id="Ra2acb28caf2b4b49" /><Relationship Type="http://schemas.openxmlformats.org/officeDocument/2006/relationships/slide" Target="/ppt/slides/slide6.xml" Id="R05d8766f17e44d99" /><Relationship Type="http://schemas.openxmlformats.org/officeDocument/2006/relationships/slide" Target="/ppt/slides/slide7.xml" Id="Rbc94501d27b54dde" /><Relationship Type="http://schemas.openxmlformats.org/officeDocument/2006/relationships/slide" Target="/ppt/slides/slide8.xml" Id="R2828e7a245c7434b" /><Relationship Type="http://schemas.openxmlformats.org/officeDocument/2006/relationships/slide" Target="/ppt/slides/slide9.xml" Id="R826ec6026d9b41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495c0bf09d49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8c68026acd4d5e" /><Relationship Type="http://schemas.openxmlformats.org/officeDocument/2006/relationships/notesMaster" Target="/ppt/notesMasters/notesMaster1.xml" Id="Rdf5409b3ccaf4d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95fd008db34ea0" /><Relationship Type="http://schemas.openxmlformats.org/officeDocument/2006/relationships/notesMaster" Target="/ppt/notesMasters/notesMaster1.xml" Id="R5a327bc20e1848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22cb1645cf43b4" /><Relationship Type="http://schemas.openxmlformats.org/officeDocument/2006/relationships/notesMaster" Target="/ppt/notesMasters/notesMaster1.xml" Id="Re6b3c6b946d042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cec6d36a4749be" /><Relationship Type="http://schemas.openxmlformats.org/officeDocument/2006/relationships/notesMaster" Target="/ppt/notesMasters/notesMaster1.xml" Id="R456b76f63a2a42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fd559cf5d44814" /><Relationship Type="http://schemas.openxmlformats.org/officeDocument/2006/relationships/notesMaster" Target="/ppt/notesMasters/notesMaster1.xml" Id="R4116f01516444a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6a7bf6844247e4" /><Relationship Type="http://schemas.openxmlformats.org/officeDocument/2006/relationships/notesMaster" Target="/ppt/notesMasters/notesMaster1.xml" Id="R4d96fc5034e849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00a046c8154578" /><Relationship Type="http://schemas.openxmlformats.org/officeDocument/2006/relationships/notesMaster" Target="/ppt/notesMasters/notesMaster1.xml" Id="Rc6b056afd91949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c94484fd6b4cc4" /><Relationship Type="http://schemas.openxmlformats.org/officeDocument/2006/relationships/notesMaster" Target="/ppt/notesMasters/notesMaster1.xml" Id="R2ada7af4f01c42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6d855d1b404de5" /><Relationship Type="http://schemas.openxmlformats.org/officeDocument/2006/relationships/notesMaster" Target="/ppt/notesMasters/notesMaster1.xml" Id="R974b77813ec243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 built LeanMoE around the limitations of my own 8 GB Windows laptop. The question was how to run a larger MoE model while controlling memory and preserving execution. Qwen supplies the pretrained model. LeanMoE supplies the runtime and expert access. The next slides distinguish my prior ExpertRelay research from the additions in this project.</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cost example from manufacturer primary source: https://frame.work/blog/updates-on-memory-pricing-and-navigating-the-volatile-memory-market . In the Original blog post section, Framework reports a50% increase in DDR5 memory configurable in Laptop DIY Edition orders. Normalize before price to100 and after to150: (150-100)/100=50%. No dollar amount, Saudi retail quote, market-wide time series, or LeanMoE cost saving is asserted. Subsequent updates report both increases and decreases for different parts; the chart is a historical single-vendor announcement, not a current quote or continuing trend. Laptop comparison uses disk-store14.36GB and physicalRAM8.30GB (decimal) from our project. Diskstore size is not process memory. Windows paging can also run oversized models.</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Cache hits reuse expert weights; misses trigger SSD reads. The predictor reads likely upcoming experts ahead of use. LiveBudget changes cache capacity between tokens. Prediction can miss and reads still cost time. ExpertRelay supplied these underlying mechanisms; LeanMoE integrates, corrects accounting and measures them. This is a conceptual flow, not a claim that all reads overlap computation or that arithmetic work is reduced.</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2.07x headline is the ratio of mean rates, not the mean of six ratios. Cached mean is 1.8422150014592356; mmap mean is 0.8905260956827761. Same laptop/store/fused kernel and OpenBLAS4,Numba12, rotated order, one inference process at a time. Windows cache not cleared. Decode excludes load/prefill. Not a universal speedup or task-correctness claim. Source artifact: https://github.com/No6Name8/LeanMoE/blob/main/results/config_compare_mmap_full_20261030-060448.json</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paired experiment, not one of the six speed comparisons. Cache124 to59 experts with final four-thread demo. Artifacts adaptive_demo_20261030-060626.json and adaptive_demo_20261030-060728.json. Strict checker verifies settings, real shrink and full IDs. Same output does not prove answer correct. A startup refusal of an oversized fixed cache does not prove a mid-run crash.</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matched2.5GB cut under12 BLAS threads:2.660 before and2.468 after correction. This is distinct from final4-thread2.390 demo and must not be mixed. OpenBLAS commits at import were missed by fixed200MiB baseline; fix takes larger of constant and measured import. LeanMoE also adds strict evidence comparisons, streaming, test portability, security and automatic sizing. ExpertRelay prior research attribution: https://doi.org/10.5281/zenodo.22980838</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actual local dashboard. Windows setup script, pytest and dashboard launcher exist in README. No full weights needed for synthetic-store engine tests or saved-artifact checker. These are not a new real-model benchmark. Full Qwen requires14.36GB external store. Do not treat a historical test count as a live result. One owner, streaming cancellation, scoped budget changes and run export are implemented.</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Correction to wording on slide: Windows paging2.198 divided by automatic1.998 is1.1001, so paging throughput was10.0% higher; LeanMoE throughput was9.1% lower. The slide will use the latter to avoid denominator ambiguity. Small cache1.197GB vs auto10.969GB; sameVM4vCPU, fusedint8,4threads, two16-token mainrepeats.6.58x is auto versus small-cache LeanMoE, not against paging. Raw outcomes: https://github.com/No6Name8/LeanMoE/blob/main/results/resource_profile_comparison.json</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local hardware access and inspectable research. Task success benchmark is unfinished, so no correctness orcost-per-success result is claimed. Qwen has observed math failures despite execution equivalence. Energy and fewer arithmetic operations not measured. Next: task-success/latency evaluation, broader devices/models and easier model-store setup. Real demo requires login: https://leanmoe-demo-1.eastus.cloudapp.azure.com/ . No video URL yet.</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aba3aed25443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b7cfa1366647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dc42371d3641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8deff8b8bd40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70dae85e984c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5ce17917cd43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FBDA66-70F4-4681-BE75-BB33D2B58E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4F4FBF-7ABB-4E5D-ADE3-4149235415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371322-9A47-41CF-84B4-162B2BC5B1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2088F4-AACA-4315-A889-7589B52F08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971A50-1B3A-4D9C-BD50-3566E57669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2B2F0B2-B5B3-46D9-8EF5-6DFDC5F08B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43C34E-817E-48B0-867E-CA8BE8A4B0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A58954-9BD4-4F0F-BF7B-19404BC024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93B8CF-B2CE-4D78-8AE1-74FFC2BA6D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B9B5F8-C7E4-41E7-B205-7E020502B3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10d6caaa9f4ce7" /><Relationship Type="http://schemas.openxmlformats.org/officeDocument/2006/relationships/slideLayout" Target="/ppt/slideLayouts/slideLayout1.xml" Id="R1e271b09d37b4de0" /><Relationship Type="http://schemas.openxmlformats.org/officeDocument/2006/relationships/slideLayout" Target="/ppt/slideLayouts/slideLayout2.xml" Id="Rdfa5c8a7a3524f6c" /><Relationship Type="http://schemas.openxmlformats.org/officeDocument/2006/relationships/slideLayout" Target="/ppt/slideLayouts/slideLayout3.xml" Id="R904b2b2670724feb" /><Relationship Type="http://schemas.openxmlformats.org/officeDocument/2006/relationships/slideLayout" Target="/ppt/slideLayouts/slideLayout4.xml" Id="R7ee02a5c2fbe41f1" /><Relationship Type="http://schemas.openxmlformats.org/officeDocument/2006/relationships/slideLayout" Target="/ppt/slideLayouts/slideLayout5.xml" Id="Rdc06212202304497" /><Relationship Type="http://schemas.openxmlformats.org/officeDocument/2006/relationships/slideLayout" Target="/ppt/slideLayouts/slideLayout6.xml" Id="R88515a90ba394f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271b09d37b4de0"/>
    <p:sldLayoutId xmlns:r="http://schemas.openxmlformats.org/officeDocument/2006/relationships" id="2147483650" r:id="Rdfa5c8a7a3524f6c"/>
    <p:sldLayoutId xmlns:r="http://schemas.openxmlformats.org/officeDocument/2006/relationships" id="2147483651" r:id="R904b2b2670724feb"/>
    <p:sldLayoutId xmlns:r="http://schemas.openxmlformats.org/officeDocument/2006/relationships" id="2147483652" r:id="R7ee02a5c2fbe41f1"/>
    <p:sldLayoutId xmlns:r="http://schemas.openxmlformats.org/officeDocument/2006/relationships" id="2147483653" r:id="Rdc06212202304497"/>
    <p:sldLayoutId xmlns:r="http://schemas.openxmlformats.org/officeDocument/2006/relationships" id="2147483654" r:id="R88515a90ba394f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f987ad562e4f4c" /><Relationship Type="http://schemas.openxmlformats.org/officeDocument/2006/relationships/notesSlide" Target="/ppt/notesSlides/notesSlide1.xml" Id="Re6c736cb47bd49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89541dfa2b4987" /><Relationship Type="http://schemas.openxmlformats.org/officeDocument/2006/relationships/chart" Target="/ppt/slides/charts/chart1.xml" Id="R56700c4e816c4033" /><Relationship Type="http://schemas.openxmlformats.org/officeDocument/2006/relationships/notesSlide" Target="/ppt/notesSlides/notesSlide2.xml" Id="R5129fbc1edd94c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141b7ca3eb4921" /><Relationship Type="http://schemas.openxmlformats.org/officeDocument/2006/relationships/notesSlide" Target="/ppt/notesSlides/notesSlide3.xml" Id="Rf72e79f6e6024c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f14a5b1cb64a28" /><Relationship Type="http://schemas.openxmlformats.org/officeDocument/2006/relationships/chart" Target="/ppt/slides/charts/chart2.xml" Id="R639a2515481544af" /><Relationship Type="http://schemas.openxmlformats.org/officeDocument/2006/relationships/notesSlide" Target="/ppt/notesSlides/notesSlide4.xml" Id="R7b0ab63e1c9c48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944e6da01f47f5" /><Relationship Type="http://schemas.openxmlformats.org/officeDocument/2006/relationships/chart" Target="/ppt/slides/charts/chart3.xml" Id="Rd319676031bc4058" /><Relationship Type="http://schemas.openxmlformats.org/officeDocument/2006/relationships/notesSlide" Target="/ppt/notesSlides/notesSlide5.xml" Id="R88f0bbd4480842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a778c79dfe4ecc" /><Relationship Type="http://schemas.openxmlformats.org/officeDocument/2006/relationships/notesSlide" Target="/ppt/notesSlides/notesSlide6.xml" Id="R8ee7072f991644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5baa62fd634006" /><Relationship Type="http://schemas.openxmlformats.org/officeDocument/2006/relationships/image" Target="/ppt/media/image.png" Id="Rc6ed6820843249df" /><Relationship Type="http://schemas.openxmlformats.org/officeDocument/2006/relationships/notesSlide" Target="/ppt/notesSlides/notesSlide7.xml" Id="R2c4f36f7ca7945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dd4ba1046f4cca" /><Relationship Type="http://schemas.openxmlformats.org/officeDocument/2006/relationships/chart" Target="/ppt/slides/charts/chart4.xml" Id="Rf024689c0dce44f1" /><Relationship Type="http://schemas.openxmlformats.org/officeDocument/2006/relationships/notesSlide" Target="/ppt/notesSlides/notesSlide8.xml" Id="Rea70d6f8a74f4b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c4cd738694490e" /><Relationship Type="http://schemas.openxmlformats.org/officeDocument/2006/relationships/notesSlide" Target="/ppt/notesSlides/notesSlide9.xml" Id="Ra928f08f90f34b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Price index</c:v>
          </c:tx>
          <c:spPr>
            <a:solidFill xmlns:a="http://schemas.openxmlformats.org/drawingml/2006/main">
              <a:srgbClr val="008B83"/>
            </a:solidFill>
          </c:spPr>
          <c:invertIfNegative val="0"/>
          <c:cat>
            <c:strRef>
              <c:f>'Chart Data'!$A$2:$A$3</c:f>
              <c:strCache>
                <c:ptCount val="2"/>
                <c:pt idx="0">
                  <c:v>Before</c:v>
                </c:pt>
                <c:pt idx="1">
                  <c:v>After</c:v>
                </c:pt>
              </c:strCache>
            </c:strRef>
          </c:cat>
          <c:val>
            <c:numRef>
              <c:f>'Chart Data'!$B$2:$B$3</c:f>
              <c:numCache>
                <c:formatCode>General</c:formatCode>
                <c:ptCount val="2"/>
                <c:pt idx="0">
                  <c:v>100</c:v>
                </c:pt>
                <c:pt idx="1">
                  <c:v>150</c:v>
                </c:pt>
              </c:numCache>
            </c:numRef>
          </c:val>
        </c:ser>
        <c:dLbls>
          <c:txPr>
            <a:bodyPr xmlns:a="http://schemas.openxmlformats.org/drawingml/2006/main" anchorCtr="1"/>
            <a:lstStyle xmlns:a="http://schemas.openxmlformats.org/drawingml/2006/main"/>
            <a:p xmlns:a="http://schemas.openxmlformats.org/drawingml/2006/main">
              <a:pPr>
                <a:defRPr sz="1650" b="1">
                  <a:latin typeface="Arial"/>
                  <a:ea typeface="Arial"/>
                  <a:cs typeface="Arial"/>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5DBD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Windows paging</c:v>
          </c:tx>
          <c:spPr>
            <a:solidFill xmlns:a="http://schemas.openxmlformats.org/drawingml/2006/main">
              <a:srgbClr val="9BA8AC"/>
            </a:solidFill>
          </c:spPr>
          <c:invertIfNegative val="0"/>
          <c:cat>
            <c:strRef>
              <c:f>'Chart Data'!$A$2:$A$4</c:f>
              <c:strCache>
                <c:ptCount val="3"/>
                <c:pt idx="0">
                  <c:v>Fact</c:v>
                </c:pt>
                <c:pt idx="1">
                  <c:v>Code</c:v>
                </c:pt>
                <c:pt idx="2">
                  <c:v>Explain</c:v>
                </c:pt>
              </c:strCache>
            </c:strRef>
          </c:cat>
          <c:val>
            <c:numRef>
              <c:f>'Chart Data'!$B$2:$B$4</c:f>
              <c:numCache>
                <c:formatCode>0.0</c:formatCode>
                <c:ptCount val="3"/>
                <c:pt idx="0">
                  <c:v>1.280586</c:v>
                </c:pt>
                <c:pt idx="1">
                  <c:v>0.79896</c:v>
                </c:pt>
                <c:pt idx="2">
                  <c:v>0.592032</c:v>
                </c:pt>
              </c:numCache>
            </c:numRef>
          </c:val>
        </c:ser>
        <c:ser>
          <c:idx val="1"/>
          <c:order val="1"/>
          <c:tx>
            <c:v>LeanMoE</c:v>
          </c:tx>
          <c:spPr>
            <a:solidFill xmlns:a="http://schemas.openxmlformats.org/drawingml/2006/main">
              <a:srgbClr val="008B83"/>
            </a:solidFill>
          </c:spPr>
          <c:invertIfNegative val="0"/>
          <c:cat>
            <c:strRef>
              <c:f>'Chart Data'!$C$2:$C$4</c:f>
              <c:strCache>
                <c:ptCount val="3"/>
                <c:pt idx="0">
                  <c:v>Fact</c:v>
                </c:pt>
                <c:pt idx="1">
                  <c:v>Code</c:v>
                </c:pt>
                <c:pt idx="2">
                  <c:v>Explain</c:v>
                </c:pt>
              </c:strCache>
            </c:strRef>
          </c:cat>
          <c:val>
            <c:numRef>
              <c:f>'Chart Data'!$D$2:$D$4</c:f>
              <c:numCache>
                <c:formatCode>0.0</c:formatCode>
                <c:ptCount val="3"/>
                <c:pt idx="0">
                  <c:v>1.67985</c:v>
                </c:pt>
                <c:pt idx="1">
                  <c:v>1.8261</c:v>
                </c:pt>
                <c:pt idx="2">
                  <c:v>2.020695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5DBD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0.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Cached experts</c:v>
          </c:tx>
          <c:spPr>
            <a:solidFill xmlns:a="http://schemas.openxmlformats.org/drawingml/2006/main">
              <a:srgbClr val="008B83"/>
            </a:solidFill>
          </c:spPr>
          <c:invertIfNegative val="0"/>
          <c:cat>
            <c:strRef>
              <c:f>'Chart Data'!$A$2:$A$3</c:f>
              <c:strCache>
                <c:ptCount val="2"/>
                <c:pt idx="0">
                  <c:v>Before cut</c:v>
                </c:pt>
                <c:pt idx="1">
                  <c:v>After cut</c:v>
                </c:pt>
              </c:strCache>
            </c:strRef>
          </c:cat>
          <c:val>
            <c:numRef>
              <c:f>'Chart Data'!$B$2:$B$3</c:f>
              <c:numCache>
                <c:formatCode>General</c:formatCode>
                <c:ptCount val="2"/>
                <c:pt idx="0">
                  <c:v>124</c:v>
                </c:pt>
                <c:pt idx="1">
                  <c:v>59</c:v>
                </c:pt>
              </c:numCache>
            </c:numRef>
          </c:val>
        </c:ser>
        <c:dLbls>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5DBD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Decode tokens/s</c:v>
          </c:tx>
          <c:spPr>
            <a:solidFill xmlns:a="http://schemas.openxmlformats.org/drawingml/2006/main">
              <a:srgbClr val="008B83"/>
            </a:solidFill>
          </c:spPr>
          <c:invertIfNegative val="0"/>
          <c:cat>
            <c:strRef>
              <c:f>'Chart Data'!$A$2:$A$4</c:f>
              <c:strCache>
                <c:ptCount val="3"/>
                <c:pt idx="0">
                  <c:v>Small cache</c:v>
                </c:pt>
                <c:pt idx="1">
                  <c:v>Automatic cache</c:v>
                </c:pt>
                <c:pt idx="2">
                  <c:v>Windows paging</c:v>
                </c:pt>
              </c:strCache>
            </c:strRef>
          </c:cat>
          <c:val>
            <c:numRef>
              <c:f>'Chart Data'!$B$2:$B$4</c:f>
              <c:numCache>
                <c:formatCode>General</c:formatCode>
                <c:ptCount val="3"/>
                <c:pt idx="0">
                  <c:v>0.304</c:v>
                </c:pt>
                <c:pt idx="1">
                  <c:v>1.998</c:v>
                </c:pt>
                <c:pt idx="2">
                  <c:v>2.198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5DBD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3152F"/>
        </a:solidFill>
      </p:bgPr>
    </p:bg>
    <p:spTree>
      <p:nvGrpSpPr>
        <p:cNvPr id="1" name=""/>
        <p:cNvGrpSpPr/>
        <p:nvPr/>
      </p:nvGrpSpPr>
      <p:grpSpPr>
        <a:xfrm xmlns:a="http://schemas.openxmlformats.org/drawingml/2006/main"/>
      </p:grpSpPr>
      <p:sp>
        <p:nvSpPr>
          <p:cNvPr id="7" name="LeanMoE">
            <a:extLst xmlns:a="http://schemas.openxmlformats.org/drawingml/2006/main">
              <a:ext uri="{FF2B5EF4-FFF2-40B4-BE49-F238E27FC236}">
                <a16:creationId xmlns:a16="http://schemas.microsoft.com/office/drawing/2014/main" id="{83F16622-0FD9-4035-B930-79B1FCAD186C}"/>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LeanMoE</a:t>
            </a:r>
          </a:p>
        </p:txBody>
      </p:sp>
      <p:sp>
        <p:nvSpPr>
          <p:cNvPr id="2" name="01">
            <a:extLst xmlns:a="http://schemas.openxmlformats.org/drawingml/2006/main">
              <a:ext uri="{FF2B5EF4-FFF2-40B4-BE49-F238E27FC236}">
                <a16:creationId xmlns:a16="http://schemas.microsoft.com/office/drawing/2014/main" id="{93A1BF8A-075F-4825-A4B8-C53A49D49002}"/>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01</a:t>
            </a:r>
          </a:p>
        </p:txBody>
      </p:sp>
      <p:sp>
        <p:nvSpPr>
          <p:cNvPr id="3" name="LeanMoE">
            <a:extLst xmlns:a="http://schemas.openxmlformats.org/drawingml/2006/main">
              <a:ext uri="{FF2B5EF4-FFF2-40B4-BE49-F238E27FC236}">
                <a16:creationId xmlns:a16="http://schemas.microsoft.com/office/drawing/2014/main" id="{EBF584E2-6C19-4A5E-A3C0-03164BB9FFCF}"/>
              </a:ext>
            </a:extLst>
          </p:cNvPr>
          <p:cNvSpPr>
            <a:spLocks xmlns:a="http://schemas.openxmlformats.org/drawingml/2006/main" noGrp="1"/>
          </p:cNvSpPr>
          <p:nvPr/>
        </p:nvSpPr>
        <p:spPr>
          <a:xfrm xmlns:a="http://schemas.openxmlformats.org/drawingml/2006/main">
            <a:off x="685800" y="1143000"/>
            <a:ext cx="857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725" b="1">
                <a:solidFill>
                  <a:srgbClr val="FFFFFF"/>
                </a:solidFill>
                <a:latin typeface="Arial"/>
                <a:ea typeface="Arial"/>
                <a:cs typeface="Arial"/>
              </a:defRPr>
            </a:defPPr>
            <a:lvl1pPr>
              <a:defRPr sz="7725" b="1">
                <a:solidFill>
                  <a:srgbClr val="FFFFFF"/>
                </a:solidFill>
                <a:latin typeface="Arial"/>
                <a:ea typeface="Arial"/>
                <a:cs typeface="Arial"/>
              </a:defRPr>
            </a:lvl1pPr>
            <a:lvl2pPr>
              <a:defRPr sz="7725" b="1">
                <a:solidFill>
                  <a:srgbClr val="FFFFFF"/>
                </a:solidFill>
                <a:latin typeface="Arial"/>
                <a:ea typeface="Arial"/>
                <a:cs typeface="Arial"/>
              </a:defRPr>
            </a:lvl2pPr>
            <a:lvl3pPr>
              <a:defRPr sz="7725" b="1">
                <a:solidFill>
                  <a:srgbClr val="FFFFFF"/>
                </a:solidFill>
                <a:latin typeface="Arial"/>
                <a:ea typeface="Arial"/>
                <a:cs typeface="Arial"/>
              </a:defRPr>
            </a:lvl3pPr>
            <a:lvl4pPr>
              <a:defRPr sz="7725" b="1">
                <a:solidFill>
                  <a:srgbClr val="FFFFFF"/>
                </a:solidFill>
                <a:latin typeface="Arial"/>
                <a:ea typeface="Arial"/>
                <a:cs typeface="Arial"/>
              </a:defRPr>
            </a:lvl4pPr>
            <a:lvl5pPr>
              <a:defRPr sz="7725" b="1">
                <a:solidFill>
                  <a:srgbClr val="FFFFFF"/>
                </a:solidFill>
                <a:latin typeface="Arial"/>
                <a:ea typeface="Arial"/>
                <a:cs typeface="Arial"/>
              </a:defRPr>
            </a:lvl5pPr>
            <a:lvl6pPr>
              <a:defRPr sz="7725" b="1">
                <a:solidFill>
                  <a:srgbClr val="FFFFFF"/>
                </a:solidFill>
                <a:latin typeface="Arial"/>
                <a:ea typeface="Arial"/>
                <a:cs typeface="Arial"/>
              </a:defRPr>
            </a:lvl6pPr>
            <a:lvl7pPr>
              <a:defRPr sz="7725" b="1">
                <a:solidFill>
                  <a:srgbClr val="FFFFFF"/>
                </a:solidFill>
                <a:latin typeface="Arial"/>
                <a:ea typeface="Arial"/>
                <a:cs typeface="Arial"/>
              </a:defRPr>
            </a:lvl7pPr>
            <a:lvl8pPr>
              <a:defRPr sz="7725" b="1">
                <a:solidFill>
                  <a:srgbClr val="FFFFFF"/>
                </a:solidFill>
                <a:latin typeface="Arial"/>
                <a:ea typeface="Arial"/>
                <a:cs typeface="Arial"/>
              </a:defRPr>
            </a:lvl8pPr>
            <a:lvl9pPr>
              <a:defRPr sz="7725" b="1">
                <a:solidFill>
                  <a:srgbClr val="FFFFFF"/>
                </a:solidFill>
                <a:latin typeface="Arial"/>
                <a:ea typeface="Arial"/>
                <a:cs typeface="Arial"/>
              </a:defRPr>
            </a:lvl9pPr>
          </a:lstStyle>
          <a:p xmlns:a="http://schemas.openxmlformats.org/drawingml/2006/main">
            <a:pPr>
              <a:defRPr sz="7725" b="1">
                <a:solidFill>
                  <a:srgbClr val="FFFFFF"/>
                </a:solidFill>
                <a:latin typeface="Arial"/>
                <a:ea typeface="Arial"/>
                <a:cs typeface="Arial"/>
              </a:defRPr>
            </a:pPr>
            <a:r>
              <a:rPr sz="7725" b="1">
                <a:solidFill>
                  <a:srgbClr val="FFFFFF"/>
                </a:solidFill>
                <a:latin typeface="Arial"/>
                <a:ea typeface="Arial"/>
                <a:cs typeface="Arial"/>
              </a:rPr>
              <a:t>LeanMoE</a:t>
            </a:r>
          </a:p>
        </p:txBody>
      </p:sp>
      <p:sp>
        <p:nvSpPr>
          <p:cNvPr id="4" name="Large AI on a smaller laptop">
            <a:extLst xmlns:a="http://schemas.openxmlformats.org/drawingml/2006/main">
              <a:ext uri="{FF2B5EF4-FFF2-40B4-BE49-F238E27FC236}">
                <a16:creationId xmlns:a16="http://schemas.microsoft.com/office/drawing/2014/main" id="{D11D62B2-2C1A-43FF-9C8F-2B0148812E8B}"/>
              </a:ext>
            </a:extLst>
          </p:cNvPr>
          <p:cNvSpPr>
            <a:spLocks xmlns:a="http://schemas.openxmlformats.org/drawingml/2006/main" noGrp="1"/>
          </p:cNvSpPr>
          <p:nvPr/>
        </p:nvSpPr>
        <p:spPr>
          <a:xfrm xmlns:a="http://schemas.openxmlformats.org/drawingml/2006/main">
            <a:off x="7429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32DBC7"/>
                </a:solidFill>
                <a:latin typeface="Arial"/>
                <a:ea typeface="Arial"/>
                <a:cs typeface="Arial"/>
              </a:defRPr>
            </a:defPPr>
            <a:lvl1pPr>
              <a:defRPr sz="3450" b="1">
                <a:solidFill>
                  <a:srgbClr val="32DBC7"/>
                </a:solidFill>
                <a:latin typeface="Arial"/>
                <a:ea typeface="Arial"/>
                <a:cs typeface="Arial"/>
              </a:defRPr>
            </a:lvl1pPr>
            <a:lvl2pPr>
              <a:defRPr sz="3450" b="1">
                <a:solidFill>
                  <a:srgbClr val="32DBC7"/>
                </a:solidFill>
                <a:latin typeface="Arial"/>
                <a:ea typeface="Arial"/>
                <a:cs typeface="Arial"/>
              </a:defRPr>
            </a:lvl2pPr>
            <a:lvl3pPr>
              <a:defRPr sz="3450" b="1">
                <a:solidFill>
                  <a:srgbClr val="32DBC7"/>
                </a:solidFill>
                <a:latin typeface="Arial"/>
                <a:ea typeface="Arial"/>
                <a:cs typeface="Arial"/>
              </a:defRPr>
            </a:lvl3pPr>
            <a:lvl4pPr>
              <a:defRPr sz="3450" b="1">
                <a:solidFill>
                  <a:srgbClr val="32DBC7"/>
                </a:solidFill>
                <a:latin typeface="Arial"/>
                <a:ea typeface="Arial"/>
                <a:cs typeface="Arial"/>
              </a:defRPr>
            </a:lvl4pPr>
            <a:lvl5pPr>
              <a:defRPr sz="3450" b="1">
                <a:solidFill>
                  <a:srgbClr val="32DBC7"/>
                </a:solidFill>
                <a:latin typeface="Arial"/>
                <a:ea typeface="Arial"/>
                <a:cs typeface="Arial"/>
              </a:defRPr>
            </a:lvl5pPr>
            <a:lvl6pPr>
              <a:defRPr sz="3450" b="1">
                <a:solidFill>
                  <a:srgbClr val="32DBC7"/>
                </a:solidFill>
                <a:latin typeface="Arial"/>
                <a:ea typeface="Arial"/>
                <a:cs typeface="Arial"/>
              </a:defRPr>
            </a:lvl6pPr>
            <a:lvl7pPr>
              <a:defRPr sz="3450" b="1">
                <a:solidFill>
                  <a:srgbClr val="32DBC7"/>
                </a:solidFill>
                <a:latin typeface="Arial"/>
                <a:ea typeface="Arial"/>
                <a:cs typeface="Arial"/>
              </a:defRPr>
            </a:lvl7pPr>
            <a:lvl8pPr>
              <a:defRPr sz="3450" b="1">
                <a:solidFill>
                  <a:srgbClr val="32DBC7"/>
                </a:solidFill>
                <a:latin typeface="Arial"/>
                <a:ea typeface="Arial"/>
                <a:cs typeface="Arial"/>
              </a:defRPr>
            </a:lvl8pPr>
            <a:lvl9pPr>
              <a:defRPr sz="3450" b="1">
                <a:solidFill>
                  <a:srgbClr val="32DBC7"/>
                </a:solidFill>
                <a:latin typeface="Arial"/>
                <a:ea typeface="Arial"/>
                <a:cs typeface="Arial"/>
              </a:defRPr>
            </a:lvl9pPr>
          </a:lstStyle>
          <a:p xmlns:a="http://schemas.openxmlformats.org/drawingml/2006/main">
            <a:pPr>
              <a:defRPr sz="3450" b="1">
                <a:solidFill>
                  <a:srgbClr val="32DBC7"/>
                </a:solidFill>
                <a:latin typeface="Arial"/>
                <a:ea typeface="Arial"/>
                <a:cs typeface="Arial"/>
              </a:defRPr>
            </a:pPr>
            <a:r>
              <a:rPr sz="3450" b="1">
                <a:solidFill>
                  <a:srgbClr val="32DBC7"/>
                </a:solidFill>
                <a:latin typeface="Arial"/>
                <a:ea typeface="Arial"/>
                <a:cs typeface="Arial"/>
              </a:rPr>
              <a:t>Large AI on a smaller laptop</a:t>
            </a:r>
          </a:p>
        </p:txBody>
      </p:sp>
      <p:sp>
        <p:nvSpPr>
          <p:cNvPr id="5" name="Adaptive expert memory for local MoE inference">
            <a:extLst xmlns:a="http://schemas.openxmlformats.org/drawingml/2006/main">
              <a:ext uri="{FF2B5EF4-FFF2-40B4-BE49-F238E27FC236}">
                <a16:creationId xmlns:a16="http://schemas.microsoft.com/office/drawing/2014/main" id="{BAE4279C-DE83-49A5-9197-E35F5773B98C}"/>
              </a:ext>
            </a:extLst>
          </p:cNvPr>
          <p:cNvSpPr>
            <a:spLocks xmlns:a="http://schemas.openxmlformats.org/drawingml/2006/main" noGrp="1"/>
          </p:cNvSpPr>
          <p:nvPr/>
        </p:nvSpPr>
        <p:spPr>
          <a:xfrm xmlns:a="http://schemas.openxmlformats.org/drawingml/2006/main">
            <a:off x="742950" y="3762375"/>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ED0D5"/>
                </a:solidFill>
                <a:latin typeface="Arial"/>
                <a:ea typeface="Arial"/>
                <a:cs typeface="Arial"/>
              </a:defRPr>
            </a:defPPr>
            <a:lvl1pPr>
              <a:defRPr sz="2025" b="0">
                <a:solidFill>
                  <a:srgbClr val="BED0D5"/>
                </a:solidFill>
                <a:latin typeface="Arial"/>
                <a:ea typeface="Arial"/>
                <a:cs typeface="Arial"/>
              </a:defRPr>
            </a:lvl1pPr>
            <a:lvl2pPr>
              <a:defRPr sz="2025" b="0">
                <a:solidFill>
                  <a:srgbClr val="BED0D5"/>
                </a:solidFill>
                <a:latin typeface="Arial"/>
                <a:ea typeface="Arial"/>
                <a:cs typeface="Arial"/>
              </a:defRPr>
            </a:lvl2pPr>
            <a:lvl3pPr>
              <a:defRPr sz="2025" b="0">
                <a:solidFill>
                  <a:srgbClr val="BED0D5"/>
                </a:solidFill>
                <a:latin typeface="Arial"/>
                <a:ea typeface="Arial"/>
                <a:cs typeface="Arial"/>
              </a:defRPr>
            </a:lvl3pPr>
            <a:lvl4pPr>
              <a:defRPr sz="2025" b="0">
                <a:solidFill>
                  <a:srgbClr val="BED0D5"/>
                </a:solidFill>
                <a:latin typeface="Arial"/>
                <a:ea typeface="Arial"/>
                <a:cs typeface="Arial"/>
              </a:defRPr>
            </a:lvl4pPr>
            <a:lvl5pPr>
              <a:defRPr sz="2025" b="0">
                <a:solidFill>
                  <a:srgbClr val="BED0D5"/>
                </a:solidFill>
                <a:latin typeface="Arial"/>
                <a:ea typeface="Arial"/>
                <a:cs typeface="Arial"/>
              </a:defRPr>
            </a:lvl5pPr>
            <a:lvl6pPr>
              <a:defRPr sz="2025" b="0">
                <a:solidFill>
                  <a:srgbClr val="BED0D5"/>
                </a:solidFill>
                <a:latin typeface="Arial"/>
                <a:ea typeface="Arial"/>
                <a:cs typeface="Arial"/>
              </a:defRPr>
            </a:lvl6pPr>
            <a:lvl7pPr>
              <a:defRPr sz="2025" b="0">
                <a:solidFill>
                  <a:srgbClr val="BED0D5"/>
                </a:solidFill>
                <a:latin typeface="Arial"/>
                <a:ea typeface="Arial"/>
                <a:cs typeface="Arial"/>
              </a:defRPr>
            </a:lvl7pPr>
            <a:lvl8pPr>
              <a:defRPr sz="2025" b="0">
                <a:solidFill>
                  <a:srgbClr val="BED0D5"/>
                </a:solidFill>
                <a:latin typeface="Arial"/>
                <a:ea typeface="Arial"/>
                <a:cs typeface="Arial"/>
              </a:defRPr>
            </a:lvl8pPr>
            <a:lvl9pPr>
              <a:defRPr sz="2025" b="0">
                <a:solidFill>
                  <a:srgbClr val="BED0D5"/>
                </a:solidFill>
                <a:latin typeface="Arial"/>
                <a:ea typeface="Arial"/>
                <a:cs typeface="Arial"/>
              </a:defRPr>
            </a:lvl9pPr>
          </a:lstStyle>
          <a:p xmlns:a="http://schemas.openxmlformats.org/drawingml/2006/main">
            <a:pPr>
              <a:defRPr sz="2025" b="0">
                <a:solidFill>
                  <a:srgbClr val="BED0D5"/>
                </a:solidFill>
                <a:latin typeface="Arial"/>
                <a:ea typeface="Arial"/>
                <a:cs typeface="Arial"/>
              </a:defRPr>
            </a:pPr>
            <a:r>
              <a:rPr sz="2025" b="0">
                <a:solidFill>
                  <a:srgbClr val="BED0D5"/>
                </a:solidFill>
                <a:latin typeface="Arial"/>
                <a:ea typeface="Arial"/>
                <a:cs typeface="Arial"/>
              </a:rPr>
              <a:t>Adaptive expert memory for local MoE inference</a:t>
            </a:r>
          </a:p>
        </p:txBody>
      </p:sp>
      <p:sp>
        <p:nvSpPr>
          <p:cNvPr id="6" name="Abdullah Ali Alanazi">
            <a:extLst xmlns:a="http://schemas.openxmlformats.org/drawingml/2006/main">
              <a:ext uri="{FF2B5EF4-FFF2-40B4-BE49-F238E27FC236}">
                <a16:creationId xmlns:a16="http://schemas.microsoft.com/office/drawing/2014/main" id="{C76BACE2-8DE4-4A15-BF0A-292421ED94B8}"/>
              </a:ext>
            </a:extLst>
          </p:cNvPr>
          <p:cNvSpPr>
            <a:spLocks xmlns:a="http://schemas.openxmlformats.org/drawingml/2006/main" noGrp="1"/>
          </p:cNvSpPr>
          <p:nvPr/>
        </p:nvSpPr>
        <p:spPr>
          <a:xfrm xmlns:a="http://schemas.openxmlformats.org/drawingml/2006/main">
            <a:off x="742950" y="52197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Abdullah Ali Alanazi</a:t>
            </a:r>
          </a:p>
        </p:txBody>
      </p:sp>
    </p:spTree>
    <p:extLst>
      <p:ext uri="{BB962C8B-B14F-4D97-AF65-F5344CB8AC3E}">
        <p14:creationId xmlns:p14="http://schemas.microsoft.com/office/powerpoint/2010/main" val="1272720182"/>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More memory comes at a cost">
            <a:extLst xmlns:a="http://schemas.openxmlformats.org/drawingml/2006/main">
              <a:ext uri="{FF2B5EF4-FFF2-40B4-BE49-F238E27FC236}">
                <a16:creationId xmlns:a16="http://schemas.microsoft.com/office/drawing/2014/main" id="{A53011A1-52D9-44D1-B82F-7F98FBA8C7DD}"/>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52D39"/>
                </a:solidFill>
                <a:latin typeface="Arial"/>
                <a:ea typeface="Arial"/>
                <a:cs typeface="Arial"/>
              </a:defRPr>
            </a:defPPr>
            <a:lvl1pPr>
              <a:defRPr sz="3375" b="1">
                <a:solidFill>
                  <a:srgbClr val="152D39"/>
                </a:solidFill>
                <a:latin typeface="Arial"/>
                <a:ea typeface="Arial"/>
                <a:cs typeface="Arial"/>
              </a:defRPr>
            </a:lvl1pPr>
            <a:lvl2pPr>
              <a:defRPr sz="3375" b="1">
                <a:solidFill>
                  <a:srgbClr val="152D39"/>
                </a:solidFill>
                <a:latin typeface="Arial"/>
                <a:ea typeface="Arial"/>
                <a:cs typeface="Arial"/>
              </a:defRPr>
            </a:lvl2pPr>
            <a:lvl3pPr>
              <a:defRPr sz="3375" b="1">
                <a:solidFill>
                  <a:srgbClr val="152D39"/>
                </a:solidFill>
                <a:latin typeface="Arial"/>
                <a:ea typeface="Arial"/>
                <a:cs typeface="Arial"/>
              </a:defRPr>
            </a:lvl3pPr>
            <a:lvl4pPr>
              <a:defRPr sz="3375" b="1">
                <a:solidFill>
                  <a:srgbClr val="152D39"/>
                </a:solidFill>
                <a:latin typeface="Arial"/>
                <a:ea typeface="Arial"/>
                <a:cs typeface="Arial"/>
              </a:defRPr>
            </a:lvl4pPr>
            <a:lvl5pPr>
              <a:defRPr sz="3375" b="1">
                <a:solidFill>
                  <a:srgbClr val="152D39"/>
                </a:solidFill>
                <a:latin typeface="Arial"/>
                <a:ea typeface="Arial"/>
                <a:cs typeface="Arial"/>
              </a:defRPr>
            </a:lvl5pPr>
            <a:lvl6pPr>
              <a:defRPr sz="3375" b="1">
                <a:solidFill>
                  <a:srgbClr val="152D39"/>
                </a:solidFill>
                <a:latin typeface="Arial"/>
                <a:ea typeface="Arial"/>
                <a:cs typeface="Arial"/>
              </a:defRPr>
            </a:lvl6pPr>
            <a:lvl7pPr>
              <a:defRPr sz="3375" b="1">
                <a:solidFill>
                  <a:srgbClr val="152D39"/>
                </a:solidFill>
                <a:latin typeface="Arial"/>
                <a:ea typeface="Arial"/>
                <a:cs typeface="Arial"/>
              </a:defRPr>
            </a:lvl7pPr>
            <a:lvl8pPr>
              <a:defRPr sz="3375" b="1">
                <a:solidFill>
                  <a:srgbClr val="152D39"/>
                </a:solidFill>
                <a:latin typeface="Arial"/>
                <a:ea typeface="Arial"/>
                <a:cs typeface="Arial"/>
              </a:defRPr>
            </a:lvl8pPr>
            <a:lvl9pPr>
              <a:defRPr sz="3375" b="1">
                <a:solidFill>
                  <a:srgbClr val="152D39"/>
                </a:solidFill>
                <a:latin typeface="Arial"/>
                <a:ea typeface="Arial"/>
                <a:cs typeface="Arial"/>
              </a:defRPr>
            </a:lvl9pPr>
          </a:lstStyle>
          <a:p xmlns:a="http://schemas.openxmlformats.org/drawingml/2006/main">
            <a:pPr>
              <a:defRPr sz="3375" b="1">
                <a:solidFill>
                  <a:srgbClr val="152D39"/>
                </a:solidFill>
                <a:latin typeface="Arial"/>
                <a:ea typeface="Arial"/>
                <a:cs typeface="Arial"/>
              </a:defRPr>
            </a:pPr>
            <a:r>
              <a:rPr sz="3375" b="1">
                <a:solidFill>
                  <a:srgbClr val="152D39"/>
                </a:solidFill>
                <a:latin typeface="Arial"/>
                <a:ea typeface="Arial"/>
                <a:cs typeface="Arial"/>
              </a:rPr>
              <a:t>More memory comes at a cost</a:t>
            </a:r>
          </a:p>
        </p:txBody>
      </p:sp>
      <p:sp>
        <p:nvSpPr>
          <p:cNvPr id="2" name="LeanMoE">
            <a:extLst xmlns:a="http://schemas.openxmlformats.org/drawingml/2006/main">
              <a:ext uri="{FF2B5EF4-FFF2-40B4-BE49-F238E27FC236}">
                <a16:creationId xmlns:a16="http://schemas.microsoft.com/office/drawing/2014/main" id="{3AF2FFC1-00D1-4D12-9953-BBF5BC18F777}"/>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LeanMoE</a:t>
            </a:r>
          </a:p>
        </p:txBody>
      </p:sp>
      <p:sp>
        <p:nvSpPr>
          <p:cNvPr id="3" name="02">
            <a:extLst xmlns:a="http://schemas.openxmlformats.org/drawingml/2006/main">
              <a:ext uri="{FF2B5EF4-FFF2-40B4-BE49-F238E27FC236}">
                <a16:creationId xmlns:a16="http://schemas.microsoft.com/office/drawing/2014/main" id="{9F25D708-8D1F-4746-87B5-7DC08E5D1281}"/>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02</a:t>
            </a:r>
          </a:p>
        </p:txBody>
      </p:sp>
      <p:sp>
        <p:nvSpPr>
          <p:cNvPr id="4" name="Our starting point">
            <a:extLst xmlns:a="http://schemas.openxmlformats.org/drawingml/2006/main">
              <a:ext uri="{FF2B5EF4-FFF2-40B4-BE49-F238E27FC236}">
                <a16:creationId xmlns:a16="http://schemas.microsoft.com/office/drawing/2014/main" id="{AE5D8C6E-C7BA-4104-81F9-522EA1380D0B}"/>
              </a:ext>
            </a:extLst>
          </p:cNvPr>
          <p:cNvSpPr>
            <a:spLocks xmlns:a="http://schemas.openxmlformats.org/drawingml/2006/main" noGrp="1"/>
          </p:cNvSpPr>
          <p:nvPr/>
        </p:nvSpPr>
        <p:spPr>
          <a:xfrm xmlns:a="http://schemas.openxmlformats.org/drawingml/2006/main">
            <a:off x="742950" y="16573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8B83"/>
                </a:solidFill>
                <a:latin typeface="Arial"/>
                <a:ea typeface="Arial"/>
                <a:cs typeface="Arial"/>
              </a:defRPr>
            </a:defPPr>
            <a:lvl1pPr>
              <a:defRPr sz="1875" b="1">
                <a:solidFill>
                  <a:srgbClr val="008B83"/>
                </a:solidFill>
                <a:latin typeface="Arial"/>
                <a:ea typeface="Arial"/>
                <a:cs typeface="Arial"/>
              </a:defRPr>
            </a:lvl1pPr>
            <a:lvl2pPr>
              <a:defRPr sz="1875" b="1">
                <a:solidFill>
                  <a:srgbClr val="008B83"/>
                </a:solidFill>
                <a:latin typeface="Arial"/>
                <a:ea typeface="Arial"/>
                <a:cs typeface="Arial"/>
              </a:defRPr>
            </a:lvl2pPr>
            <a:lvl3pPr>
              <a:defRPr sz="1875" b="1">
                <a:solidFill>
                  <a:srgbClr val="008B83"/>
                </a:solidFill>
                <a:latin typeface="Arial"/>
                <a:ea typeface="Arial"/>
                <a:cs typeface="Arial"/>
              </a:defRPr>
            </a:lvl3pPr>
            <a:lvl4pPr>
              <a:defRPr sz="1875" b="1">
                <a:solidFill>
                  <a:srgbClr val="008B83"/>
                </a:solidFill>
                <a:latin typeface="Arial"/>
                <a:ea typeface="Arial"/>
                <a:cs typeface="Arial"/>
              </a:defRPr>
            </a:lvl4pPr>
            <a:lvl5pPr>
              <a:defRPr sz="1875" b="1">
                <a:solidFill>
                  <a:srgbClr val="008B83"/>
                </a:solidFill>
                <a:latin typeface="Arial"/>
                <a:ea typeface="Arial"/>
                <a:cs typeface="Arial"/>
              </a:defRPr>
            </a:lvl5pPr>
            <a:lvl6pPr>
              <a:defRPr sz="1875" b="1">
                <a:solidFill>
                  <a:srgbClr val="008B83"/>
                </a:solidFill>
                <a:latin typeface="Arial"/>
                <a:ea typeface="Arial"/>
                <a:cs typeface="Arial"/>
              </a:defRPr>
            </a:lvl6pPr>
            <a:lvl7pPr>
              <a:defRPr sz="1875" b="1">
                <a:solidFill>
                  <a:srgbClr val="008B83"/>
                </a:solidFill>
                <a:latin typeface="Arial"/>
                <a:ea typeface="Arial"/>
                <a:cs typeface="Arial"/>
              </a:defRPr>
            </a:lvl7pPr>
            <a:lvl8pPr>
              <a:defRPr sz="1875" b="1">
                <a:solidFill>
                  <a:srgbClr val="008B83"/>
                </a:solidFill>
                <a:latin typeface="Arial"/>
                <a:ea typeface="Arial"/>
                <a:cs typeface="Arial"/>
              </a:defRPr>
            </a:lvl8pPr>
            <a:lvl9pPr>
              <a:defRPr sz="1875" b="1">
                <a:solidFill>
                  <a:srgbClr val="008B83"/>
                </a:solidFill>
                <a:latin typeface="Arial"/>
                <a:ea typeface="Arial"/>
                <a:cs typeface="Arial"/>
              </a:defRPr>
            </a:lvl9pPr>
          </a:lstStyle>
          <a:p xmlns:a="http://schemas.openxmlformats.org/drawingml/2006/main">
            <a:pPr>
              <a:defRPr sz="1875" b="1">
                <a:solidFill>
                  <a:srgbClr val="008B83"/>
                </a:solidFill>
                <a:latin typeface="Arial"/>
                <a:ea typeface="Arial"/>
                <a:cs typeface="Arial"/>
              </a:defRPr>
            </a:pPr>
            <a:r>
              <a:rPr sz="1875" b="1">
                <a:solidFill>
                  <a:srgbClr val="008B83"/>
                </a:solidFill>
                <a:latin typeface="Arial"/>
                <a:ea typeface="Arial"/>
                <a:cs typeface="Arial"/>
              </a:rPr>
              <a:t>Our starting point</a:t>
            </a:r>
          </a:p>
        </p:txBody>
      </p:sp>
      <p:sp>
        <p:nvSpPr>
          <p:cNvPr id="5" name="14.4 GB model store">
            <a:extLst xmlns:a="http://schemas.openxmlformats.org/drawingml/2006/main">
              <a:ext uri="{FF2B5EF4-FFF2-40B4-BE49-F238E27FC236}">
                <a16:creationId xmlns:a16="http://schemas.microsoft.com/office/drawing/2014/main" id="{43B3E19D-BF60-4B2E-8034-81A377B9C79B}"/>
              </a:ext>
            </a:extLst>
          </p:cNvPr>
          <p:cNvSpPr>
            <a:spLocks xmlns:a="http://schemas.openxmlformats.org/drawingml/2006/main" noGrp="1"/>
          </p:cNvSpPr>
          <p:nvPr/>
        </p:nvSpPr>
        <p:spPr>
          <a:xfrm xmlns:a="http://schemas.openxmlformats.org/drawingml/2006/main">
            <a:off x="742950" y="227647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52D39"/>
                </a:solidFill>
                <a:latin typeface="Arial"/>
                <a:ea typeface="Arial"/>
                <a:cs typeface="Arial"/>
              </a:defRPr>
            </a:defPPr>
            <a:lvl1pPr>
              <a:defRPr sz="2925" b="1">
                <a:solidFill>
                  <a:srgbClr val="152D39"/>
                </a:solidFill>
                <a:latin typeface="Arial"/>
                <a:ea typeface="Arial"/>
                <a:cs typeface="Arial"/>
              </a:defRPr>
            </a:lvl1pPr>
            <a:lvl2pPr>
              <a:defRPr sz="2925" b="1">
                <a:solidFill>
                  <a:srgbClr val="152D39"/>
                </a:solidFill>
                <a:latin typeface="Arial"/>
                <a:ea typeface="Arial"/>
                <a:cs typeface="Arial"/>
              </a:defRPr>
            </a:lvl2pPr>
            <a:lvl3pPr>
              <a:defRPr sz="2925" b="1">
                <a:solidFill>
                  <a:srgbClr val="152D39"/>
                </a:solidFill>
                <a:latin typeface="Arial"/>
                <a:ea typeface="Arial"/>
                <a:cs typeface="Arial"/>
              </a:defRPr>
            </a:lvl3pPr>
            <a:lvl4pPr>
              <a:defRPr sz="2925" b="1">
                <a:solidFill>
                  <a:srgbClr val="152D39"/>
                </a:solidFill>
                <a:latin typeface="Arial"/>
                <a:ea typeface="Arial"/>
                <a:cs typeface="Arial"/>
              </a:defRPr>
            </a:lvl4pPr>
            <a:lvl5pPr>
              <a:defRPr sz="2925" b="1">
                <a:solidFill>
                  <a:srgbClr val="152D39"/>
                </a:solidFill>
                <a:latin typeface="Arial"/>
                <a:ea typeface="Arial"/>
                <a:cs typeface="Arial"/>
              </a:defRPr>
            </a:lvl5pPr>
            <a:lvl6pPr>
              <a:defRPr sz="2925" b="1">
                <a:solidFill>
                  <a:srgbClr val="152D39"/>
                </a:solidFill>
                <a:latin typeface="Arial"/>
                <a:ea typeface="Arial"/>
                <a:cs typeface="Arial"/>
              </a:defRPr>
            </a:lvl6pPr>
            <a:lvl7pPr>
              <a:defRPr sz="2925" b="1">
                <a:solidFill>
                  <a:srgbClr val="152D39"/>
                </a:solidFill>
                <a:latin typeface="Arial"/>
                <a:ea typeface="Arial"/>
                <a:cs typeface="Arial"/>
              </a:defRPr>
            </a:lvl7pPr>
            <a:lvl8pPr>
              <a:defRPr sz="2925" b="1">
                <a:solidFill>
                  <a:srgbClr val="152D39"/>
                </a:solidFill>
                <a:latin typeface="Arial"/>
                <a:ea typeface="Arial"/>
                <a:cs typeface="Arial"/>
              </a:defRPr>
            </a:lvl8pPr>
            <a:lvl9pPr>
              <a:defRPr sz="2925" b="1">
                <a:solidFill>
                  <a:srgbClr val="152D39"/>
                </a:solidFill>
                <a:latin typeface="Arial"/>
                <a:ea typeface="Arial"/>
                <a:cs typeface="Arial"/>
              </a:defRPr>
            </a:lvl9pPr>
          </a:lstStyle>
          <a:p xmlns:a="http://schemas.openxmlformats.org/drawingml/2006/main">
            <a:pPr>
              <a:defRPr sz="2925" b="1">
                <a:solidFill>
                  <a:srgbClr val="152D39"/>
                </a:solidFill>
                <a:latin typeface="Arial"/>
                <a:ea typeface="Arial"/>
                <a:cs typeface="Arial"/>
              </a:defRPr>
            </a:pPr>
            <a:r>
              <a:rPr sz="2925" b="1">
                <a:solidFill>
                  <a:srgbClr val="152D39"/>
                </a:solidFill>
                <a:latin typeface="Arial"/>
                <a:ea typeface="Arial"/>
                <a:cs typeface="Arial"/>
              </a:rPr>
              <a:t>14.4 GB model store</a:t>
            </a:r>
          </a:p>
        </p:txBody>
      </p:sp>
      <p:sp>
        <p:nvSpPr>
          <p:cNvPr id="6" name="8.3 GB laptop RAM">
            <a:extLst xmlns:a="http://schemas.openxmlformats.org/drawingml/2006/main">
              <a:ext uri="{FF2B5EF4-FFF2-40B4-BE49-F238E27FC236}">
                <a16:creationId xmlns:a16="http://schemas.microsoft.com/office/drawing/2014/main" id="{C7C7FBA1-A132-4DCF-A586-F0C1A2277F40}"/>
              </a:ext>
            </a:extLst>
          </p:cNvPr>
          <p:cNvSpPr>
            <a:spLocks xmlns:a="http://schemas.openxmlformats.org/drawingml/2006/main" noGrp="1"/>
          </p:cNvSpPr>
          <p:nvPr/>
        </p:nvSpPr>
        <p:spPr>
          <a:xfrm xmlns:a="http://schemas.openxmlformats.org/drawingml/2006/main">
            <a:off x="742950" y="302895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52D39"/>
                </a:solidFill>
                <a:latin typeface="Arial"/>
                <a:ea typeface="Arial"/>
                <a:cs typeface="Arial"/>
              </a:defRPr>
            </a:defPPr>
            <a:lvl1pPr>
              <a:defRPr sz="2925" b="1">
                <a:solidFill>
                  <a:srgbClr val="152D39"/>
                </a:solidFill>
                <a:latin typeface="Arial"/>
                <a:ea typeface="Arial"/>
                <a:cs typeface="Arial"/>
              </a:defRPr>
            </a:lvl1pPr>
            <a:lvl2pPr>
              <a:defRPr sz="2925" b="1">
                <a:solidFill>
                  <a:srgbClr val="152D39"/>
                </a:solidFill>
                <a:latin typeface="Arial"/>
                <a:ea typeface="Arial"/>
                <a:cs typeface="Arial"/>
              </a:defRPr>
            </a:lvl2pPr>
            <a:lvl3pPr>
              <a:defRPr sz="2925" b="1">
                <a:solidFill>
                  <a:srgbClr val="152D39"/>
                </a:solidFill>
                <a:latin typeface="Arial"/>
                <a:ea typeface="Arial"/>
                <a:cs typeface="Arial"/>
              </a:defRPr>
            </a:lvl3pPr>
            <a:lvl4pPr>
              <a:defRPr sz="2925" b="1">
                <a:solidFill>
                  <a:srgbClr val="152D39"/>
                </a:solidFill>
                <a:latin typeface="Arial"/>
                <a:ea typeface="Arial"/>
                <a:cs typeface="Arial"/>
              </a:defRPr>
            </a:lvl4pPr>
            <a:lvl5pPr>
              <a:defRPr sz="2925" b="1">
                <a:solidFill>
                  <a:srgbClr val="152D39"/>
                </a:solidFill>
                <a:latin typeface="Arial"/>
                <a:ea typeface="Arial"/>
                <a:cs typeface="Arial"/>
              </a:defRPr>
            </a:lvl5pPr>
            <a:lvl6pPr>
              <a:defRPr sz="2925" b="1">
                <a:solidFill>
                  <a:srgbClr val="152D39"/>
                </a:solidFill>
                <a:latin typeface="Arial"/>
                <a:ea typeface="Arial"/>
                <a:cs typeface="Arial"/>
              </a:defRPr>
            </a:lvl6pPr>
            <a:lvl7pPr>
              <a:defRPr sz="2925" b="1">
                <a:solidFill>
                  <a:srgbClr val="152D39"/>
                </a:solidFill>
                <a:latin typeface="Arial"/>
                <a:ea typeface="Arial"/>
                <a:cs typeface="Arial"/>
              </a:defRPr>
            </a:lvl7pPr>
            <a:lvl8pPr>
              <a:defRPr sz="2925" b="1">
                <a:solidFill>
                  <a:srgbClr val="152D39"/>
                </a:solidFill>
                <a:latin typeface="Arial"/>
                <a:ea typeface="Arial"/>
                <a:cs typeface="Arial"/>
              </a:defRPr>
            </a:lvl8pPr>
            <a:lvl9pPr>
              <a:defRPr sz="2925" b="1">
                <a:solidFill>
                  <a:srgbClr val="152D39"/>
                </a:solidFill>
                <a:latin typeface="Arial"/>
                <a:ea typeface="Arial"/>
                <a:cs typeface="Arial"/>
              </a:defRPr>
            </a:lvl9pPr>
          </a:lstStyle>
          <a:p xmlns:a="http://schemas.openxmlformats.org/drawingml/2006/main">
            <a:pPr>
              <a:defRPr sz="2925" b="1">
                <a:solidFill>
                  <a:srgbClr val="152D39"/>
                </a:solidFill>
                <a:latin typeface="Arial"/>
                <a:ea typeface="Arial"/>
                <a:cs typeface="Arial"/>
              </a:defRPr>
            </a:pPr>
            <a:r>
              <a:rPr sz="2925" b="1">
                <a:solidFill>
                  <a:srgbClr val="152D39"/>
                </a:solidFill>
                <a:latin typeface="Arial"/>
                <a:ea typeface="Arial"/>
                <a:cs typeface="Arial"/>
              </a:rPr>
              <a:t>8.3 GB laptop RAM</a:t>
            </a:r>
          </a:p>
        </p:txBody>
      </p:sp>
      <p:sp>
        <p:nvSpPr>
          <p:cNvPr id="7" name="The weights exceed installed memory.&#10;An upgrade is one ">
            <a:extLst xmlns:a="http://schemas.openxmlformats.org/drawingml/2006/main">
              <a:ext uri="{FF2B5EF4-FFF2-40B4-BE49-F238E27FC236}">
                <a16:creationId xmlns:a16="http://schemas.microsoft.com/office/drawing/2014/main" id="{1D2A0B53-5B6C-4171-9D86-8A5FD0C3C6D3}"/>
              </a:ext>
            </a:extLst>
          </p:cNvPr>
          <p:cNvSpPr>
            <a:spLocks xmlns:a="http://schemas.openxmlformats.org/drawingml/2006/main" noGrp="1"/>
          </p:cNvSpPr>
          <p:nvPr/>
        </p:nvSpPr>
        <p:spPr>
          <a:xfrm xmlns:a="http://schemas.openxmlformats.org/drawingml/2006/main">
            <a:off x="742950" y="4019550"/>
            <a:ext cx="485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36A"/>
                </a:solidFill>
                <a:latin typeface="Arial"/>
                <a:ea typeface="Arial"/>
                <a:cs typeface="Arial"/>
              </a:defRPr>
            </a:defPPr>
            <a:lvl1pPr>
              <a:defRPr sz="2025" b="0">
                <a:solidFill>
                  <a:srgbClr val="52636A"/>
                </a:solidFill>
                <a:latin typeface="Arial"/>
                <a:ea typeface="Arial"/>
                <a:cs typeface="Arial"/>
              </a:defRPr>
            </a:lvl1pPr>
            <a:lvl2pPr>
              <a:defRPr sz="2025" b="0">
                <a:solidFill>
                  <a:srgbClr val="52636A"/>
                </a:solidFill>
                <a:latin typeface="Arial"/>
                <a:ea typeface="Arial"/>
                <a:cs typeface="Arial"/>
              </a:defRPr>
            </a:lvl2pPr>
            <a:lvl3pPr>
              <a:defRPr sz="2025" b="0">
                <a:solidFill>
                  <a:srgbClr val="52636A"/>
                </a:solidFill>
                <a:latin typeface="Arial"/>
                <a:ea typeface="Arial"/>
                <a:cs typeface="Arial"/>
              </a:defRPr>
            </a:lvl3pPr>
            <a:lvl4pPr>
              <a:defRPr sz="2025" b="0">
                <a:solidFill>
                  <a:srgbClr val="52636A"/>
                </a:solidFill>
                <a:latin typeface="Arial"/>
                <a:ea typeface="Arial"/>
                <a:cs typeface="Arial"/>
              </a:defRPr>
            </a:lvl4pPr>
            <a:lvl5pPr>
              <a:defRPr sz="2025" b="0">
                <a:solidFill>
                  <a:srgbClr val="52636A"/>
                </a:solidFill>
                <a:latin typeface="Arial"/>
                <a:ea typeface="Arial"/>
                <a:cs typeface="Arial"/>
              </a:defRPr>
            </a:lvl5pPr>
            <a:lvl6pPr>
              <a:defRPr sz="2025" b="0">
                <a:solidFill>
                  <a:srgbClr val="52636A"/>
                </a:solidFill>
                <a:latin typeface="Arial"/>
                <a:ea typeface="Arial"/>
                <a:cs typeface="Arial"/>
              </a:defRPr>
            </a:lvl6pPr>
            <a:lvl7pPr>
              <a:defRPr sz="2025" b="0">
                <a:solidFill>
                  <a:srgbClr val="52636A"/>
                </a:solidFill>
                <a:latin typeface="Arial"/>
                <a:ea typeface="Arial"/>
                <a:cs typeface="Arial"/>
              </a:defRPr>
            </a:lvl7pPr>
            <a:lvl8pPr>
              <a:defRPr sz="2025" b="0">
                <a:solidFill>
                  <a:srgbClr val="52636A"/>
                </a:solidFill>
                <a:latin typeface="Arial"/>
                <a:ea typeface="Arial"/>
                <a:cs typeface="Arial"/>
              </a:defRPr>
            </a:lvl8pPr>
            <a:lvl9pPr>
              <a:defRPr sz="2025" b="0">
                <a:solidFill>
                  <a:srgbClr val="52636A"/>
                </a:solidFill>
                <a:latin typeface="Arial"/>
                <a:ea typeface="Arial"/>
                <a:cs typeface="Arial"/>
              </a:defRPr>
            </a:lvl9pPr>
          </a:lstStyle>
          <a:p xmlns:a="http://schemas.openxmlformats.org/drawingml/2006/main">
            <a:pPr>
              <a:defRPr sz="2025" b="0">
                <a:solidFill>
                  <a:srgbClr val="52636A"/>
                </a:solidFill>
                <a:latin typeface="Arial"/>
                <a:ea typeface="Arial"/>
                <a:cs typeface="Arial"/>
              </a:defRPr>
            </a:pPr>
            <a:r>
              <a:rPr sz="2025" b="0">
                <a:solidFill>
                  <a:srgbClr val="52636A"/>
                </a:solidFill>
                <a:latin typeface="Arial"/>
                <a:ea typeface="Arial"/>
                <a:cs typeface="Arial"/>
              </a:rPr>
              <a:t>The weights exceed installed memory.</a:t>
            </a:r>
          </a:p>
          <a:p xmlns:a="http://schemas.openxmlformats.org/drawingml/2006/main">
            <a:pPr>
              <a:defRPr sz="2025" b="0">
                <a:solidFill>
                  <a:srgbClr val="52636A"/>
                </a:solidFill>
                <a:latin typeface="Arial"/>
                <a:ea typeface="Arial"/>
                <a:cs typeface="Arial"/>
              </a:defRPr>
            </a:pPr>
            <a:r>
              <a:rPr sz="2025" b="0">
                <a:solidFill>
                  <a:srgbClr val="52636A"/>
                </a:solidFill>
                <a:latin typeface="Arial"/>
                <a:ea typeface="Arial"/>
                <a:cs typeface="Arial"/>
              </a:rPr>
              <a:t>An upgrade is one option, but it</a:t>
            </a:r>
          </a:p>
          <a:p xmlns:a="http://schemas.openxmlformats.org/drawingml/2006/main">
            <a:pPr>
              <a:defRPr sz="2025" b="0">
                <a:solidFill>
                  <a:srgbClr val="52636A"/>
                </a:solidFill>
                <a:latin typeface="Arial"/>
                <a:ea typeface="Arial"/>
                <a:cs typeface="Arial"/>
              </a:defRPr>
            </a:pPr>
            <a:r>
              <a:rPr sz="2025" b="0">
                <a:solidFill>
                  <a:srgbClr val="52636A"/>
                </a:solidFill>
                <a:latin typeface="Arial"/>
                <a:ea typeface="Arial"/>
                <a:cs typeface="Arial"/>
              </a:rPr>
              <a:t>adds hardware cost.</a:t>
            </a:r>
          </a:p>
        </p:txBody>
      </p:sp>
      <p:sp>
        <p:nvSpPr>
          <p:cNvPr id="8" name="One manufacturer’s DDR5 price increase">
            <a:extLst xmlns:a="http://schemas.openxmlformats.org/drawingml/2006/main">
              <a:ext uri="{FF2B5EF4-FFF2-40B4-BE49-F238E27FC236}">
                <a16:creationId xmlns:a16="http://schemas.microsoft.com/office/drawing/2014/main" id="{79060648-89D5-42DF-A0AB-AB5F52528017}"/>
              </a:ext>
            </a:extLst>
          </p:cNvPr>
          <p:cNvSpPr>
            <a:spLocks xmlns:a="http://schemas.openxmlformats.org/drawingml/2006/main" noGrp="1"/>
          </p:cNvSpPr>
          <p:nvPr/>
        </p:nvSpPr>
        <p:spPr>
          <a:xfrm xmlns:a="http://schemas.openxmlformats.org/drawingml/2006/main">
            <a:off x="6143625" y="1609725"/>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52D39"/>
                </a:solidFill>
                <a:latin typeface="Arial"/>
                <a:ea typeface="Arial"/>
                <a:cs typeface="Arial"/>
              </a:defRPr>
            </a:defPPr>
            <a:lvl1pPr>
              <a:defRPr sz="1800" b="1">
                <a:solidFill>
                  <a:srgbClr val="152D39"/>
                </a:solidFill>
                <a:latin typeface="Arial"/>
                <a:ea typeface="Arial"/>
                <a:cs typeface="Arial"/>
              </a:defRPr>
            </a:lvl1pPr>
            <a:lvl2pPr>
              <a:defRPr sz="1800" b="1">
                <a:solidFill>
                  <a:srgbClr val="152D39"/>
                </a:solidFill>
                <a:latin typeface="Arial"/>
                <a:ea typeface="Arial"/>
                <a:cs typeface="Arial"/>
              </a:defRPr>
            </a:lvl2pPr>
            <a:lvl3pPr>
              <a:defRPr sz="1800" b="1">
                <a:solidFill>
                  <a:srgbClr val="152D39"/>
                </a:solidFill>
                <a:latin typeface="Arial"/>
                <a:ea typeface="Arial"/>
                <a:cs typeface="Arial"/>
              </a:defRPr>
            </a:lvl3pPr>
            <a:lvl4pPr>
              <a:defRPr sz="1800" b="1">
                <a:solidFill>
                  <a:srgbClr val="152D39"/>
                </a:solidFill>
                <a:latin typeface="Arial"/>
                <a:ea typeface="Arial"/>
                <a:cs typeface="Arial"/>
              </a:defRPr>
            </a:lvl4pPr>
            <a:lvl5pPr>
              <a:defRPr sz="1800" b="1">
                <a:solidFill>
                  <a:srgbClr val="152D39"/>
                </a:solidFill>
                <a:latin typeface="Arial"/>
                <a:ea typeface="Arial"/>
                <a:cs typeface="Arial"/>
              </a:defRPr>
            </a:lvl5pPr>
            <a:lvl6pPr>
              <a:defRPr sz="1800" b="1">
                <a:solidFill>
                  <a:srgbClr val="152D39"/>
                </a:solidFill>
                <a:latin typeface="Arial"/>
                <a:ea typeface="Arial"/>
                <a:cs typeface="Arial"/>
              </a:defRPr>
            </a:lvl6pPr>
            <a:lvl7pPr>
              <a:defRPr sz="1800" b="1">
                <a:solidFill>
                  <a:srgbClr val="152D39"/>
                </a:solidFill>
                <a:latin typeface="Arial"/>
                <a:ea typeface="Arial"/>
                <a:cs typeface="Arial"/>
              </a:defRPr>
            </a:lvl7pPr>
            <a:lvl8pPr>
              <a:defRPr sz="1800" b="1">
                <a:solidFill>
                  <a:srgbClr val="152D39"/>
                </a:solidFill>
                <a:latin typeface="Arial"/>
                <a:ea typeface="Arial"/>
                <a:cs typeface="Arial"/>
              </a:defRPr>
            </a:lvl8pPr>
            <a:lvl9pPr>
              <a:defRPr sz="1800" b="1">
                <a:solidFill>
                  <a:srgbClr val="152D39"/>
                </a:solidFill>
                <a:latin typeface="Arial"/>
                <a:ea typeface="Arial"/>
                <a:cs typeface="Arial"/>
              </a:defRPr>
            </a:lvl9pPr>
          </a:lstStyle>
          <a:p xmlns:a="http://schemas.openxmlformats.org/drawingml/2006/main">
            <a:pPr>
              <a:defRPr sz="1800" b="1">
                <a:solidFill>
                  <a:srgbClr val="152D39"/>
                </a:solidFill>
                <a:latin typeface="Arial"/>
                <a:ea typeface="Arial"/>
                <a:cs typeface="Arial"/>
              </a:defRPr>
            </a:pPr>
            <a:r>
              <a:rPr sz="1800" b="1">
                <a:solidFill>
                  <a:srgbClr val="152D39"/>
                </a:solidFill>
                <a:latin typeface="Arial"/>
                <a:ea typeface="Arial"/>
                <a:cs typeface="Arial"/>
              </a:rPr>
              <a:t>One manufacturer’s DDR5 price increase</a:t>
            </a:r>
          </a:p>
        </p:txBody>
      </p:sp>
      <p:graphicFrame>
        <p:nvGraphicFramePr>
          <p:cNvPr id="9" name="Chart">
            <a:extLst xmlns:a="http://schemas.openxmlformats.org/drawingml/2006/main">
              <a:ext uri="{FF2B5EF4-FFF2-40B4-BE49-F238E27FC236}">
                <a16:creationId xmlns:a16="http://schemas.microsoft.com/office/drawing/2014/main" id="{83D75722-0872-4EC9-9373-4E35BB0EA6D5}"/>
              </a:ext>
            </a:extLst>
          </p:cNvPr>
          <p:cNvGraphicFramePr/>
          <p:nvPr/>
        </p:nvGraphicFramePr>
        <p:xfrm>
          <a:off xmlns:a="http://schemas.openxmlformats.org/drawingml/2006/main" x="6105525" y="2209800"/>
          <a:ext xmlns:a="http://schemas.openxmlformats.org/drawingml/2006/main" cx="5257800" cy="2790825"/>
        </p:xfrm>
        <a:graphic xmlns:a="http://schemas.openxmlformats.org/drawingml/2006/main">
          <a:graphicData uri="http://schemas.openxmlformats.org/drawingml/2006/chart">
            <c:chart xmlns:r="http://schemas.openxmlformats.org/officeDocument/2006/relationships" xmlns:c="http://schemas.openxmlformats.org/drawingml/2006/chart" r:id="R56700c4e816c4033"/>
          </a:graphicData>
        </a:graphic>
      </p:graphicFrame>
      <p:sp>
        <p:nvSpPr>
          <p:cNvPr id="10" name="+50% reported · price index, before = 100">
            <a:extLst xmlns:a="http://schemas.openxmlformats.org/drawingml/2006/main">
              <a:ext uri="{FF2B5EF4-FFF2-40B4-BE49-F238E27FC236}">
                <a16:creationId xmlns:a16="http://schemas.microsoft.com/office/drawing/2014/main" id="{25559C80-22FF-449C-AD26-DC2D18CB6B4E}"/>
              </a:ext>
            </a:extLst>
          </p:cNvPr>
          <p:cNvSpPr>
            <a:spLocks xmlns:a="http://schemas.openxmlformats.org/drawingml/2006/main" noGrp="1"/>
          </p:cNvSpPr>
          <p:nvPr/>
        </p:nvSpPr>
        <p:spPr>
          <a:xfrm xmlns:a="http://schemas.openxmlformats.org/drawingml/2006/main">
            <a:off x="6286500" y="5095875"/>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08B83"/>
                </a:solidFill>
                <a:latin typeface="Arial"/>
                <a:ea typeface="Arial"/>
                <a:cs typeface="Arial"/>
              </a:defRPr>
            </a:defPPr>
            <a:lvl1pPr>
              <a:defRPr sz="1575" b="1">
                <a:solidFill>
                  <a:srgbClr val="008B83"/>
                </a:solidFill>
                <a:latin typeface="Arial"/>
                <a:ea typeface="Arial"/>
                <a:cs typeface="Arial"/>
              </a:defRPr>
            </a:lvl1pPr>
            <a:lvl2pPr>
              <a:defRPr sz="1575" b="1">
                <a:solidFill>
                  <a:srgbClr val="008B83"/>
                </a:solidFill>
                <a:latin typeface="Arial"/>
                <a:ea typeface="Arial"/>
                <a:cs typeface="Arial"/>
              </a:defRPr>
            </a:lvl2pPr>
            <a:lvl3pPr>
              <a:defRPr sz="1575" b="1">
                <a:solidFill>
                  <a:srgbClr val="008B83"/>
                </a:solidFill>
                <a:latin typeface="Arial"/>
                <a:ea typeface="Arial"/>
                <a:cs typeface="Arial"/>
              </a:defRPr>
            </a:lvl3pPr>
            <a:lvl4pPr>
              <a:defRPr sz="1575" b="1">
                <a:solidFill>
                  <a:srgbClr val="008B83"/>
                </a:solidFill>
                <a:latin typeface="Arial"/>
                <a:ea typeface="Arial"/>
                <a:cs typeface="Arial"/>
              </a:defRPr>
            </a:lvl4pPr>
            <a:lvl5pPr>
              <a:defRPr sz="1575" b="1">
                <a:solidFill>
                  <a:srgbClr val="008B83"/>
                </a:solidFill>
                <a:latin typeface="Arial"/>
                <a:ea typeface="Arial"/>
                <a:cs typeface="Arial"/>
              </a:defRPr>
            </a:lvl5pPr>
            <a:lvl6pPr>
              <a:defRPr sz="1575" b="1">
                <a:solidFill>
                  <a:srgbClr val="008B83"/>
                </a:solidFill>
                <a:latin typeface="Arial"/>
                <a:ea typeface="Arial"/>
                <a:cs typeface="Arial"/>
              </a:defRPr>
            </a:lvl6pPr>
            <a:lvl7pPr>
              <a:defRPr sz="1575" b="1">
                <a:solidFill>
                  <a:srgbClr val="008B83"/>
                </a:solidFill>
                <a:latin typeface="Arial"/>
                <a:ea typeface="Arial"/>
                <a:cs typeface="Arial"/>
              </a:defRPr>
            </a:lvl7pPr>
            <a:lvl8pPr>
              <a:defRPr sz="1575" b="1">
                <a:solidFill>
                  <a:srgbClr val="008B83"/>
                </a:solidFill>
                <a:latin typeface="Arial"/>
                <a:ea typeface="Arial"/>
                <a:cs typeface="Arial"/>
              </a:defRPr>
            </a:lvl8pPr>
            <a:lvl9pPr>
              <a:defRPr sz="1575" b="1">
                <a:solidFill>
                  <a:srgbClr val="008B83"/>
                </a:solidFill>
                <a:latin typeface="Arial"/>
                <a:ea typeface="Arial"/>
                <a:cs typeface="Arial"/>
              </a:defRPr>
            </a:lvl9pPr>
          </a:lstStyle>
          <a:p xmlns:a="http://schemas.openxmlformats.org/drawingml/2006/main">
            <a:pPr>
              <a:defRPr sz="1575" b="1">
                <a:solidFill>
                  <a:srgbClr val="008B83"/>
                </a:solidFill>
                <a:latin typeface="Arial"/>
                <a:ea typeface="Arial"/>
                <a:cs typeface="Arial"/>
              </a:defRPr>
            </a:pPr>
            <a:r>
              <a:rPr sz="1575" b="1">
                <a:solidFill>
                  <a:srgbClr val="008B83"/>
                </a:solidFill>
                <a:latin typeface="Arial"/>
                <a:ea typeface="Arial"/>
                <a:cs typeface="Arial"/>
              </a:rPr>
              <a:t>+50% reported · price index, before = 100</a:t>
            </a:r>
          </a:p>
        </p:txBody>
      </p:sp>
      <p:sp>
        <p:nvSpPr>
          <p:cNvPr id="11" name="Can we use the laptop people already own?">
            <a:extLst xmlns:a="http://schemas.openxmlformats.org/drawingml/2006/main">
              <a:ext uri="{FF2B5EF4-FFF2-40B4-BE49-F238E27FC236}">
                <a16:creationId xmlns:a16="http://schemas.microsoft.com/office/drawing/2014/main" id="{12ACA10A-943C-4FEE-9085-83A8822A5E8F}"/>
              </a:ext>
            </a:extLst>
          </p:cNvPr>
          <p:cNvSpPr>
            <a:spLocks xmlns:a="http://schemas.openxmlformats.org/drawingml/2006/main" noGrp="1"/>
          </p:cNvSpPr>
          <p:nvPr/>
        </p:nvSpPr>
        <p:spPr>
          <a:xfrm xmlns:a="http://schemas.openxmlformats.org/drawingml/2006/main">
            <a:off x="742950" y="55626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52D39"/>
                </a:solidFill>
                <a:latin typeface="Arial"/>
                <a:ea typeface="Arial"/>
                <a:cs typeface="Arial"/>
              </a:defRPr>
            </a:defPPr>
            <a:lvl1pPr>
              <a:defRPr sz="2625" b="1">
                <a:solidFill>
                  <a:srgbClr val="152D39"/>
                </a:solidFill>
                <a:latin typeface="Arial"/>
                <a:ea typeface="Arial"/>
                <a:cs typeface="Arial"/>
              </a:defRPr>
            </a:lvl1pPr>
            <a:lvl2pPr>
              <a:defRPr sz="2625" b="1">
                <a:solidFill>
                  <a:srgbClr val="152D39"/>
                </a:solidFill>
                <a:latin typeface="Arial"/>
                <a:ea typeface="Arial"/>
                <a:cs typeface="Arial"/>
              </a:defRPr>
            </a:lvl2pPr>
            <a:lvl3pPr>
              <a:defRPr sz="2625" b="1">
                <a:solidFill>
                  <a:srgbClr val="152D39"/>
                </a:solidFill>
                <a:latin typeface="Arial"/>
                <a:ea typeface="Arial"/>
                <a:cs typeface="Arial"/>
              </a:defRPr>
            </a:lvl3pPr>
            <a:lvl4pPr>
              <a:defRPr sz="2625" b="1">
                <a:solidFill>
                  <a:srgbClr val="152D39"/>
                </a:solidFill>
                <a:latin typeface="Arial"/>
                <a:ea typeface="Arial"/>
                <a:cs typeface="Arial"/>
              </a:defRPr>
            </a:lvl4pPr>
            <a:lvl5pPr>
              <a:defRPr sz="2625" b="1">
                <a:solidFill>
                  <a:srgbClr val="152D39"/>
                </a:solidFill>
                <a:latin typeface="Arial"/>
                <a:ea typeface="Arial"/>
                <a:cs typeface="Arial"/>
              </a:defRPr>
            </a:lvl5pPr>
            <a:lvl6pPr>
              <a:defRPr sz="2625" b="1">
                <a:solidFill>
                  <a:srgbClr val="152D39"/>
                </a:solidFill>
                <a:latin typeface="Arial"/>
                <a:ea typeface="Arial"/>
                <a:cs typeface="Arial"/>
              </a:defRPr>
            </a:lvl6pPr>
            <a:lvl7pPr>
              <a:defRPr sz="2625" b="1">
                <a:solidFill>
                  <a:srgbClr val="152D39"/>
                </a:solidFill>
                <a:latin typeface="Arial"/>
                <a:ea typeface="Arial"/>
                <a:cs typeface="Arial"/>
              </a:defRPr>
            </a:lvl7pPr>
            <a:lvl8pPr>
              <a:defRPr sz="2625" b="1">
                <a:solidFill>
                  <a:srgbClr val="152D39"/>
                </a:solidFill>
                <a:latin typeface="Arial"/>
                <a:ea typeface="Arial"/>
                <a:cs typeface="Arial"/>
              </a:defRPr>
            </a:lvl8pPr>
            <a:lvl9pPr>
              <a:defRPr sz="2625" b="1">
                <a:solidFill>
                  <a:srgbClr val="152D39"/>
                </a:solidFill>
                <a:latin typeface="Arial"/>
                <a:ea typeface="Arial"/>
                <a:cs typeface="Arial"/>
              </a:defRPr>
            </a:lvl9pPr>
          </a:lstStyle>
          <a:p xmlns:a="http://schemas.openxmlformats.org/drawingml/2006/main">
            <a:pPr>
              <a:defRPr sz="2625" b="1">
                <a:solidFill>
                  <a:srgbClr val="152D39"/>
                </a:solidFill>
                <a:latin typeface="Arial"/>
                <a:ea typeface="Arial"/>
                <a:cs typeface="Arial"/>
              </a:defRPr>
            </a:pPr>
            <a:r>
              <a:rPr sz="2625" b="1">
                <a:solidFill>
                  <a:srgbClr val="152D39"/>
                </a:solidFill>
                <a:latin typeface="Arial"/>
                <a:ea typeface="Arial"/>
                <a:cs typeface="Arial"/>
              </a:rPr>
              <a:t>Can we use the laptop people already own?</a:t>
            </a:r>
          </a:p>
        </p:txBody>
      </p:sp>
      <p:sp>
        <p:nvSpPr>
          <p:cNvPr id="12" name="Source: Framework, memory pricing update (original anno">
            <a:extLst xmlns:a="http://schemas.openxmlformats.org/drawingml/2006/main">
              <a:ext uri="{FF2B5EF4-FFF2-40B4-BE49-F238E27FC236}">
                <a16:creationId xmlns:a16="http://schemas.microsoft.com/office/drawing/2014/main" id="{9CA88AFE-5FE7-4210-B62A-DFC14E59AB3C}"/>
              </a:ext>
            </a:extLst>
          </p:cNvPr>
          <p:cNvSpPr>
            <a:spLocks xmlns:a="http://schemas.openxmlformats.org/drawingml/2006/main" noGrp="1"/>
          </p:cNvSpPr>
          <p:nvPr/>
        </p:nvSpPr>
        <p:spPr>
          <a:xfrm xmlns:a="http://schemas.openxmlformats.org/drawingml/2006/main">
            <a:off x="742950" y="616267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Source: Framework, memory pricing update (original announcement). DIY DDR5 configuration prices; historical example, not market-wide.</a:t>
            </a:r>
          </a:p>
        </p:txBody>
      </p:sp>
    </p:spTree>
    <p:extLst>
      <p:ext uri="{BB962C8B-B14F-4D97-AF65-F5344CB8AC3E}">
        <p14:creationId xmlns:p14="http://schemas.microsoft.com/office/powerpoint/2010/main" val="136241181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A small cache, backed by the SSD">
            <a:extLst xmlns:a="http://schemas.openxmlformats.org/drawingml/2006/main">
              <a:ext uri="{FF2B5EF4-FFF2-40B4-BE49-F238E27FC236}">
                <a16:creationId xmlns:a16="http://schemas.microsoft.com/office/drawing/2014/main" id="{66CF9F19-6ECD-47C9-8117-28615577B439}"/>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52D39"/>
                </a:solidFill>
                <a:latin typeface="Arial"/>
                <a:ea typeface="Arial"/>
                <a:cs typeface="Arial"/>
              </a:defRPr>
            </a:defPPr>
            <a:lvl1pPr>
              <a:defRPr sz="3375" b="1">
                <a:solidFill>
                  <a:srgbClr val="152D39"/>
                </a:solidFill>
                <a:latin typeface="Arial"/>
                <a:ea typeface="Arial"/>
                <a:cs typeface="Arial"/>
              </a:defRPr>
            </a:lvl1pPr>
            <a:lvl2pPr>
              <a:defRPr sz="3375" b="1">
                <a:solidFill>
                  <a:srgbClr val="152D39"/>
                </a:solidFill>
                <a:latin typeface="Arial"/>
                <a:ea typeface="Arial"/>
                <a:cs typeface="Arial"/>
              </a:defRPr>
            </a:lvl2pPr>
            <a:lvl3pPr>
              <a:defRPr sz="3375" b="1">
                <a:solidFill>
                  <a:srgbClr val="152D39"/>
                </a:solidFill>
                <a:latin typeface="Arial"/>
                <a:ea typeface="Arial"/>
                <a:cs typeface="Arial"/>
              </a:defRPr>
            </a:lvl3pPr>
            <a:lvl4pPr>
              <a:defRPr sz="3375" b="1">
                <a:solidFill>
                  <a:srgbClr val="152D39"/>
                </a:solidFill>
                <a:latin typeface="Arial"/>
                <a:ea typeface="Arial"/>
                <a:cs typeface="Arial"/>
              </a:defRPr>
            </a:lvl4pPr>
            <a:lvl5pPr>
              <a:defRPr sz="3375" b="1">
                <a:solidFill>
                  <a:srgbClr val="152D39"/>
                </a:solidFill>
                <a:latin typeface="Arial"/>
                <a:ea typeface="Arial"/>
                <a:cs typeface="Arial"/>
              </a:defRPr>
            </a:lvl5pPr>
            <a:lvl6pPr>
              <a:defRPr sz="3375" b="1">
                <a:solidFill>
                  <a:srgbClr val="152D39"/>
                </a:solidFill>
                <a:latin typeface="Arial"/>
                <a:ea typeface="Arial"/>
                <a:cs typeface="Arial"/>
              </a:defRPr>
            </a:lvl6pPr>
            <a:lvl7pPr>
              <a:defRPr sz="3375" b="1">
                <a:solidFill>
                  <a:srgbClr val="152D39"/>
                </a:solidFill>
                <a:latin typeface="Arial"/>
                <a:ea typeface="Arial"/>
                <a:cs typeface="Arial"/>
              </a:defRPr>
            </a:lvl7pPr>
            <a:lvl8pPr>
              <a:defRPr sz="3375" b="1">
                <a:solidFill>
                  <a:srgbClr val="152D39"/>
                </a:solidFill>
                <a:latin typeface="Arial"/>
                <a:ea typeface="Arial"/>
                <a:cs typeface="Arial"/>
              </a:defRPr>
            </a:lvl8pPr>
            <a:lvl9pPr>
              <a:defRPr sz="3375" b="1">
                <a:solidFill>
                  <a:srgbClr val="152D39"/>
                </a:solidFill>
                <a:latin typeface="Arial"/>
                <a:ea typeface="Arial"/>
                <a:cs typeface="Arial"/>
              </a:defRPr>
            </a:lvl9pPr>
          </a:lstStyle>
          <a:p xmlns:a="http://schemas.openxmlformats.org/drawingml/2006/main">
            <a:pPr>
              <a:defRPr sz="3375" b="1">
                <a:solidFill>
                  <a:srgbClr val="152D39"/>
                </a:solidFill>
                <a:latin typeface="Arial"/>
                <a:ea typeface="Arial"/>
                <a:cs typeface="Arial"/>
              </a:defRPr>
            </a:pPr>
            <a:r>
              <a:rPr sz="3375" b="1">
                <a:solidFill>
                  <a:srgbClr val="152D39"/>
                </a:solidFill>
                <a:latin typeface="Arial"/>
                <a:ea typeface="Arial"/>
                <a:cs typeface="Arial"/>
              </a:rPr>
              <a:t>A small cache, backed by the SSD</a:t>
            </a:r>
          </a:p>
        </p:txBody>
      </p:sp>
      <p:sp>
        <p:nvSpPr>
          <p:cNvPr id="2" name="LeanMoE">
            <a:extLst xmlns:a="http://schemas.openxmlformats.org/drawingml/2006/main">
              <a:ext uri="{FF2B5EF4-FFF2-40B4-BE49-F238E27FC236}">
                <a16:creationId xmlns:a16="http://schemas.microsoft.com/office/drawing/2014/main" id="{523A5827-2CB7-41EA-8910-695A04765FC2}"/>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LeanMoE</a:t>
            </a:r>
          </a:p>
        </p:txBody>
      </p:sp>
      <p:sp>
        <p:nvSpPr>
          <p:cNvPr id="3" name="03">
            <a:extLst xmlns:a="http://schemas.openxmlformats.org/drawingml/2006/main">
              <a:ext uri="{FF2B5EF4-FFF2-40B4-BE49-F238E27FC236}">
                <a16:creationId xmlns:a16="http://schemas.microsoft.com/office/drawing/2014/main" id="{CA23055E-E76D-4C4D-9D29-5F52A7AC8258}"/>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03</a:t>
            </a:r>
          </a:p>
        </p:txBody>
      </p:sp>
      <p:sp>
        <p:nvSpPr>
          <p:cNvPr id="4" name="Qwen routes each token through a subset of experts.">
            <a:extLst xmlns:a="http://schemas.openxmlformats.org/drawingml/2006/main">
              <a:ext uri="{FF2B5EF4-FFF2-40B4-BE49-F238E27FC236}">
                <a16:creationId xmlns:a16="http://schemas.microsoft.com/office/drawing/2014/main" id="{48572CC4-1C06-4B3C-9223-F72CD7727780}"/>
              </a:ext>
            </a:extLst>
          </p:cNvPr>
          <p:cNvSpPr>
            <a:spLocks xmlns:a="http://schemas.openxmlformats.org/drawingml/2006/main" noGrp="1"/>
          </p:cNvSpPr>
          <p:nvPr/>
        </p:nvSpPr>
        <p:spPr>
          <a:xfrm xmlns:a="http://schemas.openxmlformats.org/drawingml/2006/main">
            <a:off x="723900" y="14859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36A"/>
                </a:solidFill>
                <a:latin typeface="Arial"/>
                <a:ea typeface="Arial"/>
                <a:cs typeface="Arial"/>
              </a:defRPr>
            </a:defPPr>
            <a:lvl1pPr>
              <a:defRPr sz="2100" b="0">
                <a:solidFill>
                  <a:srgbClr val="52636A"/>
                </a:solidFill>
                <a:latin typeface="Arial"/>
                <a:ea typeface="Arial"/>
                <a:cs typeface="Arial"/>
              </a:defRPr>
            </a:lvl1pPr>
            <a:lvl2pPr>
              <a:defRPr sz="2100" b="0">
                <a:solidFill>
                  <a:srgbClr val="52636A"/>
                </a:solidFill>
                <a:latin typeface="Arial"/>
                <a:ea typeface="Arial"/>
                <a:cs typeface="Arial"/>
              </a:defRPr>
            </a:lvl2pPr>
            <a:lvl3pPr>
              <a:defRPr sz="2100" b="0">
                <a:solidFill>
                  <a:srgbClr val="52636A"/>
                </a:solidFill>
                <a:latin typeface="Arial"/>
                <a:ea typeface="Arial"/>
                <a:cs typeface="Arial"/>
              </a:defRPr>
            </a:lvl3pPr>
            <a:lvl4pPr>
              <a:defRPr sz="2100" b="0">
                <a:solidFill>
                  <a:srgbClr val="52636A"/>
                </a:solidFill>
                <a:latin typeface="Arial"/>
                <a:ea typeface="Arial"/>
                <a:cs typeface="Arial"/>
              </a:defRPr>
            </a:lvl4pPr>
            <a:lvl5pPr>
              <a:defRPr sz="2100" b="0">
                <a:solidFill>
                  <a:srgbClr val="52636A"/>
                </a:solidFill>
                <a:latin typeface="Arial"/>
                <a:ea typeface="Arial"/>
                <a:cs typeface="Arial"/>
              </a:defRPr>
            </a:lvl5pPr>
            <a:lvl6pPr>
              <a:defRPr sz="2100" b="0">
                <a:solidFill>
                  <a:srgbClr val="52636A"/>
                </a:solidFill>
                <a:latin typeface="Arial"/>
                <a:ea typeface="Arial"/>
                <a:cs typeface="Arial"/>
              </a:defRPr>
            </a:lvl6pPr>
            <a:lvl7pPr>
              <a:defRPr sz="2100" b="0">
                <a:solidFill>
                  <a:srgbClr val="52636A"/>
                </a:solidFill>
                <a:latin typeface="Arial"/>
                <a:ea typeface="Arial"/>
                <a:cs typeface="Arial"/>
              </a:defRPr>
            </a:lvl7pPr>
            <a:lvl8pPr>
              <a:defRPr sz="2100" b="0">
                <a:solidFill>
                  <a:srgbClr val="52636A"/>
                </a:solidFill>
                <a:latin typeface="Arial"/>
                <a:ea typeface="Arial"/>
                <a:cs typeface="Arial"/>
              </a:defRPr>
            </a:lvl8pPr>
            <a:lvl9pPr>
              <a:defRPr sz="2100" b="0">
                <a:solidFill>
                  <a:srgbClr val="52636A"/>
                </a:solidFill>
                <a:latin typeface="Arial"/>
                <a:ea typeface="Arial"/>
                <a:cs typeface="Arial"/>
              </a:defRPr>
            </a:lvl9pPr>
          </a:lstStyle>
          <a:p xmlns:a="http://schemas.openxmlformats.org/drawingml/2006/main">
            <a:pPr>
              <a:defRPr sz="2100" b="0">
                <a:solidFill>
                  <a:srgbClr val="52636A"/>
                </a:solidFill>
                <a:latin typeface="Arial"/>
                <a:ea typeface="Arial"/>
                <a:cs typeface="Arial"/>
              </a:defRPr>
            </a:pPr>
            <a:r>
              <a:rPr sz="2100" b="0">
                <a:solidFill>
                  <a:srgbClr val="52636A"/>
                </a:solidFill>
                <a:latin typeface="Arial"/>
                <a:ea typeface="Arial"/>
                <a:cs typeface="Arial"/>
              </a:rPr>
              <a:t>Qwen routes each token through a subset of experts.</a:t>
            </a:r>
          </a:p>
        </p:txBody>
      </p:sp>
      <p:sp>
        <p:nvSpPr>
          <p:cNvPr id="5" name="">
            <a:extLst xmlns:a="http://schemas.openxmlformats.org/drawingml/2006/main">
              <a:ext uri="{FF2B5EF4-FFF2-40B4-BE49-F238E27FC236}">
                <a16:creationId xmlns:a16="http://schemas.microsoft.com/office/drawing/2014/main" id="{0D979681-9C7A-4A72-85D1-B7F207796AE2}"/>
              </a:ext>
            </a:extLst>
          </p:cNvPr>
          <p:cNvSpPr>
            <a:spLocks xmlns:a="http://schemas.openxmlformats.org/drawingml/2006/main" noGrp="1"/>
          </p:cNvSpPr>
          <p:nvPr/>
        </p:nvSpPr>
        <p:spPr>
          <a:xfrm xmlns:a="http://schemas.openxmlformats.org/drawingml/2006/main">
            <a:off x="723900" y="2543175"/>
            <a:ext cx="2952750" cy="1828800"/>
          </a:xfrm>
          <a:prstGeom xmlns:a="http://schemas.openxmlformats.org/drawingml/2006/main" prst="rect">
            <a:avLst/>
          </a:prstGeom>
          <a:solidFill xmlns:a="http://schemas.openxmlformats.org/drawingml/2006/main">
            <a:srgbClr val="152D39"/>
          </a:solidFill>
          <a:ln xmlns:a="http://schemas.openxmlformats.org/drawingml/2006/main" w="0">
            <a:noFill/>
          </a:ln>
        </p:spPr>
      </p:sp>
      <p:sp>
        <p:nvSpPr>
          <p:cNvPr id="6" name="SSD model store">
            <a:extLst xmlns:a="http://schemas.openxmlformats.org/drawingml/2006/main">
              <a:ext uri="{FF2B5EF4-FFF2-40B4-BE49-F238E27FC236}">
                <a16:creationId xmlns:a16="http://schemas.microsoft.com/office/drawing/2014/main" id="{B5E32F95-E6E0-47A5-98FF-D0D404EAE26A}"/>
              </a:ext>
            </a:extLst>
          </p:cNvPr>
          <p:cNvSpPr>
            <a:spLocks xmlns:a="http://schemas.openxmlformats.org/drawingml/2006/main" noGrp="1"/>
          </p:cNvSpPr>
          <p:nvPr/>
        </p:nvSpPr>
        <p:spPr>
          <a:xfrm xmlns:a="http://schemas.openxmlformats.org/drawingml/2006/main">
            <a:off x="933450" y="28003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SSD model store</a:t>
            </a:r>
          </a:p>
        </p:txBody>
      </p:sp>
      <p:sp>
        <p:nvSpPr>
          <p:cNvPr id="7" name="All expert weights&#10;remain available">
            <a:extLst xmlns:a="http://schemas.openxmlformats.org/drawingml/2006/main">
              <a:ext uri="{FF2B5EF4-FFF2-40B4-BE49-F238E27FC236}">
                <a16:creationId xmlns:a16="http://schemas.microsoft.com/office/drawing/2014/main" id="{1ED32838-1A78-48A3-83C3-E7669170C1C3}"/>
              </a:ext>
            </a:extLst>
          </p:cNvPr>
          <p:cNvSpPr>
            <a:spLocks xmlns:a="http://schemas.openxmlformats.org/drawingml/2006/main" noGrp="1"/>
          </p:cNvSpPr>
          <p:nvPr/>
        </p:nvSpPr>
        <p:spPr>
          <a:xfrm xmlns:a="http://schemas.openxmlformats.org/drawingml/2006/main">
            <a:off x="933450" y="340042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All expert weights</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remain available</a:t>
            </a:r>
          </a:p>
        </p:txBody>
      </p:sp>
      <p:sp>
        <p:nvSpPr>
          <p:cNvPr id="8" name="">
            <a:extLst xmlns:a="http://schemas.openxmlformats.org/drawingml/2006/main">
              <a:ext uri="{FF2B5EF4-FFF2-40B4-BE49-F238E27FC236}">
                <a16:creationId xmlns:a16="http://schemas.microsoft.com/office/drawing/2014/main" id="{EFF5CC4F-028C-4192-A477-452473C39033}"/>
              </a:ext>
            </a:extLst>
          </p:cNvPr>
          <p:cNvSpPr>
            <a:spLocks xmlns:a="http://schemas.openxmlformats.org/drawingml/2006/main" noGrp="1"/>
          </p:cNvSpPr>
          <p:nvPr/>
        </p:nvSpPr>
        <p:spPr>
          <a:xfrm xmlns:a="http://schemas.openxmlformats.org/drawingml/2006/main">
            <a:off x="4610100" y="2543175"/>
            <a:ext cx="2952750" cy="1828800"/>
          </a:xfrm>
          <a:prstGeom xmlns:a="http://schemas.openxmlformats.org/drawingml/2006/main" prst="rect">
            <a:avLst/>
          </a:prstGeom>
          <a:solidFill xmlns:a="http://schemas.openxmlformats.org/drawingml/2006/main">
            <a:srgbClr val="E5F0E9"/>
          </a:solidFill>
          <a:ln xmlns:a="http://schemas.openxmlformats.org/drawingml/2006/main" w="0">
            <a:noFill/>
          </a:ln>
        </p:spPr>
      </p:sp>
      <p:sp>
        <p:nvSpPr>
          <p:cNvPr id="9" name="RAM expert cache">
            <a:extLst xmlns:a="http://schemas.openxmlformats.org/drawingml/2006/main">
              <a:ext uri="{FF2B5EF4-FFF2-40B4-BE49-F238E27FC236}">
                <a16:creationId xmlns:a16="http://schemas.microsoft.com/office/drawing/2014/main" id="{A4F44AC9-A998-4C96-A683-904446DD35E3}"/>
              </a:ext>
            </a:extLst>
          </p:cNvPr>
          <p:cNvSpPr>
            <a:spLocks xmlns:a="http://schemas.openxmlformats.org/drawingml/2006/main" noGrp="1"/>
          </p:cNvSpPr>
          <p:nvPr/>
        </p:nvSpPr>
        <p:spPr>
          <a:xfrm xmlns:a="http://schemas.openxmlformats.org/drawingml/2006/main">
            <a:off x="4819650" y="28003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52D39"/>
                </a:solidFill>
                <a:latin typeface="Arial"/>
                <a:ea typeface="Arial"/>
                <a:cs typeface="Arial"/>
              </a:defRPr>
            </a:defPPr>
            <a:lvl1pPr>
              <a:defRPr sz="1875" b="1">
                <a:solidFill>
                  <a:srgbClr val="152D39"/>
                </a:solidFill>
                <a:latin typeface="Arial"/>
                <a:ea typeface="Arial"/>
                <a:cs typeface="Arial"/>
              </a:defRPr>
            </a:lvl1pPr>
            <a:lvl2pPr>
              <a:defRPr sz="1875" b="1">
                <a:solidFill>
                  <a:srgbClr val="152D39"/>
                </a:solidFill>
                <a:latin typeface="Arial"/>
                <a:ea typeface="Arial"/>
                <a:cs typeface="Arial"/>
              </a:defRPr>
            </a:lvl2pPr>
            <a:lvl3pPr>
              <a:defRPr sz="1875" b="1">
                <a:solidFill>
                  <a:srgbClr val="152D39"/>
                </a:solidFill>
                <a:latin typeface="Arial"/>
                <a:ea typeface="Arial"/>
                <a:cs typeface="Arial"/>
              </a:defRPr>
            </a:lvl3pPr>
            <a:lvl4pPr>
              <a:defRPr sz="1875" b="1">
                <a:solidFill>
                  <a:srgbClr val="152D39"/>
                </a:solidFill>
                <a:latin typeface="Arial"/>
                <a:ea typeface="Arial"/>
                <a:cs typeface="Arial"/>
              </a:defRPr>
            </a:lvl4pPr>
            <a:lvl5pPr>
              <a:defRPr sz="1875" b="1">
                <a:solidFill>
                  <a:srgbClr val="152D39"/>
                </a:solidFill>
                <a:latin typeface="Arial"/>
                <a:ea typeface="Arial"/>
                <a:cs typeface="Arial"/>
              </a:defRPr>
            </a:lvl5pPr>
            <a:lvl6pPr>
              <a:defRPr sz="1875" b="1">
                <a:solidFill>
                  <a:srgbClr val="152D39"/>
                </a:solidFill>
                <a:latin typeface="Arial"/>
                <a:ea typeface="Arial"/>
                <a:cs typeface="Arial"/>
              </a:defRPr>
            </a:lvl6pPr>
            <a:lvl7pPr>
              <a:defRPr sz="1875" b="1">
                <a:solidFill>
                  <a:srgbClr val="152D39"/>
                </a:solidFill>
                <a:latin typeface="Arial"/>
                <a:ea typeface="Arial"/>
                <a:cs typeface="Arial"/>
              </a:defRPr>
            </a:lvl7pPr>
            <a:lvl8pPr>
              <a:defRPr sz="1875" b="1">
                <a:solidFill>
                  <a:srgbClr val="152D39"/>
                </a:solidFill>
                <a:latin typeface="Arial"/>
                <a:ea typeface="Arial"/>
                <a:cs typeface="Arial"/>
              </a:defRPr>
            </a:lvl8pPr>
            <a:lvl9pPr>
              <a:defRPr sz="1875" b="1">
                <a:solidFill>
                  <a:srgbClr val="152D39"/>
                </a:solidFill>
                <a:latin typeface="Arial"/>
                <a:ea typeface="Arial"/>
                <a:cs typeface="Arial"/>
              </a:defRPr>
            </a:lvl9pPr>
          </a:lstStyle>
          <a:p xmlns:a="http://schemas.openxmlformats.org/drawingml/2006/main">
            <a:pPr>
              <a:defRPr sz="1875" b="1">
                <a:solidFill>
                  <a:srgbClr val="152D39"/>
                </a:solidFill>
                <a:latin typeface="Arial"/>
                <a:ea typeface="Arial"/>
                <a:cs typeface="Arial"/>
              </a:defRPr>
            </a:pPr>
            <a:r>
              <a:rPr sz="1875" b="1">
                <a:solidFill>
                  <a:srgbClr val="152D39"/>
                </a:solidFill>
                <a:latin typeface="Arial"/>
                <a:ea typeface="Arial"/>
                <a:cs typeface="Arial"/>
              </a:rPr>
              <a:t>RAM expert cache</a:t>
            </a:r>
          </a:p>
        </p:txBody>
      </p:sp>
      <p:sp>
        <p:nvSpPr>
          <p:cNvPr id="10" name="Reuse selected weights&#10;Prefetch likely next experts">
            <a:extLst xmlns:a="http://schemas.openxmlformats.org/drawingml/2006/main">
              <a:ext uri="{FF2B5EF4-FFF2-40B4-BE49-F238E27FC236}">
                <a16:creationId xmlns:a16="http://schemas.microsoft.com/office/drawing/2014/main" id="{85F0A969-6937-4BD4-A1E7-A3EC7F0FEBC3}"/>
              </a:ext>
            </a:extLst>
          </p:cNvPr>
          <p:cNvSpPr>
            <a:spLocks xmlns:a="http://schemas.openxmlformats.org/drawingml/2006/main" noGrp="1"/>
          </p:cNvSpPr>
          <p:nvPr/>
        </p:nvSpPr>
        <p:spPr>
          <a:xfrm xmlns:a="http://schemas.openxmlformats.org/drawingml/2006/main">
            <a:off x="4819650" y="340042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52D39"/>
                </a:solidFill>
                <a:latin typeface="Arial"/>
                <a:ea typeface="Arial"/>
                <a:cs typeface="Arial"/>
              </a:defRPr>
            </a:defPPr>
            <a:lvl1pPr>
              <a:defRPr sz="1725" b="0">
                <a:solidFill>
                  <a:srgbClr val="152D39"/>
                </a:solidFill>
                <a:latin typeface="Arial"/>
                <a:ea typeface="Arial"/>
                <a:cs typeface="Arial"/>
              </a:defRPr>
            </a:lvl1pPr>
            <a:lvl2pPr>
              <a:defRPr sz="1725" b="0">
                <a:solidFill>
                  <a:srgbClr val="152D39"/>
                </a:solidFill>
                <a:latin typeface="Arial"/>
                <a:ea typeface="Arial"/>
                <a:cs typeface="Arial"/>
              </a:defRPr>
            </a:lvl2pPr>
            <a:lvl3pPr>
              <a:defRPr sz="1725" b="0">
                <a:solidFill>
                  <a:srgbClr val="152D39"/>
                </a:solidFill>
                <a:latin typeface="Arial"/>
                <a:ea typeface="Arial"/>
                <a:cs typeface="Arial"/>
              </a:defRPr>
            </a:lvl3pPr>
            <a:lvl4pPr>
              <a:defRPr sz="1725" b="0">
                <a:solidFill>
                  <a:srgbClr val="152D39"/>
                </a:solidFill>
                <a:latin typeface="Arial"/>
                <a:ea typeface="Arial"/>
                <a:cs typeface="Arial"/>
              </a:defRPr>
            </a:lvl4pPr>
            <a:lvl5pPr>
              <a:defRPr sz="1725" b="0">
                <a:solidFill>
                  <a:srgbClr val="152D39"/>
                </a:solidFill>
                <a:latin typeface="Arial"/>
                <a:ea typeface="Arial"/>
                <a:cs typeface="Arial"/>
              </a:defRPr>
            </a:lvl5pPr>
            <a:lvl6pPr>
              <a:defRPr sz="1725" b="0">
                <a:solidFill>
                  <a:srgbClr val="152D39"/>
                </a:solidFill>
                <a:latin typeface="Arial"/>
                <a:ea typeface="Arial"/>
                <a:cs typeface="Arial"/>
              </a:defRPr>
            </a:lvl6pPr>
            <a:lvl7pPr>
              <a:defRPr sz="1725" b="0">
                <a:solidFill>
                  <a:srgbClr val="152D39"/>
                </a:solidFill>
                <a:latin typeface="Arial"/>
                <a:ea typeface="Arial"/>
                <a:cs typeface="Arial"/>
              </a:defRPr>
            </a:lvl7pPr>
            <a:lvl8pPr>
              <a:defRPr sz="1725" b="0">
                <a:solidFill>
                  <a:srgbClr val="152D39"/>
                </a:solidFill>
                <a:latin typeface="Arial"/>
                <a:ea typeface="Arial"/>
                <a:cs typeface="Arial"/>
              </a:defRPr>
            </a:lvl8pPr>
            <a:lvl9pPr>
              <a:defRPr sz="1725" b="0">
                <a:solidFill>
                  <a:srgbClr val="152D39"/>
                </a:solidFill>
                <a:latin typeface="Arial"/>
                <a:ea typeface="Arial"/>
                <a:cs typeface="Arial"/>
              </a:defRPr>
            </a:lvl9pPr>
          </a:lstStyle>
          <a:p xmlns:a="http://schemas.openxmlformats.org/drawingml/2006/main">
            <a:pPr>
              <a:defRPr sz="1725" b="0">
                <a:solidFill>
                  <a:srgbClr val="152D39"/>
                </a:solidFill>
                <a:latin typeface="Arial"/>
                <a:ea typeface="Arial"/>
                <a:cs typeface="Arial"/>
              </a:defRPr>
            </a:pPr>
            <a:r>
              <a:rPr sz="1725" b="0">
                <a:solidFill>
                  <a:srgbClr val="152D39"/>
                </a:solidFill>
                <a:latin typeface="Arial"/>
                <a:ea typeface="Arial"/>
                <a:cs typeface="Arial"/>
              </a:rPr>
              <a:t>Reuse selected weights</a:t>
            </a:r>
          </a:p>
          <a:p xmlns:a="http://schemas.openxmlformats.org/drawingml/2006/main">
            <a:pPr>
              <a:defRPr sz="1725" b="0">
                <a:solidFill>
                  <a:srgbClr val="152D39"/>
                </a:solidFill>
                <a:latin typeface="Arial"/>
                <a:ea typeface="Arial"/>
                <a:cs typeface="Arial"/>
              </a:defRPr>
            </a:pPr>
            <a:r>
              <a:rPr sz="1725" b="0">
                <a:solidFill>
                  <a:srgbClr val="152D39"/>
                </a:solidFill>
                <a:latin typeface="Arial"/>
                <a:ea typeface="Arial"/>
                <a:cs typeface="Arial"/>
              </a:rPr>
              <a:t>Prefetch likely next experts</a:t>
            </a:r>
          </a:p>
        </p:txBody>
      </p:sp>
      <p:sp>
        <p:nvSpPr>
          <p:cNvPr id="11" name="">
            <a:extLst xmlns:a="http://schemas.openxmlformats.org/drawingml/2006/main">
              <a:ext uri="{FF2B5EF4-FFF2-40B4-BE49-F238E27FC236}">
                <a16:creationId xmlns:a16="http://schemas.microsoft.com/office/drawing/2014/main" id="{A8DC6662-7ABE-4A6A-BBB4-4F7EB1A48DB5}"/>
              </a:ext>
            </a:extLst>
          </p:cNvPr>
          <p:cNvSpPr>
            <a:spLocks xmlns:a="http://schemas.openxmlformats.org/drawingml/2006/main" noGrp="1"/>
          </p:cNvSpPr>
          <p:nvPr/>
        </p:nvSpPr>
        <p:spPr>
          <a:xfrm xmlns:a="http://schemas.openxmlformats.org/drawingml/2006/main">
            <a:off x="8496300" y="2543175"/>
            <a:ext cx="2952750" cy="1828800"/>
          </a:xfrm>
          <a:prstGeom xmlns:a="http://schemas.openxmlformats.org/drawingml/2006/main" prst="rect">
            <a:avLst/>
          </a:prstGeom>
          <a:solidFill xmlns:a="http://schemas.openxmlformats.org/drawingml/2006/main">
            <a:srgbClr val="152D39"/>
          </a:solidFill>
          <a:ln xmlns:a="http://schemas.openxmlformats.org/drawingml/2006/main" w="0">
            <a:noFill/>
          </a:ln>
        </p:spPr>
      </p:sp>
      <p:sp>
        <p:nvSpPr>
          <p:cNvPr id="12" name="Qwen computation">
            <a:extLst xmlns:a="http://schemas.openxmlformats.org/drawingml/2006/main">
              <a:ext uri="{FF2B5EF4-FFF2-40B4-BE49-F238E27FC236}">
                <a16:creationId xmlns:a16="http://schemas.microsoft.com/office/drawing/2014/main" id="{EF24E110-B59E-4B66-8E41-1DB6C7C6F3EC}"/>
              </a:ext>
            </a:extLst>
          </p:cNvPr>
          <p:cNvSpPr>
            <a:spLocks xmlns:a="http://schemas.openxmlformats.org/drawingml/2006/main" noGrp="1"/>
          </p:cNvSpPr>
          <p:nvPr/>
        </p:nvSpPr>
        <p:spPr>
          <a:xfrm xmlns:a="http://schemas.openxmlformats.org/drawingml/2006/main">
            <a:off x="8705850" y="28003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Qwen computation</a:t>
            </a:r>
          </a:p>
        </p:txBody>
      </p:sp>
      <p:sp>
        <p:nvSpPr>
          <p:cNvPr id="13" name="Use the selected experts&#10;Generate the next token">
            <a:extLst xmlns:a="http://schemas.openxmlformats.org/drawingml/2006/main">
              <a:ext uri="{FF2B5EF4-FFF2-40B4-BE49-F238E27FC236}">
                <a16:creationId xmlns:a16="http://schemas.microsoft.com/office/drawing/2014/main" id="{F625324F-BD21-4FD5-AF42-3F99B99CC329}"/>
              </a:ext>
            </a:extLst>
          </p:cNvPr>
          <p:cNvSpPr>
            <a:spLocks xmlns:a="http://schemas.openxmlformats.org/drawingml/2006/main" noGrp="1"/>
          </p:cNvSpPr>
          <p:nvPr/>
        </p:nvSpPr>
        <p:spPr>
          <a:xfrm xmlns:a="http://schemas.openxmlformats.org/drawingml/2006/main">
            <a:off x="8705850" y="340042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Use the selected experts</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Generate the next token</a:t>
            </a:r>
          </a:p>
        </p:txBody>
      </p:sp>
      <p:sp>
        <p:nvSpPr>
          <p:cNvPr id="14" name="">
            <a:extLst xmlns:a="http://schemas.openxmlformats.org/drawingml/2006/main">
              <a:ext uri="{FF2B5EF4-FFF2-40B4-BE49-F238E27FC236}">
                <a16:creationId xmlns:a16="http://schemas.microsoft.com/office/drawing/2014/main" id="{E7118229-6D87-4318-8B56-527DCD94C795}"/>
              </a:ext>
            </a:extLst>
          </p:cNvPr>
          <p:cNvSpPr>
            <a:spLocks xmlns:a="http://schemas.openxmlformats.org/drawingml/2006/main" noGrp="1"/>
          </p:cNvSpPr>
          <p:nvPr/>
        </p:nvSpPr>
        <p:spPr>
          <a:xfrm xmlns:a="http://schemas.openxmlformats.org/drawingml/2006/main">
            <a:off x="3838575" y="3181350"/>
            <a:ext cx="590550" cy="304800"/>
          </a:xfrm>
          <a:prstGeom xmlns:a="http://schemas.openxmlformats.org/drawingml/2006/main" prst="rightArrow">
            <a:avLst/>
          </a:prstGeom>
          <a:solidFill xmlns:a="http://schemas.openxmlformats.org/drawingml/2006/main">
            <a:srgbClr val="008B8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A51D46C-E261-4F22-AA61-DF29C296FFD7}"/>
              </a:ext>
            </a:extLst>
          </p:cNvPr>
          <p:cNvSpPr>
            <a:spLocks xmlns:a="http://schemas.openxmlformats.org/drawingml/2006/main" noGrp="1"/>
          </p:cNvSpPr>
          <p:nvPr/>
        </p:nvSpPr>
        <p:spPr>
          <a:xfrm xmlns:a="http://schemas.openxmlformats.org/drawingml/2006/main">
            <a:off x="7724775" y="3181350"/>
            <a:ext cx="590550" cy="304800"/>
          </a:xfrm>
          <a:prstGeom xmlns:a="http://schemas.openxmlformats.org/drawingml/2006/main" prst="rightArrow">
            <a:avLst/>
          </a:prstGeom>
          <a:solidFill xmlns:a="http://schemas.openxmlformats.org/drawingml/2006/main">
            <a:srgbClr val="008B83"/>
          </a:solidFill>
          <a:ln xmlns:a="http://schemas.openxmlformats.org/drawingml/2006/main" w="0">
            <a:noFill/>
          </a:ln>
        </p:spPr>
      </p:sp>
      <p:sp>
        <p:nvSpPr>
          <p:cNvPr id="16" name="Cache capacity follows the memory budget.">
            <a:extLst xmlns:a="http://schemas.openxmlformats.org/drawingml/2006/main">
              <a:ext uri="{FF2B5EF4-FFF2-40B4-BE49-F238E27FC236}">
                <a16:creationId xmlns:a16="http://schemas.microsoft.com/office/drawing/2014/main" id="{79887FC7-5295-4AA2-90A0-0BB458240FEE}"/>
              </a:ext>
            </a:extLst>
          </p:cNvPr>
          <p:cNvSpPr>
            <a:spLocks xmlns:a="http://schemas.openxmlformats.org/drawingml/2006/main" noGrp="1"/>
          </p:cNvSpPr>
          <p:nvPr/>
        </p:nvSpPr>
        <p:spPr>
          <a:xfrm xmlns:a="http://schemas.openxmlformats.org/drawingml/2006/main">
            <a:off x="733425" y="4953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8B83"/>
                </a:solidFill>
                <a:latin typeface="Arial"/>
                <a:ea typeface="Arial"/>
                <a:cs typeface="Arial"/>
              </a:defRPr>
            </a:defPPr>
            <a:lvl1pPr>
              <a:defRPr sz="2400" b="1">
                <a:solidFill>
                  <a:srgbClr val="008B83"/>
                </a:solidFill>
                <a:latin typeface="Arial"/>
                <a:ea typeface="Arial"/>
                <a:cs typeface="Arial"/>
              </a:defRPr>
            </a:lvl1pPr>
            <a:lvl2pPr>
              <a:defRPr sz="2400" b="1">
                <a:solidFill>
                  <a:srgbClr val="008B83"/>
                </a:solidFill>
                <a:latin typeface="Arial"/>
                <a:ea typeface="Arial"/>
                <a:cs typeface="Arial"/>
              </a:defRPr>
            </a:lvl2pPr>
            <a:lvl3pPr>
              <a:defRPr sz="2400" b="1">
                <a:solidFill>
                  <a:srgbClr val="008B83"/>
                </a:solidFill>
                <a:latin typeface="Arial"/>
                <a:ea typeface="Arial"/>
                <a:cs typeface="Arial"/>
              </a:defRPr>
            </a:lvl3pPr>
            <a:lvl4pPr>
              <a:defRPr sz="2400" b="1">
                <a:solidFill>
                  <a:srgbClr val="008B83"/>
                </a:solidFill>
                <a:latin typeface="Arial"/>
                <a:ea typeface="Arial"/>
                <a:cs typeface="Arial"/>
              </a:defRPr>
            </a:lvl4pPr>
            <a:lvl5pPr>
              <a:defRPr sz="2400" b="1">
                <a:solidFill>
                  <a:srgbClr val="008B83"/>
                </a:solidFill>
                <a:latin typeface="Arial"/>
                <a:ea typeface="Arial"/>
                <a:cs typeface="Arial"/>
              </a:defRPr>
            </a:lvl5pPr>
            <a:lvl6pPr>
              <a:defRPr sz="2400" b="1">
                <a:solidFill>
                  <a:srgbClr val="008B83"/>
                </a:solidFill>
                <a:latin typeface="Arial"/>
                <a:ea typeface="Arial"/>
                <a:cs typeface="Arial"/>
              </a:defRPr>
            </a:lvl6pPr>
            <a:lvl7pPr>
              <a:defRPr sz="2400" b="1">
                <a:solidFill>
                  <a:srgbClr val="008B83"/>
                </a:solidFill>
                <a:latin typeface="Arial"/>
                <a:ea typeface="Arial"/>
                <a:cs typeface="Arial"/>
              </a:defRPr>
            </a:lvl7pPr>
            <a:lvl8pPr>
              <a:defRPr sz="2400" b="1">
                <a:solidFill>
                  <a:srgbClr val="008B83"/>
                </a:solidFill>
                <a:latin typeface="Arial"/>
                <a:ea typeface="Arial"/>
                <a:cs typeface="Arial"/>
              </a:defRPr>
            </a:lvl8pPr>
            <a:lvl9pPr>
              <a:defRPr sz="2400" b="1">
                <a:solidFill>
                  <a:srgbClr val="008B83"/>
                </a:solidFill>
                <a:latin typeface="Arial"/>
                <a:ea typeface="Arial"/>
                <a:cs typeface="Arial"/>
              </a:defRPr>
            </a:lvl9pPr>
          </a:lstStyle>
          <a:p xmlns:a="http://schemas.openxmlformats.org/drawingml/2006/main">
            <a:pPr>
              <a:defRPr sz="2400" b="1">
                <a:solidFill>
                  <a:srgbClr val="008B83"/>
                </a:solidFill>
                <a:latin typeface="Arial"/>
                <a:ea typeface="Arial"/>
                <a:cs typeface="Arial"/>
              </a:defRPr>
            </a:pPr>
            <a:r>
              <a:rPr sz="2400" b="1">
                <a:solidFill>
                  <a:srgbClr val="008B83"/>
                </a:solidFill>
                <a:latin typeface="Arial"/>
                <a:ea typeface="Arial"/>
                <a:cs typeface="Arial"/>
              </a:rPr>
              <a:t>Cache capacity follows the memory budget.</a:t>
            </a:r>
          </a:p>
        </p:txBody>
      </p:sp>
      <p:sp>
        <p:nvSpPr>
          <p:cNvPr id="17" name="LeanMoE changes how weights reach RAM. Qwen still suppl">
            <a:extLst xmlns:a="http://schemas.openxmlformats.org/drawingml/2006/main">
              <a:ext uri="{FF2B5EF4-FFF2-40B4-BE49-F238E27FC236}">
                <a16:creationId xmlns:a16="http://schemas.microsoft.com/office/drawing/2014/main" id="{40687CFF-789A-4EEB-809B-7BC0F03F55F5}"/>
              </a:ext>
            </a:extLst>
          </p:cNvPr>
          <p:cNvSpPr>
            <a:spLocks xmlns:a="http://schemas.openxmlformats.org/drawingml/2006/main" noGrp="1"/>
          </p:cNvSpPr>
          <p:nvPr/>
        </p:nvSpPr>
        <p:spPr>
          <a:xfrm xmlns:a="http://schemas.openxmlformats.org/drawingml/2006/main">
            <a:off x="733425" y="5572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36A"/>
                </a:solidFill>
                <a:latin typeface="Arial"/>
                <a:ea typeface="Arial"/>
                <a:cs typeface="Arial"/>
              </a:defRPr>
            </a:defPPr>
            <a:lvl1pPr>
              <a:defRPr sz="1800" b="0">
                <a:solidFill>
                  <a:srgbClr val="52636A"/>
                </a:solidFill>
                <a:latin typeface="Arial"/>
                <a:ea typeface="Arial"/>
                <a:cs typeface="Arial"/>
              </a:defRPr>
            </a:lvl1pPr>
            <a:lvl2pPr>
              <a:defRPr sz="1800" b="0">
                <a:solidFill>
                  <a:srgbClr val="52636A"/>
                </a:solidFill>
                <a:latin typeface="Arial"/>
                <a:ea typeface="Arial"/>
                <a:cs typeface="Arial"/>
              </a:defRPr>
            </a:lvl2pPr>
            <a:lvl3pPr>
              <a:defRPr sz="1800" b="0">
                <a:solidFill>
                  <a:srgbClr val="52636A"/>
                </a:solidFill>
                <a:latin typeface="Arial"/>
                <a:ea typeface="Arial"/>
                <a:cs typeface="Arial"/>
              </a:defRPr>
            </a:lvl3pPr>
            <a:lvl4pPr>
              <a:defRPr sz="1800" b="0">
                <a:solidFill>
                  <a:srgbClr val="52636A"/>
                </a:solidFill>
                <a:latin typeface="Arial"/>
                <a:ea typeface="Arial"/>
                <a:cs typeface="Arial"/>
              </a:defRPr>
            </a:lvl4pPr>
            <a:lvl5pPr>
              <a:defRPr sz="1800" b="0">
                <a:solidFill>
                  <a:srgbClr val="52636A"/>
                </a:solidFill>
                <a:latin typeface="Arial"/>
                <a:ea typeface="Arial"/>
                <a:cs typeface="Arial"/>
              </a:defRPr>
            </a:lvl5pPr>
            <a:lvl6pPr>
              <a:defRPr sz="1800" b="0">
                <a:solidFill>
                  <a:srgbClr val="52636A"/>
                </a:solidFill>
                <a:latin typeface="Arial"/>
                <a:ea typeface="Arial"/>
                <a:cs typeface="Arial"/>
              </a:defRPr>
            </a:lvl6pPr>
            <a:lvl7pPr>
              <a:defRPr sz="1800" b="0">
                <a:solidFill>
                  <a:srgbClr val="52636A"/>
                </a:solidFill>
                <a:latin typeface="Arial"/>
                <a:ea typeface="Arial"/>
                <a:cs typeface="Arial"/>
              </a:defRPr>
            </a:lvl7pPr>
            <a:lvl8pPr>
              <a:defRPr sz="1800" b="0">
                <a:solidFill>
                  <a:srgbClr val="52636A"/>
                </a:solidFill>
                <a:latin typeface="Arial"/>
                <a:ea typeface="Arial"/>
                <a:cs typeface="Arial"/>
              </a:defRPr>
            </a:lvl8pPr>
            <a:lvl9pPr>
              <a:defRPr sz="1800" b="0">
                <a:solidFill>
                  <a:srgbClr val="52636A"/>
                </a:solidFill>
                <a:latin typeface="Arial"/>
                <a:ea typeface="Arial"/>
                <a:cs typeface="Arial"/>
              </a:defRPr>
            </a:lvl9pPr>
          </a:lstStyle>
          <a:p xmlns:a="http://schemas.openxmlformats.org/drawingml/2006/main">
            <a:pPr>
              <a:defRPr sz="1800" b="0">
                <a:solidFill>
                  <a:srgbClr val="52636A"/>
                </a:solidFill>
                <a:latin typeface="Arial"/>
                <a:ea typeface="Arial"/>
                <a:cs typeface="Arial"/>
              </a:defRPr>
            </a:pPr>
            <a:r>
              <a:rPr sz="1800" b="0">
                <a:solidFill>
                  <a:srgbClr val="52636A"/>
                </a:solidFill>
                <a:latin typeface="Arial"/>
                <a:ea typeface="Arial"/>
                <a:cs typeface="Arial"/>
              </a:rPr>
              <a:t>LeanMoE changes how weights reach RAM. Qwen still supplies the answers.</a:t>
            </a:r>
          </a:p>
        </p:txBody>
      </p:sp>
    </p:spTree>
    <p:extLst>
      <p:ext uri="{BB962C8B-B14F-4D97-AF65-F5344CB8AC3E}">
        <p14:creationId xmlns:p14="http://schemas.microsoft.com/office/powerpoint/2010/main" val="174959904"/>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he laptop benchmark: 2.07× mean throughput">
            <a:extLst xmlns:a="http://schemas.openxmlformats.org/drawingml/2006/main">
              <a:ext uri="{FF2B5EF4-FFF2-40B4-BE49-F238E27FC236}">
                <a16:creationId xmlns:a16="http://schemas.microsoft.com/office/drawing/2014/main" id="{DFD60864-FD52-4D4C-9210-E94D12F5780A}"/>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52D39"/>
                </a:solidFill>
                <a:latin typeface="Arial"/>
                <a:ea typeface="Arial"/>
                <a:cs typeface="Arial"/>
              </a:defRPr>
            </a:defPPr>
            <a:lvl1pPr>
              <a:defRPr sz="3375" b="1">
                <a:solidFill>
                  <a:srgbClr val="152D39"/>
                </a:solidFill>
                <a:latin typeface="Arial"/>
                <a:ea typeface="Arial"/>
                <a:cs typeface="Arial"/>
              </a:defRPr>
            </a:lvl1pPr>
            <a:lvl2pPr>
              <a:defRPr sz="3375" b="1">
                <a:solidFill>
                  <a:srgbClr val="152D39"/>
                </a:solidFill>
                <a:latin typeface="Arial"/>
                <a:ea typeface="Arial"/>
                <a:cs typeface="Arial"/>
              </a:defRPr>
            </a:lvl2pPr>
            <a:lvl3pPr>
              <a:defRPr sz="3375" b="1">
                <a:solidFill>
                  <a:srgbClr val="152D39"/>
                </a:solidFill>
                <a:latin typeface="Arial"/>
                <a:ea typeface="Arial"/>
                <a:cs typeface="Arial"/>
              </a:defRPr>
            </a:lvl3pPr>
            <a:lvl4pPr>
              <a:defRPr sz="3375" b="1">
                <a:solidFill>
                  <a:srgbClr val="152D39"/>
                </a:solidFill>
                <a:latin typeface="Arial"/>
                <a:ea typeface="Arial"/>
                <a:cs typeface="Arial"/>
              </a:defRPr>
            </a:lvl4pPr>
            <a:lvl5pPr>
              <a:defRPr sz="3375" b="1">
                <a:solidFill>
                  <a:srgbClr val="152D39"/>
                </a:solidFill>
                <a:latin typeface="Arial"/>
                <a:ea typeface="Arial"/>
                <a:cs typeface="Arial"/>
              </a:defRPr>
            </a:lvl5pPr>
            <a:lvl6pPr>
              <a:defRPr sz="3375" b="1">
                <a:solidFill>
                  <a:srgbClr val="152D39"/>
                </a:solidFill>
                <a:latin typeface="Arial"/>
                <a:ea typeface="Arial"/>
                <a:cs typeface="Arial"/>
              </a:defRPr>
            </a:lvl6pPr>
            <a:lvl7pPr>
              <a:defRPr sz="3375" b="1">
                <a:solidFill>
                  <a:srgbClr val="152D39"/>
                </a:solidFill>
                <a:latin typeface="Arial"/>
                <a:ea typeface="Arial"/>
                <a:cs typeface="Arial"/>
              </a:defRPr>
            </a:lvl7pPr>
            <a:lvl8pPr>
              <a:defRPr sz="3375" b="1">
                <a:solidFill>
                  <a:srgbClr val="152D39"/>
                </a:solidFill>
                <a:latin typeface="Arial"/>
                <a:ea typeface="Arial"/>
                <a:cs typeface="Arial"/>
              </a:defRPr>
            </a:lvl8pPr>
            <a:lvl9pPr>
              <a:defRPr sz="3375" b="1">
                <a:solidFill>
                  <a:srgbClr val="152D39"/>
                </a:solidFill>
                <a:latin typeface="Arial"/>
                <a:ea typeface="Arial"/>
                <a:cs typeface="Arial"/>
              </a:defRPr>
            </a:lvl9pPr>
          </a:lstStyle>
          <a:p xmlns:a="http://schemas.openxmlformats.org/drawingml/2006/main">
            <a:pPr>
              <a:defRPr sz="3375" b="1">
                <a:solidFill>
                  <a:srgbClr val="152D39"/>
                </a:solidFill>
                <a:latin typeface="Arial"/>
                <a:ea typeface="Arial"/>
                <a:cs typeface="Arial"/>
              </a:defRPr>
            </a:pPr>
            <a:r>
              <a:rPr sz="3375" b="1">
                <a:solidFill>
                  <a:srgbClr val="152D39"/>
                </a:solidFill>
                <a:latin typeface="Arial"/>
                <a:ea typeface="Arial"/>
                <a:cs typeface="Arial"/>
              </a:rPr>
              <a:t>The laptop benchmark: 2.07× mean throughput</a:t>
            </a:r>
          </a:p>
        </p:txBody>
      </p:sp>
      <p:sp>
        <p:nvSpPr>
          <p:cNvPr id="2" name="LeanMoE">
            <a:extLst xmlns:a="http://schemas.openxmlformats.org/drawingml/2006/main">
              <a:ext uri="{FF2B5EF4-FFF2-40B4-BE49-F238E27FC236}">
                <a16:creationId xmlns:a16="http://schemas.microsoft.com/office/drawing/2014/main" id="{B1529890-445F-49DD-B3BD-6DBBD3AB71DB}"/>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LeanMoE</a:t>
            </a:r>
          </a:p>
        </p:txBody>
      </p:sp>
      <p:sp>
        <p:nvSpPr>
          <p:cNvPr id="3" name="04">
            <a:extLst xmlns:a="http://schemas.openxmlformats.org/drawingml/2006/main">
              <a:ext uri="{FF2B5EF4-FFF2-40B4-BE49-F238E27FC236}">
                <a16:creationId xmlns:a16="http://schemas.microsoft.com/office/drawing/2014/main" id="{86DC021F-01C0-461B-BFBF-417D456D8A4A}"/>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04</a:t>
            </a:r>
          </a:p>
        </p:txBody>
      </p:sp>
      <p:sp>
        <p:nvSpPr>
          <p:cNvPr id="4" name="Decode tokens per second · higher is faster">
            <a:extLst xmlns:a="http://schemas.openxmlformats.org/drawingml/2006/main">
              <a:ext uri="{FF2B5EF4-FFF2-40B4-BE49-F238E27FC236}">
                <a16:creationId xmlns:a16="http://schemas.microsoft.com/office/drawing/2014/main" id="{46D9B658-8E4E-4CCE-A1C6-646D0CF64D37}"/>
              </a:ext>
            </a:extLst>
          </p:cNvPr>
          <p:cNvSpPr>
            <a:spLocks xmlns:a="http://schemas.openxmlformats.org/drawingml/2006/main" noGrp="1"/>
          </p:cNvSpPr>
          <p:nvPr/>
        </p:nvSpPr>
        <p:spPr>
          <a:xfrm xmlns:a="http://schemas.openxmlformats.org/drawingml/2006/main">
            <a:off x="733425" y="1514475"/>
            <a:ext cx="923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36A"/>
                </a:solidFill>
                <a:latin typeface="Arial"/>
                <a:ea typeface="Arial"/>
                <a:cs typeface="Arial"/>
              </a:defRPr>
            </a:defPPr>
            <a:lvl1pPr>
              <a:defRPr sz="1800" b="0">
                <a:solidFill>
                  <a:srgbClr val="52636A"/>
                </a:solidFill>
                <a:latin typeface="Arial"/>
                <a:ea typeface="Arial"/>
                <a:cs typeface="Arial"/>
              </a:defRPr>
            </a:lvl1pPr>
            <a:lvl2pPr>
              <a:defRPr sz="1800" b="0">
                <a:solidFill>
                  <a:srgbClr val="52636A"/>
                </a:solidFill>
                <a:latin typeface="Arial"/>
                <a:ea typeface="Arial"/>
                <a:cs typeface="Arial"/>
              </a:defRPr>
            </a:lvl2pPr>
            <a:lvl3pPr>
              <a:defRPr sz="1800" b="0">
                <a:solidFill>
                  <a:srgbClr val="52636A"/>
                </a:solidFill>
                <a:latin typeface="Arial"/>
                <a:ea typeface="Arial"/>
                <a:cs typeface="Arial"/>
              </a:defRPr>
            </a:lvl3pPr>
            <a:lvl4pPr>
              <a:defRPr sz="1800" b="0">
                <a:solidFill>
                  <a:srgbClr val="52636A"/>
                </a:solidFill>
                <a:latin typeface="Arial"/>
                <a:ea typeface="Arial"/>
                <a:cs typeface="Arial"/>
              </a:defRPr>
            </a:lvl4pPr>
            <a:lvl5pPr>
              <a:defRPr sz="1800" b="0">
                <a:solidFill>
                  <a:srgbClr val="52636A"/>
                </a:solidFill>
                <a:latin typeface="Arial"/>
                <a:ea typeface="Arial"/>
                <a:cs typeface="Arial"/>
              </a:defRPr>
            </a:lvl5pPr>
            <a:lvl6pPr>
              <a:defRPr sz="1800" b="0">
                <a:solidFill>
                  <a:srgbClr val="52636A"/>
                </a:solidFill>
                <a:latin typeface="Arial"/>
                <a:ea typeface="Arial"/>
                <a:cs typeface="Arial"/>
              </a:defRPr>
            </a:lvl6pPr>
            <a:lvl7pPr>
              <a:defRPr sz="1800" b="0">
                <a:solidFill>
                  <a:srgbClr val="52636A"/>
                </a:solidFill>
                <a:latin typeface="Arial"/>
                <a:ea typeface="Arial"/>
                <a:cs typeface="Arial"/>
              </a:defRPr>
            </a:lvl7pPr>
            <a:lvl8pPr>
              <a:defRPr sz="1800" b="0">
                <a:solidFill>
                  <a:srgbClr val="52636A"/>
                </a:solidFill>
                <a:latin typeface="Arial"/>
                <a:ea typeface="Arial"/>
                <a:cs typeface="Arial"/>
              </a:defRPr>
            </a:lvl8pPr>
            <a:lvl9pPr>
              <a:defRPr sz="1800" b="0">
                <a:solidFill>
                  <a:srgbClr val="52636A"/>
                </a:solidFill>
                <a:latin typeface="Arial"/>
                <a:ea typeface="Arial"/>
                <a:cs typeface="Arial"/>
              </a:defRPr>
            </a:lvl9pPr>
          </a:lstStyle>
          <a:p xmlns:a="http://schemas.openxmlformats.org/drawingml/2006/main">
            <a:pPr>
              <a:defRPr sz="1800" b="0">
                <a:solidFill>
                  <a:srgbClr val="52636A"/>
                </a:solidFill>
                <a:latin typeface="Arial"/>
                <a:ea typeface="Arial"/>
                <a:cs typeface="Arial"/>
              </a:defRPr>
            </a:pPr>
            <a:r>
              <a:rPr sz="1800" b="0">
                <a:solidFill>
                  <a:srgbClr val="52636A"/>
                </a:solidFill>
                <a:latin typeface="Arial"/>
                <a:ea typeface="Arial"/>
                <a:cs typeface="Arial"/>
              </a:rPr>
              <a:t>Decode tokens per second · higher is faster</a:t>
            </a:r>
          </a:p>
        </p:txBody>
      </p:sp>
      <p:graphicFrame>
        <p:nvGraphicFramePr>
          <p:cNvPr id="5" name="Chart">
            <a:extLst xmlns:a="http://schemas.openxmlformats.org/drawingml/2006/main">
              <a:ext uri="{FF2B5EF4-FFF2-40B4-BE49-F238E27FC236}">
                <a16:creationId xmlns:a16="http://schemas.microsoft.com/office/drawing/2014/main" id="{403FD669-700F-4255-B320-9B7EEE2C4EE1}"/>
              </a:ext>
            </a:extLst>
          </p:cNvPr>
          <p:cNvGraphicFramePr/>
          <p:nvPr/>
        </p:nvGraphicFramePr>
        <p:xfrm>
          <a:off xmlns:a="http://schemas.openxmlformats.org/drawingml/2006/main" x="685800" y="2124075"/>
          <a:ext xmlns:a="http://schemas.openxmlformats.org/drawingml/2006/main" cx="7620000" cy="3152775"/>
        </p:xfrm>
        <a:graphic xmlns:a="http://schemas.openxmlformats.org/drawingml/2006/main">
          <a:graphicData uri="http://schemas.openxmlformats.org/drawingml/2006/chart">
            <c:chart xmlns:r="http://schemas.openxmlformats.org/officeDocument/2006/relationships" xmlns:c="http://schemas.openxmlformats.org/drawingml/2006/chart" r:id="R639a2515481544af"/>
          </a:graphicData>
        </a:graphic>
      </p:graphicFrame>
      <p:sp>
        <p:nvSpPr>
          <p:cNvPr id="6" name="5 / 6">
            <a:extLst xmlns:a="http://schemas.openxmlformats.org/drawingml/2006/main">
              <a:ext uri="{FF2B5EF4-FFF2-40B4-BE49-F238E27FC236}">
                <a16:creationId xmlns:a16="http://schemas.microsoft.com/office/drawing/2014/main" id="{94E13D88-6EBA-4FD3-BD81-4F4D2F14495A}"/>
              </a:ext>
            </a:extLst>
          </p:cNvPr>
          <p:cNvSpPr>
            <a:spLocks xmlns:a="http://schemas.openxmlformats.org/drawingml/2006/main" noGrp="1"/>
          </p:cNvSpPr>
          <p:nvPr/>
        </p:nvSpPr>
        <p:spPr>
          <a:xfrm xmlns:a="http://schemas.openxmlformats.org/drawingml/2006/main">
            <a:off x="8763000" y="2314575"/>
            <a:ext cx="266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008B83"/>
                </a:solidFill>
                <a:latin typeface="Arial"/>
                <a:ea typeface="Arial"/>
                <a:cs typeface="Arial"/>
              </a:defRPr>
            </a:defPPr>
            <a:lvl1pPr>
              <a:defRPr sz="4875" b="1">
                <a:solidFill>
                  <a:srgbClr val="008B83"/>
                </a:solidFill>
                <a:latin typeface="Arial"/>
                <a:ea typeface="Arial"/>
                <a:cs typeface="Arial"/>
              </a:defRPr>
            </a:lvl1pPr>
            <a:lvl2pPr>
              <a:defRPr sz="4875" b="1">
                <a:solidFill>
                  <a:srgbClr val="008B83"/>
                </a:solidFill>
                <a:latin typeface="Arial"/>
                <a:ea typeface="Arial"/>
                <a:cs typeface="Arial"/>
              </a:defRPr>
            </a:lvl2pPr>
            <a:lvl3pPr>
              <a:defRPr sz="4875" b="1">
                <a:solidFill>
                  <a:srgbClr val="008B83"/>
                </a:solidFill>
                <a:latin typeface="Arial"/>
                <a:ea typeface="Arial"/>
                <a:cs typeface="Arial"/>
              </a:defRPr>
            </a:lvl3pPr>
            <a:lvl4pPr>
              <a:defRPr sz="4875" b="1">
                <a:solidFill>
                  <a:srgbClr val="008B83"/>
                </a:solidFill>
                <a:latin typeface="Arial"/>
                <a:ea typeface="Arial"/>
                <a:cs typeface="Arial"/>
              </a:defRPr>
            </a:lvl4pPr>
            <a:lvl5pPr>
              <a:defRPr sz="4875" b="1">
                <a:solidFill>
                  <a:srgbClr val="008B83"/>
                </a:solidFill>
                <a:latin typeface="Arial"/>
                <a:ea typeface="Arial"/>
                <a:cs typeface="Arial"/>
              </a:defRPr>
            </a:lvl5pPr>
            <a:lvl6pPr>
              <a:defRPr sz="4875" b="1">
                <a:solidFill>
                  <a:srgbClr val="008B83"/>
                </a:solidFill>
                <a:latin typeface="Arial"/>
                <a:ea typeface="Arial"/>
                <a:cs typeface="Arial"/>
              </a:defRPr>
            </a:lvl6pPr>
            <a:lvl7pPr>
              <a:defRPr sz="4875" b="1">
                <a:solidFill>
                  <a:srgbClr val="008B83"/>
                </a:solidFill>
                <a:latin typeface="Arial"/>
                <a:ea typeface="Arial"/>
                <a:cs typeface="Arial"/>
              </a:defRPr>
            </a:lvl7pPr>
            <a:lvl8pPr>
              <a:defRPr sz="4875" b="1">
                <a:solidFill>
                  <a:srgbClr val="008B83"/>
                </a:solidFill>
                <a:latin typeface="Arial"/>
                <a:ea typeface="Arial"/>
                <a:cs typeface="Arial"/>
              </a:defRPr>
            </a:lvl8pPr>
            <a:lvl9pPr>
              <a:defRPr sz="4875" b="1">
                <a:solidFill>
                  <a:srgbClr val="008B83"/>
                </a:solidFill>
                <a:latin typeface="Arial"/>
                <a:ea typeface="Arial"/>
                <a:cs typeface="Arial"/>
              </a:defRPr>
            </a:lvl9pPr>
          </a:lstStyle>
          <a:p xmlns:a="http://schemas.openxmlformats.org/drawingml/2006/main">
            <a:pPr>
              <a:defRPr sz="4875" b="1">
                <a:solidFill>
                  <a:srgbClr val="008B83"/>
                </a:solidFill>
                <a:latin typeface="Arial"/>
                <a:ea typeface="Arial"/>
                <a:cs typeface="Arial"/>
              </a:defRPr>
            </a:pPr>
            <a:r>
              <a:rPr sz="4875" b="1">
                <a:solidFill>
                  <a:srgbClr val="008B83"/>
                </a:solidFill>
                <a:latin typeface="Arial"/>
                <a:ea typeface="Arial"/>
                <a:cs typeface="Arial"/>
              </a:rPr>
              <a:t>5 / 6</a:t>
            </a:r>
          </a:p>
        </p:txBody>
      </p:sp>
      <p:sp>
        <p:nvSpPr>
          <p:cNvPr id="7" name="matched runs&#10;were faster">
            <a:extLst xmlns:a="http://schemas.openxmlformats.org/drawingml/2006/main">
              <a:ext uri="{FF2B5EF4-FFF2-40B4-BE49-F238E27FC236}">
                <a16:creationId xmlns:a16="http://schemas.microsoft.com/office/drawing/2014/main" id="{BC31C8F6-E3DD-4589-85DE-282578C38C81}"/>
              </a:ext>
            </a:extLst>
          </p:cNvPr>
          <p:cNvSpPr>
            <a:spLocks xmlns:a="http://schemas.openxmlformats.org/drawingml/2006/main" noGrp="1"/>
          </p:cNvSpPr>
          <p:nvPr/>
        </p:nvSpPr>
        <p:spPr>
          <a:xfrm xmlns:a="http://schemas.openxmlformats.org/drawingml/2006/main">
            <a:off x="8791575" y="3286125"/>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52D39"/>
                </a:solidFill>
                <a:latin typeface="Arial"/>
                <a:ea typeface="Arial"/>
                <a:cs typeface="Arial"/>
              </a:defRPr>
            </a:defPPr>
            <a:lvl1pPr>
              <a:defRPr sz="2100" b="1">
                <a:solidFill>
                  <a:srgbClr val="152D39"/>
                </a:solidFill>
                <a:latin typeface="Arial"/>
                <a:ea typeface="Arial"/>
                <a:cs typeface="Arial"/>
              </a:defRPr>
            </a:lvl1pPr>
            <a:lvl2pPr>
              <a:defRPr sz="2100" b="1">
                <a:solidFill>
                  <a:srgbClr val="152D39"/>
                </a:solidFill>
                <a:latin typeface="Arial"/>
                <a:ea typeface="Arial"/>
                <a:cs typeface="Arial"/>
              </a:defRPr>
            </a:lvl2pPr>
            <a:lvl3pPr>
              <a:defRPr sz="2100" b="1">
                <a:solidFill>
                  <a:srgbClr val="152D39"/>
                </a:solidFill>
                <a:latin typeface="Arial"/>
                <a:ea typeface="Arial"/>
                <a:cs typeface="Arial"/>
              </a:defRPr>
            </a:lvl3pPr>
            <a:lvl4pPr>
              <a:defRPr sz="2100" b="1">
                <a:solidFill>
                  <a:srgbClr val="152D39"/>
                </a:solidFill>
                <a:latin typeface="Arial"/>
                <a:ea typeface="Arial"/>
                <a:cs typeface="Arial"/>
              </a:defRPr>
            </a:lvl4pPr>
            <a:lvl5pPr>
              <a:defRPr sz="2100" b="1">
                <a:solidFill>
                  <a:srgbClr val="152D39"/>
                </a:solidFill>
                <a:latin typeface="Arial"/>
                <a:ea typeface="Arial"/>
                <a:cs typeface="Arial"/>
              </a:defRPr>
            </a:lvl5pPr>
            <a:lvl6pPr>
              <a:defRPr sz="2100" b="1">
                <a:solidFill>
                  <a:srgbClr val="152D39"/>
                </a:solidFill>
                <a:latin typeface="Arial"/>
                <a:ea typeface="Arial"/>
                <a:cs typeface="Arial"/>
              </a:defRPr>
            </a:lvl6pPr>
            <a:lvl7pPr>
              <a:defRPr sz="2100" b="1">
                <a:solidFill>
                  <a:srgbClr val="152D39"/>
                </a:solidFill>
                <a:latin typeface="Arial"/>
                <a:ea typeface="Arial"/>
                <a:cs typeface="Arial"/>
              </a:defRPr>
            </a:lvl7pPr>
            <a:lvl8pPr>
              <a:defRPr sz="2100" b="1">
                <a:solidFill>
                  <a:srgbClr val="152D39"/>
                </a:solidFill>
                <a:latin typeface="Arial"/>
                <a:ea typeface="Arial"/>
                <a:cs typeface="Arial"/>
              </a:defRPr>
            </a:lvl8pPr>
            <a:lvl9pPr>
              <a:defRPr sz="2100" b="1">
                <a:solidFill>
                  <a:srgbClr val="152D39"/>
                </a:solidFill>
                <a:latin typeface="Arial"/>
                <a:ea typeface="Arial"/>
                <a:cs typeface="Arial"/>
              </a:defRPr>
            </a:lvl9pPr>
          </a:lstStyle>
          <a:p xmlns:a="http://schemas.openxmlformats.org/drawingml/2006/main">
            <a:pPr>
              <a:defRPr sz="2100" b="1">
                <a:solidFill>
                  <a:srgbClr val="152D39"/>
                </a:solidFill>
                <a:latin typeface="Arial"/>
                <a:ea typeface="Arial"/>
                <a:cs typeface="Arial"/>
              </a:defRPr>
            </a:pPr>
            <a:r>
              <a:rPr sz="2100" b="1">
                <a:solidFill>
                  <a:srgbClr val="152D39"/>
                </a:solidFill>
                <a:latin typeface="Arial"/>
                <a:ea typeface="Arial"/>
                <a:cs typeface="Arial"/>
              </a:rPr>
              <a:t>matched runs</a:t>
            </a:r>
          </a:p>
          <a:p xmlns:a="http://schemas.openxmlformats.org/drawingml/2006/main">
            <a:pPr>
              <a:defRPr sz="2100" b="1">
                <a:solidFill>
                  <a:srgbClr val="152D39"/>
                </a:solidFill>
                <a:latin typeface="Arial"/>
                <a:ea typeface="Arial"/>
                <a:cs typeface="Arial"/>
              </a:defRPr>
            </a:pPr>
            <a:r>
              <a:rPr sz="2100" b="1">
                <a:solidFill>
                  <a:srgbClr val="152D39"/>
                </a:solidFill>
                <a:latin typeface="Arial"/>
                <a:ea typeface="Arial"/>
                <a:cs typeface="Arial"/>
              </a:rPr>
              <a:t>were faster</a:t>
            </a:r>
          </a:p>
        </p:txBody>
      </p:sp>
      <p:sp>
        <p:nvSpPr>
          <p:cNvPr id="8" name="Overall: 1.842 vs 0.891 tokens/s">
            <a:extLst xmlns:a="http://schemas.openxmlformats.org/drawingml/2006/main">
              <a:ext uri="{FF2B5EF4-FFF2-40B4-BE49-F238E27FC236}">
                <a16:creationId xmlns:a16="http://schemas.microsoft.com/office/drawing/2014/main" id="{677BE4B5-C0A3-4BC7-82AA-8DD021CEB4E4}"/>
              </a:ext>
            </a:extLst>
          </p:cNvPr>
          <p:cNvSpPr>
            <a:spLocks xmlns:a="http://schemas.openxmlformats.org/drawingml/2006/main" noGrp="1"/>
          </p:cNvSpPr>
          <p:nvPr/>
        </p:nvSpPr>
        <p:spPr>
          <a:xfrm xmlns:a="http://schemas.openxmlformats.org/drawingml/2006/main">
            <a:off x="742950" y="54673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52D39"/>
                </a:solidFill>
                <a:latin typeface="Arial"/>
                <a:ea typeface="Arial"/>
                <a:cs typeface="Arial"/>
              </a:defRPr>
            </a:defPPr>
            <a:lvl1pPr>
              <a:defRPr sz="1950" b="1">
                <a:solidFill>
                  <a:srgbClr val="152D39"/>
                </a:solidFill>
                <a:latin typeface="Arial"/>
                <a:ea typeface="Arial"/>
                <a:cs typeface="Arial"/>
              </a:defRPr>
            </a:lvl1pPr>
            <a:lvl2pPr>
              <a:defRPr sz="1950" b="1">
                <a:solidFill>
                  <a:srgbClr val="152D39"/>
                </a:solidFill>
                <a:latin typeface="Arial"/>
                <a:ea typeface="Arial"/>
                <a:cs typeface="Arial"/>
              </a:defRPr>
            </a:lvl2pPr>
            <a:lvl3pPr>
              <a:defRPr sz="1950" b="1">
                <a:solidFill>
                  <a:srgbClr val="152D39"/>
                </a:solidFill>
                <a:latin typeface="Arial"/>
                <a:ea typeface="Arial"/>
                <a:cs typeface="Arial"/>
              </a:defRPr>
            </a:lvl3pPr>
            <a:lvl4pPr>
              <a:defRPr sz="1950" b="1">
                <a:solidFill>
                  <a:srgbClr val="152D39"/>
                </a:solidFill>
                <a:latin typeface="Arial"/>
                <a:ea typeface="Arial"/>
                <a:cs typeface="Arial"/>
              </a:defRPr>
            </a:lvl4pPr>
            <a:lvl5pPr>
              <a:defRPr sz="1950" b="1">
                <a:solidFill>
                  <a:srgbClr val="152D39"/>
                </a:solidFill>
                <a:latin typeface="Arial"/>
                <a:ea typeface="Arial"/>
                <a:cs typeface="Arial"/>
              </a:defRPr>
            </a:lvl5pPr>
            <a:lvl6pPr>
              <a:defRPr sz="1950" b="1">
                <a:solidFill>
                  <a:srgbClr val="152D39"/>
                </a:solidFill>
                <a:latin typeface="Arial"/>
                <a:ea typeface="Arial"/>
                <a:cs typeface="Arial"/>
              </a:defRPr>
            </a:lvl6pPr>
            <a:lvl7pPr>
              <a:defRPr sz="1950" b="1">
                <a:solidFill>
                  <a:srgbClr val="152D39"/>
                </a:solidFill>
                <a:latin typeface="Arial"/>
                <a:ea typeface="Arial"/>
                <a:cs typeface="Arial"/>
              </a:defRPr>
            </a:lvl7pPr>
            <a:lvl8pPr>
              <a:defRPr sz="1950" b="1">
                <a:solidFill>
                  <a:srgbClr val="152D39"/>
                </a:solidFill>
                <a:latin typeface="Arial"/>
                <a:ea typeface="Arial"/>
                <a:cs typeface="Arial"/>
              </a:defRPr>
            </a:lvl8pPr>
            <a:lvl9pPr>
              <a:defRPr sz="1950" b="1">
                <a:solidFill>
                  <a:srgbClr val="152D39"/>
                </a:solidFill>
                <a:latin typeface="Arial"/>
                <a:ea typeface="Arial"/>
                <a:cs typeface="Arial"/>
              </a:defRPr>
            </a:lvl9pPr>
          </a:lstStyle>
          <a:p xmlns:a="http://schemas.openxmlformats.org/drawingml/2006/main">
            <a:pPr>
              <a:defRPr sz="1950" b="1">
                <a:solidFill>
                  <a:srgbClr val="152D39"/>
                </a:solidFill>
                <a:latin typeface="Arial"/>
                <a:ea typeface="Arial"/>
                <a:cs typeface="Arial"/>
              </a:defRPr>
            </a:pPr>
            <a:r>
              <a:rPr sz="1950" b="1">
                <a:solidFill>
                  <a:srgbClr val="152D39"/>
                </a:solidFill>
                <a:latin typeface="Arial"/>
                <a:ea typeface="Arial"/>
                <a:cs typeface="Arial"/>
              </a:rPr>
              <a:t>Overall: 1.842 vs 0.891 tokens/s</a:t>
            </a:r>
          </a:p>
        </p:txBody>
      </p:sp>
      <p:sp>
        <p:nvSpPr>
          <p:cNvPr id="9" name="Three prompts, two runs per mode, 48 tokens. Identical ">
            <a:extLst xmlns:a="http://schemas.openxmlformats.org/drawingml/2006/main">
              <a:ext uri="{FF2B5EF4-FFF2-40B4-BE49-F238E27FC236}">
                <a16:creationId xmlns:a16="http://schemas.microsoft.com/office/drawing/2014/main" id="{CB55F6C2-82A2-46BA-8FCF-9435AE433BD1}"/>
              </a:ext>
            </a:extLst>
          </p:cNvPr>
          <p:cNvSpPr>
            <a:spLocks xmlns:a="http://schemas.openxmlformats.org/drawingml/2006/main" noGrp="1"/>
          </p:cNvSpPr>
          <p:nvPr/>
        </p:nvSpPr>
        <p:spPr>
          <a:xfrm xmlns:a="http://schemas.openxmlformats.org/drawingml/2006/main">
            <a:off x="742950" y="59245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36A"/>
                </a:solidFill>
                <a:latin typeface="Arial"/>
                <a:ea typeface="Arial"/>
                <a:cs typeface="Arial"/>
              </a:defRPr>
            </a:defPPr>
            <a:lvl1pPr>
              <a:defRPr sz="1350" b="0">
                <a:solidFill>
                  <a:srgbClr val="52636A"/>
                </a:solidFill>
                <a:latin typeface="Arial"/>
                <a:ea typeface="Arial"/>
                <a:cs typeface="Arial"/>
              </a:defRPr>
            </a:lvl1pPr>
            <a:lvl2pPr>
              <a:defRPr sz="1350" b="0">
                <a:solidFill>
                  <a:srgbClr val="52636A"/>
                </a:solidFill>
                <a:latin typeface="Arial"/>
                <a:ea typeface="Arial"/>
                <a:cs typeface="Arial"/>
              </a:defRPr>
            </a:lvl2pPr>
            <a:lvl3pPr>
              <a:defRPr sz="1350" b="0">
                <a:solidFill>
                  <a:srgbClr val="52636A"/>
                </a:solidFill>
                <a:latin typeface="Arial"/>
                <a:ea typeface="Arial"/>
                <a:cs typeface="Arial"/>
              </a:defRPr>
            </a:lvl3pPr>
            <a:lvl4pPr>
              <a:defRPr sz="1350" b="0">
                <a:solidFill>
                  <a:srgbClr val="52636A"/>
                </a:solidFill>
                <a:latin typeface="Arial"/>
                <a:ea typeface="Arial"/>
                <a:cs typeface="Arial"/>
              </a:defRPr>
            </a:lvl4pPr>
            <a:lvl5pPr>
              <a:defRPr sz="1350" b="0">
                <a:solidFill>
                  <a:srgbClr val="52636A"/>
                </a:solidFill>
                <a:latin typeface="Arial"/>
                <a:ea typeface="Arial"/>
                <a:cs typeface="Arial"/>
              </a:defRPr>
            </a:lvl5pPr>
            <a:lvl6pPr>
              <a:defRPr sz="1350" b="0">
                <a:solidFill>
                  <a:srgbClr val="52636A"/>
                </a:solidFill>
                <a:latin typeface="Arial"/>
                <a:ea typeface="Arial"/>
                <a:cs typeface="Arial"/>
              </a:defRPr>
            </a:lvl6pPr>
            <a:lvl7pPr>
              <a:defRPr sz="1350" b="0">
                <a:solidFill>
                  <a:srgbClr val="52636A"/>
                </a:solidFill>
                <a:latin typeface="Arial"/>
                <a:ea typeface="Arial"/>
                <a:cs typeface="Arial"/>
              </a:defRPr>
            </a:lvl7pPr>
            <a:lvl8pPr>
              <a:defRPr sz="1350" b="0">
                <a:solidFill>
                  <a:srgbClr val="52636A"/>
                </a:solidFill>
                <a:latin typeface="Arial"/>
                <a:ea typeface="Arial"/>
                <a:cs typeface="Arial"/>
              </a:defRPr>
            </a:lvl8pPr>
            <a:lvl9pPr>
              <a:defRPr sz="1350" b="0">
                <a:solidFill>
                  <a:srgbClr val="52636A"/>
                </a:solidFill>
                <a:latin typeface="Arial"/>
                <a:ea typeface="Arial"/>
                <a:cs typeface="Arial"/>
              </a:defRPr>
            </a:lvl9pPr>
          </a:lstStyle>
          <a:p xmlns:a="http://schemas.openxmlformats.org/drawingml/2006/main">
            <a:pPr>
              <a:defRPr sz="1350" b="0">
                <a:solidFill>
                  <a:srgbClr val="52636A"/>
                </a:solidFill>
                <a:latin typeface="Arial"/>
                <a:ea typeface="Arial"/>
                <a:cs typeface="Arial"/>
              </a:defRPr>
            </a:pPr>
            <a:r>
              <a:rPr sz="1350" b="0">
                <a:solidFill>
                  <a:srgbClr val="52636A"/>
                </a:solidFill>
                <a:latin typeface="Arial"/>
                <a:ea typeface="Arial"/>
                <a:cs typeface="Arial"/>
              </a:rPr>
              <a:t>Three prompts, two runs per mode, 48 tokens. Identical token IDs.</a:t>
            </a:r>
          </a:p>
          <a:p xmlns:a="http://schemas.openxmlformats.org/drawingml/2006/main">
            <a:pPr>
              <a:defRPr sz="1350" b="0">
                <a:solidFill>
                  <a:srgbClr val="52636A"/>
                </a:solidFill>
                <a:latin typeface="Arial"/>
                <a:ea typeface="Arial"/>
                <a:cs typeface="Arial"/>
              </a:defRPr>
            </a:pPr>
            <a:r>
              <a:rPr sz="1350" b="0">
                <a:solidFill>
                  <a:srgbClr val="52636A"/>
                </a:solidFill>
                <a:latin typeface="Arial"/>
                <a:ea typeface="Arial"/>
                <a:cs typeface="Arial"/>
              </a:rPr>
              <a:t>OS file-cache state varied; one warm paging run won.</a:t>
            </a:r>
          </a:p>
        </p:txBody>
      </p:sp>
    </p:spTree>
    <p:extLst>
      <p:ext uri="{BB962C8B-B14F-4D97-AF65-F5344CB8AC3E}">
        <p14:creationId xmlns:p14="http://schemas.microsoft.com/office/powerpoint/2010/main" val="1891927126"/>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A live budget cut preserves the tested output">
            <a:extLst xmlns:a="http://schemas.openxmlformats.org/drawingml/2006/main">
              <a:ext uri="{FF2B5EF4-FFF2-40B4-BE49-F238E27FC236}">
                <a16:creationId xmlns:a16="http://schemas.microsoft.com/office/drawing/2014/main" id="{79EBEC89-7B23-4990-B052-58EBAC5FED9D}"/>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52D39"/>
                </a:solidFill>
                <a:latin typeface="Arial"/>
                <a:ea typeface="Arial"/>
                <a:cs typeface="Arial"/>
              </a:defRPr>
            </a:defPPr>
            <a:lvl1pPr>
              <a:defRPr sz="3375" b="1">
                <a:solidFill>
                  <a:srgbClr val="152D39"/>
                </a:solidFill>
                <a:latin typeface="Arial"/>
                <a:ea typeface="Arial"/>
                <a:cs typeface="Arial"/>
              </a:defRPr>
            </a:lvl1pPr>
            <a:lvl2pPr>
              <a:defRPr sz="3375" b="1">
                <a:solidFill>
                  <a:srgbClr val="152D39"/>
                </a:solidFill>
                <a:latin typeface="Arial"/>
                <a:ea typeface="Arial"/>
                <a:cs typeface="Arial"/>
              </a:defRPr>
            </a:lvl2pPr>
            <a:lvl3pPr>
              <a:defRPr sz="3375" b="1">
                <a:solidFill>
                  <a:srgbClr val="152D39"/>
                </a:solidFill>
                <a:latin typeface="Arial"/>
                <a:ea typeface="Arial"/>
                <a:cs typeface="Arial"/>
              </a:defRPr>
            </a:lvl3pPr>
            <a:lvl4pPr>
              <a:defRPr sz="3375" b="1">
                <a:solidFill>
                  <a:srgbClr val="152D39"/>
                </a:solidFill>
                <a:latin typeface="Arial"/>
                <a:ea typeface="Arial"/>
                <a:cs typeface="Arial"/>
              </a:defRPr>
            </a:lvl4pPr>
            <a:lvl5pPr>
              <a:defRPr sz="3375" b="1">
                <a:solidFill>
                  <a:srgbClr val="152D39"/>
                </a:solidFill>
                <a:latin typeface="Arial"/>
                <a:ea typeface="Arial"/>
                <a:cs typeface="Arial"/>
              </a:defRPr>
            </a:lvl5pPr>
            <a:lvl6pPr>
              <a:defRPr sz="3375" b="1">
                <a:solidFill>
                  <a:srgbClr val="152D39"/>
                </a:solidFill>
                <a:latin typeface="Arial"/>
                <a:ea typeface="Arial"/>
                <a:cs typeface="Arial"/>
              </a:defRPr>
            </a:lvl6pPr>
            <a:lvl7pPr>
              <a:defRPr sz="3375" b="1">
                <a:solidFill>
                  <a:srgbClr val="152D39"/>
                </a:solidFill>
                <a:latin typeface="Arial"/>
                <a:ea typeface="Arial"/>
                <a:cs typeface="Arial"/>
              </a:defRPr>
            </a:lvl7pPr>
            <a:lvl8pPr>
              <a:defRPr sz="3375" b="1">
                <a:solidFill>
                  <a:srgbClr val="152D39"/>
                </a:solidFill>
                <a:latin typeface="Arial"/>
                <a:ea typeface="Arial"/>
                <a:cs typeface="Arial"/>
              </a:defRPr>
            </a:lvl8pPr>
            <a:lvl9pPr>
              <a:defRPr sz="3375" b="1">
                <a:solidFill>
                  <a:srgbClr val="152D39"/>
                </a:solidFill>
                <a:latin typeface="Arial"/>
                <a:ea typeface="Arial"/>
                <a:cs typeface="Arial"/>
              </a:defRPr>
            </a:lvl9pPr>
          </a:lstStyle>
          <a:p xmlns:a="http://schemas.openxmlformats.org/drawingml/2006/main">
            <a:pPr>
              <a:defRPr sz="3375" b="1">
                <a:solidFill>
                  <a:srgbClr val="152D39"/>
                </a:solidFill>
                <a:latin typeface="Arial"/>
                <a:ea typeface="Arial"/>
                <a:cs typeface="Arial"/>
              </a:defRPr>
            </a:pPr>
            <a:r>
              <a:rPr sz="3375" b="1">
                <a:solidFill>
                  <a:srgbClr val="152D39"/>
                </a:solidFill>
                <a:latin typeface="Arial"/>
                <a:ea typeface="Arial"/>
                <a:cs typeface="Arial"/>
              </a:rPr>
              <a:t>A live budget cut preserves the tested output</a:t>
            </a:r>
          </a:p>
        </p:txBody>
      </p:sp>
      <p:sp>
        <p:nvSpPr>
          <p:cNvPr id="2" name="LeanMoE">
            <a:extLst xmlns:a="http://schemas.openxmlformats.org/drawingml/2006/main">
              <a:ext uri="{FF2B5EF4-FFF2-40B4-BE49-F238E27FC236}">
                <a16:creationId xmlns:a16="http://schemas.microsoft.com/office/drawing/2014/main" id="{EAB3ABB7-4A58-4C05-9CD9-6FE1FC33151D}"/>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LeanMoE</a:t>
            </a:r>
          </a:p>
        </p:txBody>
      </p:sp>
      <p:sp>
        <p:nvSpPr>
          <p:cNvPr id="3" name="05">
            <a:extLst xmlns:a="http://schemas.openxmlformats.org/drawingml/2006/main">
              <a:ext uri="{FF2B5EF4-FFF2-40B4-BE49-F238E27FC236}">
                <a16:creationId xmlns:a16="http://schemas.microsoft.com/office/drawing/2014/main" id="{F917129C-B31B-4711-9EF9-27262EA72E41}"/>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05</a:t>
            </a:r>
          </a:p>
        </p:txBody>
      </p:sp>
      <p:sp>
        <p:nvSpPr>
          <p:cNvPr id="4" name="3.5 GB to 2.5 GB after token 20">
            <a:extLst xmlns:a="http://schemas.openxmlformats.org/drawingml/2006/main">
              <a:ext uri="{FF2B5EF4-FFF2-40B4-BE49-F238E27FC236}">
                <a16:creationId xmlns:a16="http://schemas.microsoft.com/office/drawing/2014/main" id="{9CAB269A-5237-433C-988C-B36931E39904}"/>
              </a:ext>
            </a:extLst>
          </p:cNvPr>
          <p:cNvSpPr>
            <a:spLocks xmlns:a="http://schemas.openxmlformats.org/drawingml/2006/main" noGrp="1"/>
          </p:cNvSpPr>
          <p:nvPr/>
        </p:nvSpPr>
        <p:spPr>
          <a:xfrm xmlns:a="http://schemas.openxmlformats.org/drawingml/2006/main">
            <a:off x="742950" y="14859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52636A"/>
                </a:solidFill>
                <a:latin typeface="Arial"/>
                <a:ea typeface="Arial"/>
                <a:cs typeface="Arial"/>
              </a:defRPr>
            </a:defPPr>
            <a:lvl1pPr>
              <a:defRPr sz="2175" b="0">
                <a:solidFill>
                  <a:srgbClr val="52636A"/>
                </a:solidFill>
                <a:latin typeface="Arial"/>
                <a:ea typeface="Arial"/>
                <a:cs typeface="Arial"/>
              </a:defRPr>
            </a:lvl1pPr>
            <a:lvl2pPr>
              <a:defRPr sz="2175" b="0">
                <a:solidFill>
                  <a:srgbClr val="52636A"/>
                </a:solidFill>
                <a:latin typeface="Arial"/>
                <a:ea typeface="Arial"/>
                <a:cs typeface="Arial"/>
              </a:defRPr>
            </a:lvl2pPr>
            <a:lvl3pPr>
              <a:defRPr sz="2175" b="0">
                <a:solidFill>
                  <a:srgbClr val="52636A"/>
                </a:solidFill>
                <a:latin typeface="Arial"/>
                <a:ea typeface="Arial"/>
                <a:cs typeface="Arial"/>
              </a:defRPr>
            </a:lvl3pPr>
            <a:lvl4pPr>
              <a:defRPr sz="2175" b="0">
                <a:solidFill>
                  <a:srgbClr val="52636A"/>
                </a:solidFill>
                <a:latin typeface="Arial"/>
                <a:ea typeface="Arial"/>
                <a:cs typeface="Arial"/>
              </a:defRPr>
            </a:lvl4pPr>
            <a:lvl5pPr>
              <a:defRPr sz="2175" b="0">
                <a:solidFill>
                  <a:srgbClr val="52636A"/>
                </a:solidFill>
                <a:latin typeface="Arial"/>
                <a:ea typeface="Arial"/>
                <a:cs typeface="Arial"/>
              </a:defRPr>
            </a:lvl5pPr>
            <a:lvl6pPr>
              <a:defRPr sz="2175" b="0">
                <a:solidFill>
                  <a:srgbClr val="52636A"/>
                </a:solidFill>
                <a:latin typeface="Arial"/>
                <a:ea typeface="Arial"/>
                <a:cs typeface="Arial"/>
              </a:defRPr>
            </a:lvl6pPr>
            <a:lvl7pPr>
              <a:defRPr sz="2175" b="0">
                <a:solidFill>
                  <a:srgbClr val="52636A"/>
                </a:solidFill>
                <a:latin typeface="Arial"/>
                <a:ea typeface="Arial"/>
                <a:cs typeface="Arial"/>
              </a:defRPr>
            </a:lvl7pPr>
            <a:lvl8pPr>
              <a:defRPr sz="2175" b="0">
                <a:solidFill>
                  <a:srgbClr val="52636A"/>
                </a:solidFill>
                <a:latin typeface="Arial"/>
                <a:ea typeface="Arial"/>
                <a:cs typeface="Arial"/>
              </a:defRPr>
            </a:lvl8pPr>
            <a:lvl9pPr>
              <a:defRPr sz="2175" b="0">
                <a:solidFill>
                  <a:srgbClr val="52636A"/>
                </a:solidFill>
                <a:latin typeface="Arial"/>
                <a:ea typeface="Arial"/>
                <a:cs typeface="Arial"/>
              </a:defRPr>
            </a:lvl9pPr>
          </a:lstStyle>
          <a:p xmlns:a="http://schemas.openxmlformats.org/drawingml/2006/main">
            <a:pPr>
              <a:defRPr sz="2175" b="0">
                <a:solidFill>
                  <a:srgbClr val="52636A"/>
                </a:solidFill>
                <a:latin typeface="Arial"/>
                <a:ea typeface="Arial"/>
                <a:cs typeface="Arial"/>
              </a:defRPr>
            </a:pPr>
            <a:r>
              <a:rPr sz="2175" b="0">
                <a:solidFill>
                  <a:srgbClr val="52636A"/>
                </a:solidFill>
                <a:latin typeface="Arial"/>
                <a:ea typeface="Arial"/>
                <a:cs typeface="Arial"/>
              </a:rPr>
              <a:t>3.5 GB to 2.5 GB after token 20</a:t>
            </a:r>
          </a:p>
        </p:txBody>
      </p:sp>
      <p:sp>
        <p:nvSpPr>
          <p:cNvPr id="5" name="Experts held in RAM">
            <a:extLst xmlns:a="http://schemas.openxmlformats.org/drawingml/2006/main">
              <a:ext uri="{FF2B5EF4-FFF2-40B4-BE49-F238E27FC236}">
                <a16:creationId xmlns:a16="http://schemas.microsoft.com/office/drawing/2014/main" id="{92F8868E-DE10-46B3-9785-F24712997A75}"/>
              </a:ext>
            </a:extLst>
          </p:cNvPr>
          <p:cNvSpPr>
            <a:spLocks xmlns:a="http://schemas.openxmlformats.org/drawingml/2006/main" noGrp="1"/>
          </p:cNvSpPr>
          <p:nvPr/>
        </p:nvSpPr>
        <p:spPr>
          <a:xfrm xmlns:a="http://schemas.openxmlformats.org/drawingml/2006/main">
            <a:off x="742950" y="20478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36A"/>
                </a:solidFill>
                <a:latin typeface="Arial"/>
                <a:ea typeface="Arial"/>
                <a:cs typeface="Arial"/>
              </a:defRPr>
            </a:defPPr>
            <a:lvl1pPr>
              <a:defRPr sz="1500" b="0">
                <a:solidFill>
                  <a:srgbClr val="52636A"/>
                </a:solidFill>
                <a:latin typeface="Arial"/>
                <a:ea typeface="Arial"/>
                <a:cs typeface="Arial"/>
              </a:defRPr>
            </a:lvl1pPr>
            <a:lvl2pPr>
              <a:defRPr sz="1500" b="0">
                <a:solidFill>
                  <a:srgbClr val="52636A"/>
                </a:solidFill>
                <a:latin typeface="Arial"/>
                <a:ea typeface="Arial"/>
                <a:cs typeface="Arial"/>
              </a:defRPr>
            </a:lvl2pPr>
            <a:lvl3pPr>
              <a:defRPr sz="1500" b="0">
                <a:solidFill>
                  <a:srgbClr val="52636A"/>
                </a:solidFill>
                <a:latin typeface="Arial"/>
                <a:ea typeface="Arial"/>
                <a:cs typeface="Arial"/>
              </a:defRPr>
            </a:lvl3pPr>
            <a:lvl4pPr>
              <a:defRPr sz="1500" b="0">
                <a:solidFill>
                  <a:srgbClr val="52636A"/>
                </a:solidFill>
                <a:latin typeface="Arial"/>
                <a:ea typeface="Arial"/>
                <a:cs typeface="Arial"/>
              </a:defRPr>
            </a:lvl4pPr>
            <a:lvl5pPr>
              <a:defRPr sz="1500" b="0">
                <a:solidFill>
                  <a:srgbClr val="52636A"/>
                </a:solidFill>
                <a:latin typeface="Arial"/>
                <a:ea typeface="Arial"/>
                <a:cs typeface="Arial"/>
              </a:defRPr>
            </a:lvl5pPr>
            <a:lvl6pPr>
              <a:defRPr sz="1500" b="0">
                <a:solidFill>
                  <a:srgbClr val="52636A"/>
                </a:solidFill>
                <a:latin typeface="Arial"/>
                <a:ea typeface="Arial"/>
                <a:cs typeface="Arial"/>
              </a:defRPr>
            </a:lvl6pPr>
            <a:lvl7pPr>
              <a:defRPr sz="1500" b="0">
                <a:solidFill>
                  <a:srgbClr val="52636A"/>
                </a:solidFill>
                <a:latin typeface="Arial"/>
                <a:ea typeface="Arial"/>
                <a:cs typeface="Arial"/>
              </a:defRPr>
            </a:lvl7pPr>
            <a:lvl8pPr>
              <a:defRPr sz="1500" b="0">
                <a:solidFill>
                  <a:srgbClr val="52636A"/>
                </a:solidFill>
                <a:latin typeface="Arial"/>
                <a:ea typeface="Arial"/>
                <a:cs typeface="Arial"/>
              </a:defRPr>
            </a:lvl8pPr>
            <a:lvl9pPr>
              <a:defRPr sz="1500" b="0">
                <a:solidFill>
                  <a:srgbClr val="52636A"/>
                </a:solidFill>
                <a:latin typeface="Arial"/>
                <a:ea typeface="Arial"/>
                <a:cs typeface="Arial"/>
              </a:defRPr>
            </a:lvl9pPr>
          </a:lstStyle>
          <a:p xmlns:a="http://schemas.openxmlformats.org/drawingml/2006/main">
            <a:pPr>
              <a:defRPr sz="1500" b="0">
                <a:solidFill>
                  <a:srgbClr val="52636A"/>
                </a:solidFill>
                <a:latin typeface="Arial"/>
                <a:ea typeface="Arial"/>
                <a:cs typeface="Arial"/>
              </a:defRPr>
            </a:pPr>
            <a:r>
              <a:rPr sz="1500" b="0">
                <a:solidFill>
                  <a:srgbClr val="52636A"/>
                </a:solidFill>
                <a:latin typeface="Arial"/>
                <a:ea typeface="Arial"/>
                <a:cs typeface="Arial"/>
              </a:rPr>
              <a:t>Experts held in RAM</a:t>
            </a:r>
          </a:p>
        </p:txBody>
      </p:sp>
      <p:graphicFrame>
        <p:nvGraphicFramePr>
          <p:cNvPr id="6" name="Chart">
            <a:extLst xmlns:a="http://schemas.openxmlformats.org/drawingml/2006/main">
              <a:ext uri="{FF2B5EF4-FFF2-40B4-BE49-F238E27FC236}">
                <a16:creationId xmlns:a16="http://schemas.microsoft.com/office/drawing/2014/main" id="{DC84CB92-D84F-47C7-A107-39BC42C5FA04}"/>
              </a:ext>
            </a:extLst>
          </p:cNvPr>
          <p:cNvGraphicFramePr/>
          <p:nvPr/>
        </p:nvGraphicFramePr>
        <p:xfrm>
          <a:off xmlns:a="http://schemas.openxmlformats.org/drawingml/2006/main" x="619125" y="2266950"/>
          <a:ext xmlns:a="http://schemas.openxmlformats.org/drawingml/2006/main" cx="6191250" cy="3048000"/>
        </p:xfrm>
        <a:graphic xmlns:a="http://schemas.openxmlformats.org/drawingml/2006/main">
          <a:graphicData uri="http://schemas.openxmlformats.org/drawingml/2006/chart">
            <c:chart xmlns:r="http://schemas.openxmlformats.org/officeDocument/2006/relationships" xmlns:c="http://schemas.openxmlformats.org/drawingml/2006/chart" r:id="Rd319676031bc4058"/>
          </a:graphicData>
        </a:graphic>
      </p:graphicFrame>
      <p:sp>
        <p:nvSpPr>
          <p:cNvPr id="7" name="80 / 80">
            <a:extLst xmlns:a="http://schemas.openxmlformats.org/drawingml/2006/main">
              <a:ext uri="{FF2B5EF4-FFF2-40B4-BE49-F238E27FC236}">
                <a16:creationId xmlns:a16="http://schemas.microsoft.com/office/drawing/2014/main" id="{16C6649D-95FB-4250-9C8A-FACA0D383B0E}"/>
              </a:ext>
            </a:extLst>
          </p:cNvPr>
          <p:cNvSpPr>
            <a:spLocks xmlns:a="http://schemas.openxmlformats.org/drawingml/2006/main" noGrp="1"/>
          </p:cNvSpPr>
          <p:nvPr/>
        </p:nvSpPr>
        <p:spPr>
          <a:xfrm xmlns:a="http://schemas.openxmlformats.org/drawingml/2006/main">
            <a:off x="7496175" y="22955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400" b="1">
                <a:solidFill>
                  <a:srgbClr val="008B83"/>
                </a:solidFill>
                <a:latin typeface="Arial"/>
                <a:ea typeface="Arial"/>
                <a:cs typeface="Arial"/>
              </a:defRPr>
            </a:defPPr>
            <a:lvl1pPr>
              <a:defRPr sz="5400" b="1">
                <a:solidFill>
                  <a:srgbClr val="008B83"/>
                </a:solidFill>
                <a:latin typeface="Arial"/>
                <a:ea typeface="Arial"/>
                <a:cs typeface="Arial"/>
              </a:defRPr>
            </a:lvl1pPr>
            <a:lvl2pPr>
              <a:defRPr sz="5400" b="1">
                <a:solidFill>
                  <a:srgbClr val="008B83"/>
                </a:solidFill>
                <a:latin typeface="Arial"/>
                <a:ea typeface="Arial"/>
                <a:cs typeface="Arial"/>
              </a:defRPr>
            </a:lvl2pPr>
            <a:lvl3pPr>
              <a:defRPr sz="5400" b="1">
                <a:solidFill>
                  <a:srgbClr val="008B83"/>
                </a:solidFill>
                <a:latin typeface="Arial"/>
                <a:ea typeface="Arial"/>
                <a:cs typeface="Arial"/>
              </a:defRPr>
            </a:lvl3pPr>
            <a:lvl4pPr>
              <a:defRPr sz="5400" b="1">
                <a:solidFill>
                  <a:srgbClr val="008B83"/>
                </a:solidFill>
                <a:latin typeface="Arial"/>
                <a:ea typeface="Arial"/>
                <a:cs typeface="Arial"/>
              </a:defRPr>
            </a:lvl4pPr>
            <a:lvl5pPr>
              <a:defRPr sz="5400" b="1">
                <a:solidFill>
                  <a:srgbClr val="008B83"/>
                </a:solidFill>
                <a:latin typeface="Arial"/>
                <a:ea typeface="Arial"/>
                <a:cs typeface="Arial"/>
              </a:defRPr>
            </a:lvl5pPr>
            <a:lvl6pPr>
              <a:defRPr sz="5400" b="1">
                <a:solidFill>
                  <a:srgbClr val="008B83"/>
                </a:solidFill>
                <a:latin typeface="Arial"/>
                <a:ea typeface="Arial"/>
                <a:cs typeface="Arial"/>
              </a:defRPr>
            </a:lvl6pPr>
            <a:lvl7pPr>
              <a:defRPr sz="5400" b="1">
                <a:solidFill>
                  <a:srgbClr val="008B83"/>
                </a:solidFill>
                <a:latin typeface="Arial"/>
                <a:ea typeface="Arial"/>
                <a:cs typeface="Arial"/>
              </a:defRPr>
            </a:lvl7pPr>
            <a:lvl8pPr>
              <a:defRPr sz="5400" b="1">
                <a:solidFill>
                  <a:srgbClr val="008B83"/>
                </a:solidFill>
                <a:latin typeface="Arial"/>
                <a:ea typeface="Arial"/>
                <a:cs typeface="Arial"/>
              </a:defRPr>
            </a:lvl8pPr>
            <a:lvl9pPr>
              <a:defRPr sz="5400" b="1">
                <a:solidFill>
                  <a:srgbClr val="008B83"/>
                </a:solidFill>
                <a:latin typeface="Arial"/>
                <a:ea typeface="Arial"/>
                <a:cs typeface="Arial"/>
              </a:defRPr>
            </a:lvl9pPr>
          </a:lstStyle>
          <a:p xmlns:a="http://schemas.openxmlformats.org/drawingml/2006/main">
            <a:pPr>
              <a:defRPr sz="5400" b="1">
                <a:solidFill>
                  <a:srgbClr val="008B83"/>
                </a:solidFill>
                <a:latin typeface="Arial"/>
                <a:ea typeface="Arial"/>
                <a:cs typeface="Arial"/>
              </a:defRPr>
            </a:pPr>
            <a:r>
              <a:rPr sz="5400" b="1">
                <a:solidFill>
                  <a:srgbClr val="008B83"/>
                </a:solidFill>
                <a:latin typeface="Arial"/>
                <a:ea typeface="Arial"/>
                <a:cs typeface="Arial"/>
              </a:rPr>
              <a:t>80 / 80</a:t>
            </a:r>
          </a:p>
        </p:txBody>
      </p:sp>
      <p:sp>
        <p:nvSpPr>
          <p:cNvPr id="8" name="tokens matched the&#10;uncut reference">
            <a:extLst xmlns:a="http://schemas.openxmlformats.org/drawingml/2006/main">
              <a:ext uri="{FF2B5EF4-FFF2-40B4-BE49-F238E27FC236}">
                <a16:creationId xmlns:a16="http://schemas.microsoft.com/office/drawing/2014/main" id="{32BFCF61-45CA-4469-BC16-928ED260D1E8}"/>
              </a:ext>
            </a:extLst>
          </p:cNvPr>
          <p:cNvSpPr>
            <a:spLocks xmlns:a="http://schemas.openxmlformats.org/drawingml/2006/main" noGrp="1"/>
          </p:cNvSpPr>
          <p:nvPr/>
        </p:nvSpPr>
        <p:spPr>
          <a:xfrm xmlns:a="http://schemas.openxmlformats.org/drawingml/2006/main">
            <a:off x="7534275" y="3381375"/>
            <a:ext cx="376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52D39"/>
                </a:solidFill>
                <a:latin typeface="Arial"/>
                <a:ea typeface="Arial"/>
                <a:cs typeface="Arial"/>
              </a:defRPr>
            </a:defPPr>
            <a:lvl1pPr>
              <a:defRPr sz="2175" b="1">
                <a:solidFill>
                  <a:srgbClr val="152D39"/>
                </a:solidFill>
                <a:latin typeface="Arial"/>
                <a:ea typeface="Arial"/>
                <a:cs typeface="Arial"/>
              </a:defRPr>
            </a:lvl1pPr>
            <a:lvl2pPr>
              <a:defRPr sz="2175" b="1">
                <a:solidFill>
                  <a:srgbClr val="152D39"/>
                </a:solidFill>
                <a:latin typeface="Arial"/>
                <a:ea typeface="Arial"/>
                <a:cs typeface="Arial"/>
              </a:defRPr>
            </a:lvl2pPr>
            <a:lvl3pPr>
              <a:defRPr sz="2175" b="1">
                <a:solidFill>
                  <a:srgbClr val="152D39"/>
                </a:solidFill>
                <a:latin typeface="Arial"/>
                <a:ea typeface="Arial"/>
                <a:cs typeface="Arial"/>
              </a:defRPr>
            </a:lvl3pPr>
            <a:lvl4pPr>
              <a:defRPr sz="2175" b="1">
                <a:solidFill>
                  <a:srgbClr val="152D39"/>
                </a:solidFill>
                <a:latin typeface="Arial"/>
                <a:ea typeface="Arial"/>
                <a:cs typeface="Arial"/>
              </a:defRPr>
            </a:lvl4pPr>
            <a:lvl5pPr>
              <a:defRPr sz="2175" b="1">
                <a:solidFill>
                  <a:srgbClr val="152D39"/>
                </a:solidFill>
                <a:latin typeface="Arial"/>
                <a:ea typeface="Arial"/>
                <a:cs typeface="Arial"/>
              </a:defRPr>
            </a:lvl5pPr>
            <a:lvl6pPr>
              <a:defRPr sz="2175" b="1">
                <a:solidFill>
                  <a:srgbClr val="152D39"/>
                </a:solidFill>
                <a:latin typeface="Arial"/>
                <a:ea typeface="Arial"/>
                <a:cs typeface="Arial"/>
              </a:defRPr>
            </a:lvl6pPr>
            <a:lvl7pPr>
              <a:defRPr sz="2175" b="1">
                <a:solidFill>
                  <a:srgbClr val="152D39"/>
                </a:solidFill>
                <a:latin typeface="Arial"/>
                <a:ea typeface="Arial"/>
                <a:cs typeface="Arial"/>
              </a:defRPr>
            </a:lvl7pPr>
            <a:lvl8pPr>
              <a:defRPr sz="2175" b="1">
                <a:solidFill>
                  <a:srgbClr val="152D39"/>
                </a:solidFill>
                <a:latin typeface="Arial"/>
                <a:ea typeface="Arial"/>
                <a:cs typeface="Arial"/>
              </a:defRPr>
            </a:lvl8pPr>
            <a:lvl9pPr>
              <a:defRPr sz="2175" b="1">
                <a:solidFill>
                  <a:srgbClr val="152D39"/>
                </a:solidFill>
                <a:latin typeface="Arial"/>
                <a:ea typeface="Arial"/>
                <a:cs typeface="Arial"/>
              </a:defRPr>
            </a:lvl9pPr>
          </a:lstStyle>
          <a:p xmlns:a="http://schemas.openxmlformats.org/drawingml/2006/main">
            <a:pPr>
              <a:defRPr sz="2175" b="1">
                <a:solidFill>
                  <a:srgbClr val="152D39"/>
                </a:solidFill>
                <a:latin typeface="Arial"/>
                <a:ea typeface="Arial"/>
                <a:cs typeface="Arial"/>
              </a:defRPr>
            </a:pPr>
            <a:r>
              <a:rPr sz="2175" b="1">
                <a:solidFill>
                  <a:srgbClr val="152D39"/>
                </a:solidFill>
                <a:latin typeface="Arial"/>
                <a:ea typeface="Arial"/>
                <a:cs typeface="Arial"/>
              </a:rPr>
              <a:t>tokens matched the</a:t>
            </a:r>
          </a:p>
          <a:p xmlns:a="http://schemas.openxmlformats.org/drawingml/2006/main">
            <a:pPr>
              <a:defRPr sz="2175" b="1">
                <a:solidFill>
                  <a:srgbClr val="152D39"/>
                </a:solidFill>
                <a:latin typeface="Arial"/>
                <a:ea typeface="Arial"/>
                <a:cs typeface="Arial"/>
              </a:defRPr>
            </a:pPr>
            <a:r>
              <a:rPr sz="2175" b="1">
                <a:solidFill>
                  <a:srgbClr val="152D39"/>
                </a:solidFill>
                <a:latin typeface="Arial"/>
                <a:ea typeface="Arial"/>
                <a:cs typeface="Arial"/>
              </a:rPr>
              <a:t>uncut reference</a:t>
            </a:r>
          </a:p>
        </p:txBody>
      </p:sp>
      <p:sp>
        <p:nvSpPr>
          <p:cNvPr id="9" name="2.39 GB private memory&#10;after the cut">
            <a:extLst xmlns:a="http://schemas.openxmlformats.org/drawingml/2006/main">
              <a:ext uri="{FF2B5EF4-FFF2-40B4-BE49-F238E27FC236}">
                <a16:creationId xmlns:a16="http://schemas.microsoft.com/office/drawing/2014/main" id="{C52CBD71-F9B3-4DC1-9771-9E7826DFF662}"/>
              </a:ext>
            </a:extLst>
          </p:cNvPr>
          <p:cNvSpPr>
            <a:spLocks xmlns:a="http://schemas.openxmlformats.org/drawingml/2006/main" noGrp="1"/>
          </p:cNvSpPr>
          <p:nvPr/>
        </p:nvSpPr>
        <p:spPr>
          <a:xfrm xmlns:a="http://schemas.openxmlformats.org/drawingml/2006/main">
            <a:off x="7534275" y="4638675"/>
            <a:ext cx="376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36A"/>
                </a:solidFill>
                <a:latin typeface="Arial"/>
                <a:ea typeface="Arial"/>
                <a:cs typeface="Arial"/>
              </a:defRPr>
            </a:defPPr>
            <a:lvl1pPr>
              <a:defRPr sz="1875" b="0">
                <a:solidFill>
                  <a:srgbClr val="52636A"/>
                </a:solidFill>
                <a:latin typeface="Arial"/>
                <a:ea typeface="Arial"/>
                <a:cs typeface="Arial"/>
              </a:defRPr>
            </a:lvl1pPr>
            <a:lvl2pPr>
              <a:defRPr sz="1875" b="0">
                <a:solidFill>
                  <a:srgbClr val="52636A"/>
                </a:solidFill>
                <a:latin typeface="Arial"/>
                <a:ea typeface="Arial"/>
                <a:cs typeface="Arial"/>
              </a:defRPr>
            </a:lvl2pPr>
            <a:lvl3pPr>
              <a:defRPr sz="1875" b="0">
                <a:solidFill>
                  <a:srgbClr val="52636A"/>
                </a:solidFill>
                <a:latin typeface="Arial"/>
                <a:ea typeface="Arial"/>
                <a:cs typeface="Arial"/>
              </a:defRPr>
            </a:lvl3pPr>
            <a:lvl4pPr>
              <a:defRPr sz="1875" b="0">
                <a:solidFill>
                  <a:srgbClr val="52636A"/>
                </a:solidFill>
                <a:latin typeface="Arial"/>
                <a:ea typeface="Arial"/>
                <a:cs typeface="Arial"/>
              </a:defRPr>
            </a:lvl4pPr>
            <a:lvl5pPr>
              <a:defRPr sz="1875" b="0">
                <a:solidFill>
                  <a:srgbClr val="52636A"/>
                </a:solidFill>
                <a:latin typeface="Arial"/>
                <a:ea typeface="Arial"/>
                <a:cs typeface="Arial"/>
              </a:defRPr>
            </a:lvl5pPr>
            <a:lvl6pPr>
              <a:defRPr sz="1875" b="0">
                <a:solidFill>
                  <a:srgbClr val="52636A"/>
                </a:solidFill>
                <a:latin typeface="Arial"/>
                <a:ea typeface="Arial"/>
                <a:cs typeface="Arial"/>
              </a:defRPr>
            </a:lvl6pPr>
            <a:lvl7pPr>
              <a:defRPr sz="1875" b="0">
                <a:solidFill>
                  <a:srgbClr val="52636A"/>
                </a:solidFill>
                <a:latin typeface="Arial"/>
                <a:ea typeface="Arial"/>
                <a:cs typeface="Arial"/>
              </a:defRPr>
            </a:lvl7pPr>
            <a:lvl8pPr>
              <a:defRPr sz="1875" b="0">
                <a:solidFill>
                  <a:srgbClr val="52636A"/>
                </a:solidFill>
                <a:latin typeface="Arial"/>
                <a:ea typeface="Arial"/>
                <a:cs typeface="Arial"/>
              </a:defRPr>
            </a:lvl8pPr>
            <a:lvl9pPr>
              <a:defRPr sz="1875" b="0">
                <a:solidFill>
                  <a:srgbClr val="52636A"/>
                </a:solidFill>
                <a:latin typeface="Arial"/>
                <a:ea typeface="Arial"/>
                <a:cs typeface="Arial"/>
              </a:defRPr>
            </a:lvl9pPr>
          </a:lstStyle>
          <a:p xmlns:a="http://schemas.openxmlformats.org/drawingml/2006/main">
            <a:pPr>
              <a:defRPr sz="1875" b="0">
                <a:solidFill>
                  <a:srgbClr val="52636A"/>
                </a:solidFill>
                <a:latin typeface="Arial"/>
                <a:ea typeface="Arial"/>
                <a:cs typeface="Arial"/>
              </a:defRPr>
            </a:pPr>
            <a:r>
              <a:rPr sz="1875" b="0">
                <a:solidFill>
                  <a:srgbClr val="52636A"/>
                </a:solidFill>
                <a:latin typeface="Arial"/>
                <a:ea typeface="Arial"/>
                <a:cs typeface="Arial"/>
              </a:rPr>
              <a:t>2.39 GB private memory</a:t>
            </a:r>
          </a:p>
          <a:p xmlns:a="http://schemas.openxmlformats.org/drawingml/2006/main">
            <a:pPr>
              <a:defRPr sz="1875" b="0">
                <a:solidFill>
                  <a:srgbClr val="52636A"/>
                </a:solidFill>
                <a:latin typeface="Arial"/>
                <a:ea typeface="Arial"/>
                <a:cs typeface="Arial"/>
              </a:defRPr>
            </a:pPr>
            <a:r>
              <a:rPr sz="1875" b="0">
                <a:solidFill>
                  <a:srgbClr val="52636A"/>
                </a:solidFill>
                <a:latin typeface="Arial"/>
                <a:ea typeface="Arial"/>
                <a:cs typeface="Arial"/>
              </a:rPr>
              <a:t>after the cut</a:t>
            </a:r>
          </a:p>
        </p:txBody>
      </p:sp>
      <p:sp>
        <p:nvSpPr>
          <p:cNvPr id="10" name="All 80 tokens completed. One prompt and configuration.&#10;">
            <a:extLst xmlns:a="http://schemas.openxmlformats.org/drawingml/2006/main">
              <a:ext uri="{FF2B5EF4-FFF2-40B4-BE49-F238E27FC236}">
                <a16:creationId xmlns:a16="http://schemas.microsoft.com/office/drawing/2014/main" id="{FDDB8F82-6B27-4AB6-B5DA-0259F26C2A92}"/>
              </a:ext>
            </a:extLst>
          </p:cNvPr>
          <p:cNvSpPr>
            <a:spLocks xmlns:a="http://schemas.openxmlformats.org/drawingml/2006/main" noGrp="1"/>
          </p:cNvSpPr>
          <p:nvPr/>
        </p:nvSpPr>
        <p:spPr>
          <a:xfrm xmlns:a="http://schemas.openxmlformats.org/drawingml/2006/main">
            <a:off x="742950" y="58102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36A"/>
                </a:solidFill>
                <a:latin typeface="Arial"/>
                <a:ea typeface="Arial"/>
                <a:cs typeface="Arial"/>
              </a:defRPr>
            </a:defPPr>
            <a:lvl1pPr>
              <a:defRPr sz="1425" b="0">
                <a:solidFill>
                  <a:srgbClr val="52636A"/>
                </a:solidFill>
                <a:latin typeface="Arial"/>
                <a:ea typeface="Arial"/>
                <a:cs typeface="Arial"/>
              </a:defRPr>
            </a:lvl1pPr>
            <a:lvl2pPr>
              <a:defRPr sz="1425" b="0">
                <a:solidFill>
                  <a:srgbClr val="52636A"/>
                </a:solidFill>
                <a:latin typeface="Arial"/>
                <a:ea typeface="Arial"/>
                <a:cs typeface="Arial"/>
              </a:defRPr>
            </a:lvl2pPr>
            <a:lvl3pPr>
              <a:defRPr sz="1425" b="0">
                <a:solidFill>
                  <a:srgbClr val="52636A"/>
                </a:solidFill>
                <a:latin typeface="Arial"/>
                <a:ea typeface="Arial"/>
                <a:cs typeface="Arial"/>
              </a:defRPr>
            </a:lvl3pPr>
            <a:lvl4pPr>
              <a:defRPr sz="1425" b="0">
                <a:solidFill>
                  <a:srgbClr val="52636A"/>
                </a:solidFill>
                <a:latin typeface="Arial"/>
                <a:ea typeface="Arial"/>
                <a:cs typeface="Arial"/>
              </a:defRPr>
            </a:lvl4pPr>
            <a:lvl5pPr>
              <a:defRPr sz="1425" b="0">
                <a:solidFill>
                  <a:srgbClr val="52636A"/>
                </a:solidFill>
                <a:latin typeface="Arial"/>
                <a:ea typeface="Arial"/>
                <a:cs typeface="Arial"/>
              </a:defRPr>
            </a:lvl5pPr>
            <a:lvl6pPr>
              <a:defRPr sz="1425" b="0">
                <a:solidFill>
                  <a:srgbClr val="52636A"/>
                </a:solidFill>
                <a:latin typeface="Arial"/>
                <a:ea typeface="Arial"/>
                <a:cs typeface="Arial"/>
              </a:defRPr>
            </a:lvl6pPr>
            <a:lvl7pPr>
              <a:defRPr sz="1425" b="0">
                <a:solidFill>
                  <a:srgbClr val="52636A"/>
                </a:solidFill>
                <a:latin typeface="Arial"/>
                <a:ea typeface="Arial"/>
                <a:cs typeface="Arial"/>
              </a:defRPr>
            </a:lvl7pPr>
            <a:lvl8pPr>
              <a:defRPr sz="1425" b="0">
                <a:solidFill>
                  <a:srgbClr val="52636A"/>
                </a:solidFill>
                <a:latin typeface="Arial"/>
                <a:ea typeface="Arial"/>
                <a:cs typeface="Arial"/>
              </a:defRPr>
            </a:lvl8pPr>
            <a:lvl9pPr>
              <a:defRPr sz="1425" b="0">
                <a:solidFill>
                  <a:srgbClr val="52636A"/>
                </a:solidFill>
                <a:latin typeface="Arial"/>
                <a:ea typeface="Arial"/>
                <a:cs typeface="Arial"/>
              </a:defRPr>
            </a:lvl9pPr>
          </a:lstStyle>
          <a:p xmlns:a="http://schemas.openxmlformats.org/drawingml/2006/main">
            <a:pPr>
              <a:defRPr sz="1425" b="0">
                <a:solidFill>
                  <a:srgbClr val="52636A"/>
                </a:solidFill>
                <a:latin typeface="Arial"/>
                <a:ea typeface="Arial"/>
                <a:cs typeface="Arial"/>
              </a:defRPr>
            </a:pPr>
            <a:r>
              <a:rPr sz="1425" b="0">
                <a:solidFill>
                  <a:srgbClr val="52636A"/>
                </a:solidFill>
                <a:latin typeface="Arial"/>
                <a:ea typeface="Arial"/>
                <a:cs typeface="Arial"/>
              </a:rPr>
              <a:t>All 80 tokens completed. One prompt and configuration.</a:t>
            </a:r>
          </a:p>
          <a:p xmlns:a="http://schemas.openxmlformats.org/drawingml/2006/main">
            <a:pPr>
              <a:defRPr sz="1425" b="0">
                <a:solidFill>
                  <a:srgbClr val="52636A"/>
                </a:solidFill>
                <a:latin typeface="Arial"/>
                <a:ea typeface="Arial"/>
                <a:cs typeface="Arial"/>
              </a:defRPr>
            </a:pPr>
            <a:r>
              <a:rPr sz="1425" b="0">
                <a:solidFill>
                  <a:srgbClr val="52636A"/>
                </a:solidFill>
                <a:latin typeface="Arial"/>
                <a:ea typeface="Arial"/>
                <a:cs typeface="Arial"/>
              </a:rPr>
              <a:t>Token equality checks execution consistency; the budget is a planning target.</a:t>
            </a:r>
          </a:p>
        </p:txBody>
      </p:sp>
    </p:spTree>
    <p:extLst>
      <p:ext uri="{BB962C8B-B14F-4D97-AF65-F5344CB8AC3E}">
        <p14:creationId xmlns:p14="http://schemas.microsoft.com/office/powerpoint/2010/main" val="653780152"/>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What testing changed">
            <a:extLst xmlns:a="http://schemas.openxmlformats.org/drawingml/2006/main">
              <a:ext uri="{FF2B5EF4-FFF2-40B4-BE49-F238E27FC236}">
                <a16:creationId xmlns:a16="http://schemas.microsoft.com/office/drawing/2014/main" id="{89449051-7780-4782-8768-A036D2E8BB5E}"/>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52D39"/>
                </a:solidFill>
                <a:latin typeface="Arial"/>
                <a:ea typeface="Arial"/>
                <a:cs typeface="Arial"/>
              </a:defRPr>
            </a:defPPr>
            <a:lvl1pPr>
              <a:defRPr sz="3375" b="1">
                <a:solidFill>
                  <a:srgbClr val="152D39"/>
                </a:solidFill>
                <a:latin typeface="Arial"/>
                <a:ea typeface="Arial"/>
                <a:cs typeface="Arial"/>
              </a:defRPr>
            </a:lvl1pPr>
            <a:lvl2pPr>
              <a:defRPr sz="3375" b="1">
                <a:solidFill>
                  <a:srgbClr val="152D39"/>
                </a:solidFill>
                <a:latin typeface="Arial"/>
                <a:ea typeface="Arial"/>
                <a:cs typeface="Arial"/>
              </a:defRPr>
            </a:lvl2pPr>
            <a:lvl3pPr>
              <a:defRPr sz="3375" b="1">
                <a:solidFill>
                  <a:srgbClr val="152D39"/>
                </a:solidFill>
                <a:latin typeface="Arial"/>
                <a:ea typeface="Arial"/>
                <a:cs typeface="Arial"/>
              </a:defRPr>
            </a:lvl3pPr>
            <a:lvl4pPr>
              <a:defRPr sz="3375" b="1">
                <a:solidFill>
                  <a:srgbClr val="152D39"/>
                </a:solidFill>
                <a:latin typeface="Arial"/>
                <a:ea typeface="Arial"/>
                <a:cs typeface="Arial"/>
              </a:defRPr>
            </a:lvl4pPr>
            <a:lvl5pPr>
              <a:defRPr sz="3375" b="1">
                <a:solidFill>
                  <a:srgbClr val="152D39"/>
                </a:solidFill>
                <a:latin typeface="Arial"/>
                <a:ea typeface="Arial"/>
                <a:cs typeface="Arial"/>
              </a:defRPr>
            </a:lvl5pPr>
            <a:lvl6pPr>
              <a:defRPr sz="3375" b="1">
                <a:solidFill>
                  <a:srgbClr val="152D39"/>
                </a:solidFill>
                <a:latin typeface="Arial"/>
                <a:ea typeface="Arial"/>
                <a:cs typeface="Arial"/>
              </a:defRPr>
            </a:lvl6pPr>
            <a:lvl7pPr>
              <a:defRPr sz="3375" b="1">
                <a:solidFill>
                  <a:srgbClr val="152D39"/>
                </a:solidFill>
                <a:latin typeface="Arial"/>
                <a:ea typeface="Arial"/>
                <a:cs typeface="Arial"/>
              </a:defRPr>
            </a:lvl7pPr>
            <a:lvl8pPr>
              <a:defRPr sz="3375" b="1">
                <a:solidFill>
                  <a:srgbClr val="152D39"/>
                </a:solidFill>
                <a:latin typeface="Arial"/>
                <a:ea typeface="Arial"/>
                <a:cs typeface="Arial"/>
              </a:defRPr>
            </a:lvl8pPr>
            <a:lvl9pPr>
              <a:defRPr sz="3375" b="1">
                <a:solidFill>
                  <a:srgbClr val="152D39"/>
                </a:solidFill>
                <a:latin typeface="Arial"/>
                <a:ea typeface="Arial"/>
                <a:cs typeface="Arial"/>
              </a:defRPr>
            </a:lvl9pPr>
          </a:lstStyle>
          <a:p xmlns:a="http://schemas.openxmlformats.org/drawingml/2006/main">
            <a:pPr>
              <a:defRPr sz="3375" b="1">
                <a:solidFill>
                  <a:srgbClr val="152D39"/>
                </a:solidFill>
                <a:latin typeface="Arial"/>
                <a:ea typeface="Arial"/>
                <a:cs typeface="Arial"/>
              </a:defRPr>
            </a:pPr>
            <a:r>
              <a:rPr sz="3375" b="1">
                <a:solidFill>
                  <a:srgbClr val="152D39"/>
                </a:solidFill>
                <a:latin typeface="Arial"/>
                <a:ea typeface="Arial"/>
                <a:cs typeface="Arial"/>
              </a:rPr>
              <a:t>What testing changed</a:t>
            </a:r>
          </a:p>
        </p:txBody>
      </p:sp>
      <p:sp>
        <p:nvSpPr>
          <p:cNvPr id="2" name="LeanMoE">
            <a:extLst xmlns:a="http://schemas.openxmlformats.org/drawingml/2006/main">
              <a:ext uri="{FF2B5EF4-FFF2-40B4-BE49-F238E27FC236}">
                <a16:creationId xmlns:a16="http://schemas.microsoft.com/office/drawing/2014/main" id="{5B2B52B6-0BD5-4496-B09D-E93705BB170A}"/>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LeanMoE</a:t>
            </a:r>
          </a:p>
        </p:txBody>
      </p:sp>
      <p:sp>
        <p:nvSpPr>
          <p:cNvPr id="3" name="06">
            <a:extLst xmlns:a="http://schemas.openxmlformats.org/drawingml/2006/main">
              <a:ext uri="{FF2B5EF4-FFF2-40B4-BE49-F238E27FC236}">
                <a16:creationId xmlns:a16="http://schemas.microsoft.com/office/drawing/2014/main" id="{E04BBAD6-740D-4F62-ACF1-34663F23C2A9}"/>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06</a:t>
            </a:r>
          </a:p>
        </p:txBody>
      </p:sp>
      <p:sp>
        <p:nvSpPr>
          <p:cNvPr id="4" name="The estimate missed committed runtime memory.">
            <a:extLst xmlns:a="http://schemas.openxmlformats.org/drawingml/2006/main">
              <a:ext uri="{FF2B5EF4-FFF2-40B4-BE49-F238E27FC236}">
                <a16:creationId xmlns:a16="http://schemas.microsoft.com/office/drawing/2014/main" id="{A36DB5AA-2B10-41FB-B14B-EEC1D5104D14}"/>
              </a:ext>
            </a:extLst>
          </p:cNvPr>
          <p:cNvSpPr>
            <a:spLocks xmlns:a="http://schemas.openxmlformats.org/drawingml/2006/main" noGrp="1"/>
          </p:cNvSpPr>
          <p:nvPr/>
        </p:nvSpPr>
        <p:spPr>
          <a:xfrm xmlns:a="http://schemas.openxmlformats.org/drawingml/2006/main">
            <a:off x="742950" y="1704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52D39"/>
                </a:solidFill>
                <a:latin typeface="Arial"/>
                <a:ea typeface="Arial"/>
                <a:cs typeface="Arial"/>
              </a:defRPr>
            </a:defPPr>
            <a:lvl1pPr>
              <a:defRPr sz="2550" b="1">
                <a:solidFill>
                  <a:srgbClr val="152D39"/>
                </a:solidFill>
                <a:latin typeface="Arial"/>
                <a:ea typeface="Arial"/>
                <a:cs typeface="Arial"/>
              </a:defRPr>
            </a:lvl1pPr>
            <a:lvl2pPr>
              <a:defRPr sz="2550" b="1">
                <a:solidFill>
                  <a:srgbClr val="152D39"/>
                </a:solidFill>
                <a:latin typeface="Arial"/>
                <a:ea typeface="Arial"/>
                <a:cs typeface="Arial"/>
              </a:defRPr>
            </a:lvl2pPr>
            <a:lvl3pPr>
              <a:defRPr sz="2550" b="1">
                <a:solidFill>
                  <a:srgbClr val="152D39"/>
                </a:solidFill>
                <a:latin typeface="Arial"/>
                <a:ea typeface="Arial"/>
                <a:cs typeface="Arial"/>
              </a:defRPr>
            </a:lvl3pPr>
            <a:lvl4pPr>
              <a:defRPr sz="2550" b="1">
                <a:solidFill>
                  <a:srgbClr val="152D39"/>
                </a:solidFill>
                <a:latin typeface="Arial"/>
                <a:ea typeface="Arial"/>
                <a:cs typeface="Arial"/>
              </a:defRPr>
            </a:lvl4pPr>
            <a:lvl5pPr>
              <a:defRPr sz="2550" b="1">
                <a:solidFill>
                  <a:srgbClr val="152D39"/>
                </a:solidFill>
                <a:latin typeface="Arial"/>
                <a:ea typeface="Arial"/>
                <a:cs typeface="Arial"/>
              </a:defRPr>
            </a:lvl5pPr>
            <a:lvl6pPr>
              <a:defRPr sz="2550" b="1">
                <a:solidFill>
                  <a:srgbClr val="152D39"/>
                </a:solidFill>
                <a:latin typeface="Arial"/>
                <a:ea typeface="Arial"/>
                <a:cs typeface="Arial"/>
              </a:defRPr>
            </a:lvl6pPr>
            <a:lvl7pPr>
              <a:defRPr sz="2550" b="1">
                <a:solidFill>
                  <a:srgbClr val="152D39"/>
                </a:solidFill>
                <a:latin typeface="Arial"/>
                <a:ea typeface="Arial"/>
                <a:cs typeface="Arial"/>
              </a:defRPr>
            </a:lvl7pPr>
            <a:lvl8pPr>
              <a:defRPr sz="2550" b="1">
                <a:solidFill>
                  <a:srgbClr val="152D39"/>
                </a:solidFill>
                <a:latin typeface="Arial"/>
                <a:ea typeface="Arial"/>
                <a:cs typeface="Arial"/>
              </a:defRPr>
            </a:lvl8pPr>
            <a:lvl9pPr>
              <a:defRPr sz="2550" b="1">
                <a:solidFill>
                  <a:srgbClr val="152D39"/>
                </a:solidFill>
                <a:latin typeface="Arial"/>
                <a:ea typeface="Arial"/>
                <a:cs typeface="Arial"/>
              </a:defRPr>
            </a:lvl9pPr>
          </a:lstStyle>
          <a:p xmlns:a="http://schemas.openxmlformats.org/drawingml/2006/main">
            <a:pPr>
              <a:defRPr sz="2550" b="1">
                <a:solidFill>
                  <a:srgbClr val="152D39"/>
                </a:solidFill>
                <a:latin typeface="Arial"/>
                <a:ea typeface="Arial"/>
                <a:cs typeface="Arial"/>
              </a:defRPr>
            </a:pPr>
            <a:r>
              <a:rPr sz="2550" b="1">
                <a:solidFill>
                  <a:srgbClr val="152D39"/>
                </a:solidFill>
                <a:latin typeface="Arial"/>
                <a:ea typeface="Arial"/>
                <a:cs typeface="Arial"/>
              </a:rPr>
              <a:t>The estimate missed committed runtime memory.</a:t>
            </a:r>
          </a:p>
        </p:txBody>
      </p:sp>
      <p:sp>
        <p:nvSpPr>
          <p:cNvPr id="5" name="Measured import memory corrected the planning baseline.">
            <a:extLst xmlns:a="http://schemas.openxmlformats.org/drawingml/2006/main">
              <a:ext uri="{FF2B5EF4-FFF2-40B4-BE49-F238E27FC236}">
                <a16:creationId xmlns:a16="http://schemas.microsoft.com/office/drawing/2014/main" id="{3C0F5247-BE2F-4421-B753-02EAE05166B5}"/>
              </a:ext>
            </a:extLst>
          </p:cNvPr>
          <p:cNvSpPr>
            <a:spLocks xmlns:a="http://schemas.openxmlformats.org/drawingml/2006/main" noGrp="1"/>
          </p:cNvSpPr>
          <p:nvPr/>
        </p:nvSpPr>
        <p:spPr>
          <a:xfrm xmlns:a="http://schemas.openxmlformats.org/drawingml/2006/main">
            <a:off x="742950" y="24003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36A"/>
                </a:solidFill>
                <a:latin typeface="Arial"/>
                <a:ea typeface="Arial"/>
                <a:cs typeface="Arial"/>
              </a:defRPr>
            </a:defPPr>
            <a:lvl1pPr>
              <a:defRPr sz="2025" b="0">
                <a:solidFill>
                  <a:srgbClr val="52636A"/>
                </a:solidFill>
                <a:latin typeface="Arial"/>
                <a:ea typeface="Arial"/>
                <a:cs typeface="Arial"/>
              </a:defRPr>
            </a:lvl1pPr>
            <a:lvl2pPr>
              <a:defRPr sz="2025" b="0">
                <a:solidFill>
                  <a:srgbClr val="52636A"/>
                </a:solidFill>
                <a:latin typeface="Arial"/>
                <a:ea typeface="Arial"/>
                <a:cs typeface="Arial"/>
              </a:defRPr>
            </a:lvl2pPr>
            <a:lvl3pPr>
              <a:defRPr sz="2025" b="0">
                <a:solidFill>
                  <a:srgbClr val="52636A"/>
                </a:solidFill>
                <a:latin typeface="Arial"/>
                <a:ea typeface="Arial"/>
                <a:cs typeface="Arial"/>
              </a:defRPr>
            </a:lvl3pPr>
            <a:lvl4pPr>
              <a:defRPr sz="2025" b="0">
                <a:solidFill>
                  <a:srgbClr val="52636A"/>
                </a:solidFill>
                <a:latin typeface="Arial"/>
                <a:ea typeface="Arial"/>
                <a:cs typeface="Arial"/>
              </a:defRPr>
            </a:lvl4pPr>
            <a:lvl5pPr>
              <a:defRPr sz="2025" b="0">
                <a:solidFill>
                  <a:srgbClr val="52636A"/>
                </a:solidFill>
                <a:latin typeface="Arial"/>
                <a:ea typeface="Arial"/>
                <a:cs typeface="Arial"/>
              </a:defRPr>
            </a:lvl5pPr>
            <a:lvl6pPr>
              <a:defRPr sz="2025" b="0">
                <a:solidFill>
                  <a:srgbClr val="52636A"/>
                </a:solidFill>
                <a:latin typeface="Arial"/>
                <a:ea typeface="Arial"/>
                <a:cs typeface="Arial"/>
              </a:defRPr>
            </a:lvl6pPr>
            <a:lvl7pPr>
              <a:defRPr sz="2025" b="0">
                <a:solidFill>
                  <a:srgbClr val="52636A"/>
                </a:solidFill>
                <a:latin typeface="Arial"/>
                <a:ea typeface="Arial"/>
                <a:cs typeface="Arial"/>
              </a:defRPr>
            </a:lvl7pPr>
            <a:lvl8pPr>
              <a:defRPr sz="2025" b="0">
                <a:solidFill>
                  <a:srgbClr val="52636A"/>
                </a:solidFill>
                <a:latin typeface="Arial"/>
                <a:ea typeface="Arial"/>
                <a:cs typeface="Arial"/>
              </a:defRPr>
            </a:lvl8pPr>
            <a:lvl9pPr>
              <a:defRPr sz="2025" b="0">
                <a:solidFill>
                  <a:srgbClr val="52636A"/>
                </a:solidFill>
                <a:latin typeface="Arial"/>
                <a:ea typeface="Arial"/>
                <a:cs typeface="Arial"/>
              </a:defRPr>
            </a:lvl9pPr>
          </a:lstStyle>
          <a:p xmlns:a="http://schemas.openxmlformats.org/drawingml/2006/main">
            <a:pPr>
              <a:defRPr sz="2025" b="0">
                <a:solidFill>
                  <a:srgbClr val="52636A"/>
                </a:solidFill>
                <a:latin typeface="Arial"/>
                <a:ea typeface="Arial"/>
                <a:cs typeface="Arial"/>
              </a:defRPr>
            </a:pPr>
            <a:r>
              <a:rPr sz="2025" b="0">
                <a:solidFill>
                  <a:srgbClr val="52636A"/>
                </a:solidFill>
                <a:latin typeface="Arial"/>
                <a:ea typeface="Arial"/>
                <a:cs typeface="Arial"/>
              </a:rPr>
              <a:t>Measured import memory corrected the planning baseline.</a:t>
            </a:r>
          </a:p>
        </p:txBody>
      </p:sp>
      <p:sp>
        <p:nvSpPr>
          <p:cNvPr id="6" name="2.66 GB">
            <a:extLst xmlns:a="http://schemas.openxmlformats.org/drawingml/2006/main">
              <a:ext uri="{FF2B5EF4-FFF2-40B4-BE49-F238E27FC236}">
                <a16:creationId xmlns:a16="http://schemas.microsoft.com/office/drawing/2014/main" id="{1AAE5D88-99F2-404E-A2AA-755F5D73BB57}"/>
              </a:ext>
            </a:extLst>
          </p:cNvPr>
          <p:cNvSpPr>
            <a:spLocks xmlns:a="http://schemas.openxmlformats.org/drawingml/2006/main" noGrp="1"/>
          </p:cNvSpPr>
          <p:nvPr/>
        </p:nvSpPr>
        <p:spPr>
          <a:xfrm xmlns:a="http://schemas.openxmlformats.org/drawingml/2006/main">
            <a:off x="742950" y="3286125"/>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52636A"/>
                </a:solidFill>
                <a:latin typeface="Arial"/>
                <a:ea typeface="Arial"/>
                <a:cs typeface="Arial"/>
              </a:defRPr>
            </a:defPPr>
            <a:lvl1pPr>
              <a:defRPr sz="5100" b="1">
                <a:solidFill>
                  <a:srgbClr val="52636A"/>
                </a:solidFill>
                <a:latin typeface="Arial"/>
                <a:ea typeface="Arial"/>
                <a:cs typeface="Arial"/>
              </a:defRPr>
            </a:lvl1pPr>
            <a:lvl2pPr>
              <a:defRPr sz="5100" b="1">
                <a:solidFill>
                  <a:srgbClr val="52636A"/>
                </a:solidFill>
                <a:latin typeface="Arial"/>
                <a:ea typeface="Arial"/>
                <a:cs typeface="Arial"/>
              </a:defRPr>
            </a:lvl2pPr>
            <a:lvl3pPr>
              <a:defRPr sz="5100" b="1">
                <a:solidFill>
                  <a:srgbClr val="52636A"/>
                </a:solidFill>
                <a:latin typeface="Arial"/>
                <a:ea typeface="Arial"/>
                <a:cs typeface="Arial"/>
              </a:defRPr>
            </a:lvl3pPr>
            <a:lvl4pPr>
              <a:defRPr sz="5100" b="1">
                <a:solidFill>
                  <a:srgbClr val="52636A"/>
                </a:solidFill>
                <a:latin typeface="Arial"/>
                <a:ea typeface="Arial"/>
                <a:cs typeface="Arial"/>
              </a:defRPr>
            </a:lvl4pPr>
            <a:lvl5pPr>
              <a:defRPr sz="5100" b="1">
                <a:solidFill>
                  <a:srgbClr val="52636A"/>
                </a:solidFill>
                <a:latin typeface="Arial"/>
                <a:ea typeface="Arial"/>
                <a:cs typeface="Arial"/>
              </a:defRPr>
            </a:lvl5pPr>
            <a:lvl6pPr>
              <a:defRPr sz="5100" b="1">
                <a:solidFill>
                  <a:srgbClr val="52636A"/>
                </a:solidFill>
                <a:latin typeface="Arial"/>
                <a:ea typeface="Arial"/>
                <a:cs typeface="Arial"/>
              </a:defRPr>
            </a:lvl6pPr>
            <a:lvl7pPr>
              <a:defRPr sz="5100" b="1">
                <a:solidFill>
                  <a:srgbClr val="52636A"/>
                </a:solidFill>
                <a:latin typeface="Arial"/>
                <a:ea typeface="Arial"/>
                <a:cs typeface="Arial"/>
              </a:defRPr>
            </a:lvl7pPr>
            <a:lvl8pPr>
              <a:defRPr sz="5100" b="1">
                <a:solidFill>
                  <a:srgbClr val="52636A"/>
                </a:solidFill>
                <a:latin typeface="Arial"/>
                <a:ea typeface="Arial"/>
                <a:cs typeface="Arial"/>
              </a:defRPr>
            </a:lvl8pPr>
            <a:lvl9pPr>
              <a:defRPr sz="5100" b="1">
                <a:solidFill>
                  <a:srgbClr val="52636A"/>
                </a:solidFill>
                <a:latin typeface="Arial"/>
                <a:ea typeface="Arial"/>
                <a:cs typeface="Arial"/>
              </a:defRPr>
            </a:lvl9pPr>
          </a:lstStyle>
          <a:p xmlns:a="http://schemas.openxmlformats.org/drawingml/2006/main">
            <a:pPr>
              <a:defRPr sz="5100" b="1">
                <a:solidFill>
                  <a:srgbClr val="52636A"/>
                </a:solidFill>
                <a:latin typeface="Arial"/>
                <a:ea typeface="Arial"/>
                <a:cs typeface="Arial"/>
              </a:defRPr>
            </a:pPr>
            <a:r>
              <a:rPr sz="5100" b="1">
                <a:solidFill>
                  <a:srgbClr val="52636A"/>
                </a:solidFill>
                <a:latin typeface="Arial"/>
                <a:ea typeface="Arial"/>
                <a:cs typeface="Arial"/>
              </a:rPr>
              <a:t>2.66 GB</a:t>
            </a:r>
          </a:p>
        </p:txBody>
      </p:sp>
      <p:sp>
        <p:nvSpPr>
          <p:cNvPr id="7" name="Before correction">
            <a:extLst xmlns:a="http://schemas.openxmlformats.org/drawingml/2006/main">
              <a:ext uri="{FF2B5EF4-FFF2-40B4-BE49-F238E27FC236}">
                <a16:creationId xmlns:a16="http://schemas.microsoft.com/office/drawing/2014/main" id="{CB2B6DE6-FC2D-4FD8-A1A1-12B3709E783F}"/>
              </a:ext>
            </a:extLst>
          </p:cNvPr>
          <p:cNvSpPr>
            <a:spLocks xmlns:a="http://schemas.openxmlformats.org/drawingml/2006/main" noGrp="1"/>
          </p:cNvSpPr>
          <p:nvPr/>
        </p:nvSpPr>
        <p:spPr>
          <a:xfrm xmlns:a="http://schemas.openxmlformats.org/drawingml/2006/main">
            <a:off x="781050" y="4305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36A"/>
                </a:solidFill>
                <a:latin typeface="Arial"/>
                <a:ea typeface="Arial"/>
                <a:cs typeface="Arial"/>
              </a:defRPr>
            </a:defPPr>
            <a:lvl1pPr>
              <a:defRPr sz="1800" b="0">
                <a:solidFill>
                  <a:srgbClr val="52636A"/>
                </a:solidFill>
                <a:latin typeface="Arial"/>
                <a:ea typeface="Arial"/>
                <a:cs typeface="Arial"/>
              </a:defRPr>
            </a:lvl1pPr>
            <a:lvl2pPr>
              <a:defRPr sz="1800" b="0">
                <a:solidFill>
                  <a:srgbClr val="52636A"/>
                </a:solidFill>
                <a:latin typeface="Arial"/>
                <a:ea typeface="Arial"/>
                <a:cs typeface="Arial"/>
              </a:defRPr>
            </a:lvl2pPr>
            <a:lvl3pPr>
              <a:defRPr sz="1800" b="0">
                <a:solidFill>
                  <a:srgbClr val="52636A"/>
                </a:solidFill>
                <a:latin typeface="Arial"/>
                <a:ea typeface="Arial"/>
                <a:cs typeface="Arial"/>
              </a:defRPr>
            </a:lvl3pPr>
            <a:lvl4pPr>
              <a:defRPr sz="1800" b="0">
                <a:solidFill>
                  <a:srgbClr val="52636A"/>
                </a:solidFill>
                <a:latin typeface="Arial"/>
                <a:ea typeface="Arial"/>
                <a:cs typeface="Arial"/>
              </a:defRPr>
            </a:lvl4pPr>
            <a:lvl5pPr>
              <a:defRPr sz="1800" b="0">
                <a:solidFill>
                  <a:srgbClr val="52636A"/>
                </a:solidFill>
                <a:latin typeface="Arial"/>
                <a:ea typeface="Arial"/>
                <a:cs typeface="Arial"/>
              </a:defRPr>
            </a:lvl5pPr>
            <a:lvl6pPr>
              <a:defRPr sz="1800" b="0">
                <a:solidFill>
                  <a:srgbClr val="52636A"/>
                </a:solidFill>
                <a:latin typeface="Arial"/>
                <a:ea typeface="Arial"/>
                <a:cs typeface="Arial"/>
              </a:defRPr>
            </a:lvl6pPr>
            <a:lvl7pPr>
              <a:defRPr sz="1800" b="0">
                <a:solidFill>
                  <a:srgbClr val="52636A"/>
                </a:solidFill>
                <a:latin typeface="Arial"/>
                <a:ea typeface="Arial"/>
                <a:cs typeface="Arial"/>
              </a:defRPr>
            </a:lvl7pPr>
            <a:lvl8pPr>
              <a:defRPr sz="1800" b="0">
                <a:solidFill>
                  <a:srgbClr val="52636A"/>
                </a:solidFill>
                <a:latin typeface="Arial"/>
                <a:ea typeface="Arial"/>
                <a:cs typeface="Arial"/>
              </a:defRPr>
            </a:lvl8pPr>
            <a:lvl9pPr>
              <a:defRPr sz="1800" b="0">
                <a:solidFill>
                  <a:srgbClr val="52636A"/>
                </a:solidFill>
                <a:latin typeface="Arial"/>
                <a:ea typeface="Arial"/>
                <a:cs typeface="Arial"/>
              </a:defRPr>
            </a:lvl9pPr>
          </a:lstStyle>
          <a:p xmlns:a="http://schemas.openxmlformats.org/drawingml/2006/main">
            <a:pPr>
              <a:defRPr sz="1800" b="0">
                <a:solidFill>
                  <a:srgbClr val="52636A"/>
                </a:solidFill>
                <a:latin typeface="Arial"/>
                <a:ea typeface="Arial"/>
                <a:cs typeface="Arial"/>
              </a:defRPr>
            </a:pPr>
            <a:r>
              <a:rPr sz="1800" b="0">
                <a:solidFill>
                  <a:srgbClr val="52636A"/>
                </a:solidFill>
                <a:latin typeface="Arial"/>
                <a:ea typeface="Arial"/>
                <a:cs typeface="Arial"/>
              </a:rPr>
              <a:t>Before correction</a:t>
            </a:r>
          </a:p>
        </p:txBody>
      </p:sp>
      <p:sp>
        <p:nvSpPr>
          <p:cNvPr id="8" name="2.47 GB">
            <a:extLst xmlns:a="http://schemas.openxmlformats.org/drawingml/2006/main">
              <a:ext uri="{FF2B5EF4-FFF2-40B4-BE49-F238E27FC236}">
                <a16:creationId xmlns:a16="http://schemas.microsoft.com/office/drawing/2014/main" id="{4CC163E4-1821-4BBA-9820-9A47F4420578}"/>
              </a:ext>
            </a:extLst>
          </p:cNvPr>
          <p:cNvSpPr>
            <a:spLocks xmlns:a="http://schemas.openxmlformats.org/drawingml/2006/main" noGrp="1"/>
          </p:cNvSpPr>
          <p:nvPr/>
        </p:nvSpPr>
        <p:spPr>
          <a:xfrm xmlns:a="http://schemas.openxmlformats.org/drawingml/2006/main">
            <a:off x="6743700" y="3286125"/>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08B83"/>
                </a:solidFill>
                <a:latin typeface="Arial"/>
                <a:ea typeface="Arial"/>
                <a:cs typeface="Arial"/>
              </a:defRPr>
            </a:defPPr>
            <a:lvl1pPr>
              <a:defRPr sz="5100" b="1">
                <a:solidFill>
                  <a:srgbClr val="008B83"/>
                </a:solidFill>
                <a:latin typeface="Arial"/>
                <a:ea typeface="Arial"/>
                <a:cs typeface="Arial"/>
              </a:defRPr>
            </a:lvl1pPr>
            <a:lvl2pPr>
              <a:defRPr sz="5100" b="1">
                <a:solidFill>
                  <a:srgbClr val="008B83"/>
                </a:solidFill>
                <a:latin typeface="Arial"/>
                <a:ea typeface="Arial"/>
                <a:cs typeface="Arial"/>
              </a:defRPr>
            </a:lvl2pPr>
            <a:lvl3pPr>
              <a:defRPr sz="5100" b="1">
                <a:solidFill>
                  <a:srgbClr val="008B83"/>
                </a:solidFill>
                <a:latin typeface="Arial"/>
                <a:ea typeface="Arial"/>
                <a:cs typeface="Arial"/>
              </a:defRPr>
            </a:lvl3pPr>
            <a:lvl4pPr>
              <a:defRPr sz="5100" b="1">
                <a:solidFill>
                  <a:srgbClr val="008B83"/>
                </a:solidFill>
                <a:latin typeface="Arial"/>
                <a:ea typeface="Arial"/>
                <a:cs typeface="Arial"/>
              </a:defRPr>
            </a:lvl4pPr>
            <a:lvl5pPr>
              <a:defRPr sz="5100" b="1">
                <a:solidFill>
                  <a:srgbClr val="008B83"/>
                </a:solidFill>
                <a:latin typeface="Arial"/>
                <a:ea typeface="Arial"/>
                <a:cs typeface="Arial"/>
              </a:defRPr>
            </a:lvl5pPr>
            <a:lvl6pPr>
              <a:defRPr sz="5100" b="1">
                <a:solidFill>
                  <a:srgbClr val="008B83"/>
                </a:solidFill>
                <a:latin typeface="Arial"/>
                <a:ea typeface="Arial"/>
                <a:cs typeface="Arial"/>
              </a:defRPr>
            </a:lvl6pPr>
            <a:lvl7pPr>
              <a:defRPr sz="5100" b="1">
                <a:solidFill>
                  <a:srgbClr val="008B83"/>
                </a:solidFill>
                <a:latin typeface="Arial"/>
                <a:ea typeface="Arial"/>
                <a:cs typeface="Arial"/>
              </a:defRPr>
            </a:lvl7pPr>
            <a:lvl8pPr>
              <a:defRPr sz="5100" b="1">
                <a:solidFill>
                  <a:srgbClr val="008B83"/>
                </a:solidFill>
                <a:latin typeface="Arial"/>
                <a:ea typeface="Arial"/>
                <a:cs typeface="Arial"/>
              </a:defRPr>
            </a:lvl8pPr>
            <a:lvl9pPr>
              <a:defRPr sz="5100" b="1">
                <a:solidFill>
                  <a:srgbClr val="008B83"/>
                </a:solidFill>
                <a:latin typeface="Arial"/>
                <a:ea typeface="Arial"/>
                <a:cs typeface="Arial"/>
              </a:defRPr>
            </a:lvl9pPr>
          </a:lstStyle>
          <a:p xmlns:a="http://schemas.openxmlformats.org/drawingml/2006/main">
            <a:pPr>
              <a:defRPr sz="5100" b="1">
                <a:solidFill>
                  <a:srgbClr val="008B83"/>
                </a:solidFill>
                <a:latin typeface="Arial"/>
                <a:ea typeface="Arial"/>
                <a:cs typeface="Arial"/>
              </a:defRPr>
            </a:pPr>
            <a:r>
              <a:rPr sz="5100" b="1">
                <a:solidFill>
                  <a:srgbClr val="008B83"/>
                </a:solidFill>
                <a:latin typeface="Arial"/>
                <a:ea typeface="Arial"/>
                <a:cs typeface="Arial"/>
              </a:rPr>
              <a:t>2.47 GB</a:t>
            </a:r>
          </a:p>
        </p:txBody>
      </p:sp>
      <p:sp>
        <p:nvSpPr>
          <p:cNvPr id="9" name="After correction">
            <a:extLst xmlns:a="http://schemas.openxmlformats.org/drawingml/2006/main">
              <a:ext uri="{FF2B5EF4-FFF2-40B4-BE49-F238E27FC236}">
                <a16:creationId xmlns:a16="http://schemas.microsoft.com/office/drawing/2014/main" id="{8357D82E-7BCD-4C9B-859F-3E7EA93C2C3F}"/>
              </a:ext>
            </a:extLst>
          </p:cNvPr>
          <p:cNvSpPr>
            <a:spLocks xmlns:a="http://schemas.openxmlformats.org/drawingml/2006/main" noGrp="1"/>
          </p:cNvSpPr>
          <p:nvPr/>
        </p:nvSpPr>
        <p:spPr>
          <a:xfrm xmlns:a="http://schemas.openxmlformats.org/drawingml/2006/main">
            <a:off x="6781800" y="4305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36A"/>
                </a:solidFill>
                <a:latin typeface="Arial"/>
                <a:ea typeface="Arial"/>
                <a:cs typeface="Arial"/>
              </a:defRPr>
            </a:defPPr>
            <a:lvl1pPr>
              <a:defRPr sz="1800" b="0">
                <a:solidFill>
                  <a:srgbClr val="52636A"/>
                </a:solidFill>
                <a:latin typeface="Arial"/>
                <a:ea typeface="Arial"/>
                <a:cs typeface="Arial"/>
              </a:defRPr>
            </a:lvl1pPr>
            <a:lvl2pPr>
              <a:defRPr sz="1800" b="0">
                <a:solidFill>
                  <a:srgbClr val="52636A"/>
                </a:solidFill>
                <a:latin typeface="Arial"/>
                <a:ea typeface="Arial"/>
                <a:cs typeface="Arial"/>
              </a:defRPr>
            </a:lvl2pPr>
            <a:lvl3pPr>
              <a:defRPr sz="1800" b="0">
                <a:solidFill>
                  <a:srgbClr val="52636A"/>
                </a:solidFill>
                <a:latin typeface="Arial"/>
                <a:ea typeface="Arial"/>
                <a:cs typeface="Arial"/>
              </a:defRPr>
            </a:lvl3pPr>
            <a:lvl4pPr>
              <a:defRPr sz="1800" b="0">
                <a:solidFill>
                  <a:srgbClr val="52636A"/>
                </a:solidFill>
                <a:latin typeface="Arial"/>
                <a:ea typeface="Arial"/>
                <a:cs typeface="Arial"/>
              </a:defRPr>
            </a:lvl4pPr>
            <a:lvl5pPr>
              <a:defRPr sz="1800" b="0">
                <a:solidFill>
                  <a:srgbClr val="52636A"/>
                </a:solidFill>
                <a:latin typeface="Arial"/>
                <a:ea typeface="Arial"/>
                <a:cs typeface="Arial"/>
              </a:defRPr>
            </a:lvl5pPr>
            <a:lvl6pPr>
              <a:defRPr sz="1800" b="0">
                <a:solidFill>
                  <a:srgbClr val="52636A"/>
                </a:solidFill>
                <a:latin typeface="Arial"/>
                <a:ea typeface="Arial"/>
                <a:cs typeface="Arial"/>
              </a:defRPr>
            </a:lvl6pPr>
            <a:lvl7pPr>
              <a:defRPr sz="1800" b="0">
                <a:solidFill>
                  <a:srgbClr val="52636A"/>
                </a:solidFill>
                <a:latin typeface="Arial"/>
                <a:ea typeface="Arial"/>
                <a:cs typeface="Arial"/>
              </a:defRPr>
            </a:lvl7pPr>
            <a:lvl8pPr>
              <a:defRPr sz="1800" b="0">
                <a:solidFill>
                  <a:srgbClr val="52636A"/>
                </a:solidFill>
                <a:latin typeface="Arial"/>
                <a:ea typeface="Arial"/>
                <a:cs typeface="Arial"/>
              </a:defRPr>
            </a:lvl8pPr>
            <a:lvl9pPr>
              <a:defRPr sz="1800" b="0">
                <a:solidFill>
                  <a:srgbClr val="52636A"/>
                </a:solidFill>
                <a:latin typeface="Arial"/>
                <a:ea typeface="Arial"/>
                <a:cs typeface="Arial"/>
              </a:defRPr>
            </a:lvl9pPr>
          </a:lstStyle>
          <a:p xmlns:a="http://schemas.openxmlformats.org/drawingml/2006/main">
            <a:pPr>
              <a:defRPr sz="1800" b="0">
                <a:solidFill>
                  <a:srgbClr val="52636A"/>
                </a:solidFill>
                <a:latin typeface="Arial"/>
                <a:ea typeface="Arial"/>
                <a:cs typeface="Arial"/>
              </a:defRPr>
            </a:pPr>
            <a:r>
              <a:rPr sz="1800" b="0">
                <a:solidFill>
                  <a:srgbClr val="52636A"/>
                </a:solidFill>
                <a:latin typeface="Arial"/>
                <a:ea typeface="Arial"/>
                <a:cs typeface="Arial"/>
              </a:rPr>
              <a:t>After correction</a:t>
            </a:r>
          </a:p>
        </p:txBody>
      </p:sp>
      <p:sp>
        <p:nvSpPr>
          <p:cNvPr id="10" name="">
            <a:extLst xmlns:a="http://schemas.openxmlformats.org/drawingml/2006/main">
              <a:ext uri="{FF2B5EF4-FFF2-40B4-BE49-F238E27FC236}">
                <a16:creationId xmlns:a16="http://schemas.microsoft.com/office/drawing/2014/main" id="{86C4EB22-3BC4-4BDF-AE0E-97C9448BD5C0}"/>
              </a:ext>
            </a:extLst>
          </p:cNvPr>
          <p:cNvSpPr>
            <a:spLocks xmlns:a="http://schemas.openxmlformats.org/drawingml/2006/main" noGrp="1"/>
          </p:cNvSpPr>
          <p:nvPr/>
        </p:nvSpPr>
        <p:spPr>
          <a:xfrm xmlns:a="http://schemas.openxmlformats.org/drawingml/2006/main">
            <a:off x="742950" y="5019675"/>
            <a:ext cx="10668000" cy="19050"/>
          </a:xfrm>
          <a:prstGeom xmlns:a="http://schemas.openxmlformats.org/drawingml/2006/main" prst="rect">
            <a:avLst/>
          </a:prstGeom>
          <a:solidFill xmlns:a="http://schemas.openxmlformats.org/drawingml/2006/main">
            <a:srgbClr val="D5DBD7"/>
          </a:solidFill>
          <a:ln xmlns:a="http://schemas.openxmlformats.org/drawingml/2006/main" w="0">
            <a:noFill/>
          </a:ln>
        </p:spPr>
      </p:sp>
      <p:sp>
        <p:nvSpPr>
          <p:cNvPr id="11" name="Foundation: my earlier ExpertRelay engine, cache, predi">
            <a:extLst xmlns:a="http://schemas.openxmlformats.org/drawingml/2006/main">
              <a:ext uri="{FF2B5EF4-FFF2-40B4-BE49-F238E27FC236}">
                <a16:creationId xmlns:a16="http://schemas.microsoft.com/office/drawing/2014/main" id="{E6B885CB-7967-4E3D-935C-EF9DBBFFC244}"/>
              </a:ext>
            </a:extLst>
          </p:cNvPr>
          <p:cNvSpPr>
            <a:spLocks xmlns:a="http://schemas.openxmlformats.org/drawingml/2006/main" noGrp="1"/>
          </p:cNvSpPr>
          <p:nvPr/>
        </p:nvSpPr>
        <p:spPr>
          <a:xfrm xmlns:a="http://schemas.openxmlformats.org/drawingml/2006/main">
            <a:off x="742950" y="53530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52D39"/>
                </a:solidFill>
                <a:latin typeface="Arial"/>
                <a:ea typeface="Arial"/>
                <a:cs typeface="Arial"/>
              </a:defRPr>
            </a:defPPr>
            <a:lvl1pPr>
              <a:defRPr sz="1875" b="0">
                <a:solidFill>
                  <a:srgbClr val="152D39"/>
                </a:solidFill>
                <a:latin typeface="Arial"/>
                <a:ea typeface="Arial"/>
                <a:cs typeface="Arial"/>
              </a:defRPr>
            </a:lvl1pPr>
            <a:lvl2pPr>
              <a:defRPr sz="1875" b="0">
                <a:solidFill>
                  <a:srgbClr val="152D39"/>
                </a:solidFill>
                <a:latin typeface="Arial"/>
                <a:ea typeface="Arial"/>
                <a:cs typeface="Arial"/>
              </a:defRPr>
            </a:lvl2pPr>
            <a:lvl3pPr>
              <a:defRPr sz="1875" b="0">
                <a:solidFill>
                  <a:srgbClr val="152D39"/>
                </a:solidFill>
                <a:latin typeface="Arial"/>
                <a:ea typeface="Arial"/>
                <a:cs typeface="Arial"/>
              </a:defRPr>
            </a:lvl3pPr>
            <a:lvl4pPr>
              <a:defRPr sz="1875" b="0">
                <a:solidFill>
                  <a:srgbClr val="152D39"/>
                </a:solidFill>
                <a:latin typeface="Arial"/>
                <a:ea typeface="Arial"/>
                <a:cs typeface="Arial"/>
              </a:defRPr>
            </a:lvl4pPr>
            <a:lvl5pPr>
              <a:defRPr sz="1875" b="0">
                <a:solidFill>
                  <a:srgbClr val="152D39"/>
                </a:solidFill>
                <a:latin typeface="Arial"/>
                <a:ea typeface="Arial"/>
                <a:cs typeface="Arial"/>
              </a:defRPr>
            </a:lvl5pPr>
            <a:lvl6pPr>
              <a:defRPr sz="1875" b="0">
                <a:solidFill>
                  <a:srgbClr val="152D39"/>
                </a:solidFill>
                <a:latin typeface="Arial"/>
                <a:ea typeface="Arial"/>
                <a:cs typeface="Arial"/>
              </a:defRPr>
            </a:lvl6pPr>
            <a:lvl7pPr>
              <a:defRPr sz="1875" b="0">
                <a:solidFill>
                  <a:srgbClr val="152D39"/>
                </a:solidFill>
                <a:latin typeface="Arial"/>
                <a:ea typeface="Arial"/>
                <a:cs typeface="Arial"/>
              </a:defRPr>
            </a:lvl7pPr>
            <a:lvl8pPr>
              <a:defRPr sz="1875" b="0">
                <a:solidFill>
                  <a:srgbClr val="152D39"/>
                </a:solidFill>
                <a:latin typeface="Arial"/>
                <a:ea typeface="Arial"/>
                <a:cs typeface="Arial"/>
              </a:defRPr>
            </a:lvl8pPr>
            <a:lvl9pPr>
              <a:defRPr sz="1875" b="0">
                <a:solidFill>
                  <a:srgbClr val="152D39"/>
                </a:solidFill>
                <a:latin typeface="Arial"/>
                <a:ea typeface="Arial"/>
                <a:cs typeface="Arial"/>
              </a:defRPr>
            </a:lvl9pPr>
          </a:lstStyle>
          <a:p xmlns:a="http://schemas.openxmlformats.org/drawingml/2006/main">
            <a:pPr>
              <a:defRPr sz="1875" b="0">
                <a:solidFill>
                  <a:srgbClr val="152D39"/>
                </a:solidFill>
                <a:latin typeface="Arial"/>
                <a:ea typeface="Arial"/>
                <a:cs typeface="Arial"/>
              </a:defRPr>
            </a:pPr>
            <a:r>
              <a:rPr sz="1875" b="0">
                <a:solidFill>
                  <a:srgbClr val="152D39"/>
                </a:solidFill>
                <a:latin typeface="Arial"/>
                <a:ea typeface="Arial"/>
                <a:cs typeface="Arial"/>
              </a:rPr>
              <a:t>Foundation: my earlier ExpertRelay engine, cache, predictor and LiveBudget.</a:t>
            </a:r>
          </a:p>
          <a:p xmlns:a="http://schemas.openxmlformats.org/drawingml/2006/main">
            <a:pPr>
              <a:defRPr sz="1875" b="0">
                <a:solidFill>
                  <a:srgbClr val="152D39"/>
                </a:solidFill>
                <a:latin typeface="Arial"/>
                <a:ea typeface="Arial"/>
                <a:cs typeface="Arial"/>
              </a:defRPr>
            </a:pPr>
            <a:r>
              <a:rPr sz="1875" b="0">
                <a:solidFill>
                  <a:srgbClr val="152D39"/>
                </a:solidFill>
                <a:latin typeface="Arial"/>
                <a:ea typeface="Arial"/>
                <a:cs typeface="Arial"/>
              </a:rPr>
              <a:t>LeanMoE adds accounting fixes, tuning, real-model evaluation and the dashboard.</a:t>
            </a:r>
          </a:p>
        </p:txBody>
      </p:sp>
    </p:spTree>
    <p:extLst>
      <p:ext uri="{BB962C8B-B14F-4D97-AF65-F5344CB8AC3E}">
        <p14:creationId xmlns:p14="http://schemas.microsoft.com/office/powerpoint/2010/main" val="723402234"/>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A reviewer can test the engine without the model">
            <a:extLst xmlns:a="http://schemas.openxmlformats.org/drawingml/2006/main">
              <a:ext uri="{FF2B5EF4-FFF2-40B4-BE49-F238E27FC236}">
                <a16:creationId xmlns:a16="http://schemas.microsoft.com/office/drawing/2014/main" id="{3BFE54CD-6ED8-4416-91B8-DE7D8F676881}"/>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52D39"/>
                </a:solidFill>
                <a:latin typeface="Arial"/>
                <a:ea typeface="Arial"/>
                <a:cs typeface="Arial"/>
              </a:defRPr>
            </a:defPPr>
            <a:lvl1pPr>
              <a:defRPr sz="3375" b="1">
                <a:solidFill>
                  <a:srgbClr val="152D39"/>
                </a:solidFill>
                <a:latin typeface="Arial"/>
                <a:ea typeface="Arial"/>
                <a:cs typeface="Arial"/>
              </a:defRPr>
            </a:lvl1pPr>
            <a:lvl2pPr>
              <a:defRPr sz="3375" b="1">
                <a:solidFill>
                  <a:srgbClr val="152D39"/>
                </a:solidFill>
                <a:latin typeface="Arial"/>
                <a:ea typeface="Arial"/>
                <a:cs typeface="Arial"/>
              </a:defRPr>
            </a:lvl2pPr>
            <a:lvl3pPr>
              <a:defRPr sz="3375" b="1">
                <a:solidFill>
                  <a:srgbClr val="152D39"/>
                </a:solidFill>
                <a:latin typeface="Arial"/>
                <a:ea typeface="Arial"/>
                <a:cs typeface="Arial"/>
              </a:defRPr>
            </a:lvl3pPr>
            <a:lvl4pPr>
              <a:defRPr sz="3375" b="1">
                <a:solidFill>
                  <a:srgbClr val="152D39"/>
                </a:solidFill>
                <a:latin typeface="Arial"/>
                <a:ea typeface="Arial"/>
                <a:cs typeface="Arial"/>
              </a:defRPr>
            </a:lvl4pPr>
            <a:lvl5pPr>
              <a:defRPr sz="3375" b="1">
                <a:solidFill>
                  <a:srgbClr val="152D39"/>
                </a:solidFill>
                <a:latin typeface="Arial"/>
                <a:ea typeface="Arial"/>
                <a:cs typeface="Arial"/>
              </a:defRPr>
            </a:lvl5pPr>
            <a:lvl6pPr>
              <a:defRPr sz="3375" b="1">
                <a:solidFill>
                  <a:srgbClr val="152D39"/>
                </a:solidFill>
                <a:latin typeface="Arial"/>
                <a:ea typeface="Arial"/>
                <a:cs typeface="Arial"/>
              </a:defRPr>
            </a:lvl6pPr>
            <a:lvl7pPr>
              <a:defRPr sz="3375" b="1">
                <a:solidFill>
                  <a:srgbClr val="152D39"/>
                </a:solidFill>
                <a:latin typeface="Arial"/>
                <a:ea typeface="Arial"/>
                <a:cs typeface="Arial"/>
              </a:defRPr>
            </a:lvl7pPr>
            <a:lvl8pPr>
              <a:defRPr sz="3375" b="1">
                <a:solidFill>
                  <a:srgbClr val="152D39"/>
                </a:solidFill>
                <a:latin typeface="Arial"/>
                <a:ea typeface="Arial"/>
                <a:cs typeface="Arial"/>
              </a:defRPr>
            </a:lvl8pPr>
            <a:lvl9pPr>
              <a:defRPr sz="3375" b="1">
                <a:solidFill>
                  <a:srgbClr val="152D39"/>
                </a:solidFill>
                <a:latin typeface="Arial"/>
                <a:ea typeface="Arial"/>
                <a:cs typeface="Arial"/>
              </a:defRPr>
            </a:lvl9pPr>
          </a:lstStyle>
          <a:p xmlns:a="http://schemas.openxmlformats.org/drawingml/2006/main">
            <a:pPr>
              <a:defRPr sz="3375" b="1">
                <a:solidFill>
                  <a:srgbClr val="152D39"/>
                </a:solidFill>
                <a:latin typeface="Arial"/>
                <a:ea typeface="Arial"/>
                <a:cs typeface="Arial"/>
              </a:defRPr>
            </a:pPr>
            <a:r>
              <a:rPr sz="3375" b="1">
                <a:solidFill>
                  <a:srgbClr val="152D39"/>
                </a:solidFill>
                <a:latin typeface="Arial"/>
                <a:ea typeface="Arial"/>
                <a:cs typeface="Arial"/>
              </a:rPr>
              <a:t>A reviewer can test the engine without the model</a:t>
            </a:r>
          </a:p>
        </p:txBody>
      </p:sp>
      <p:sp>
        <p:nvSpPr>
          <p:cNvPr id="2" name="LeanMoE">
            <a:extLst xmlns:a="http://schemas.openxmlformats.org/drawingml/2006/main">
              <a:ext uri="{FF2B5EF4-FFF2-40B4-BE49-F238E27FC236}">
                <a16:creationId xmlns:a16="http://schemas.microsoft.com/office/drawing/2014/main" id="{5924A9B9-8CEA-45D4-A006-5CCD3F9A9B7D}"/>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LeanMoE</a:t>
            </a:r>
          </a:p>
        </p:txBody>
      </p:sp>
      <p:sp>
        <p:nvSpPr>
          <p:cNvPr id="3" name="07">
            <a:extLst xmlns:a="http://schemas.openxmlformats.org/drawingml/2006/main">
              <a:ext uri="{FF2B5EF4-FFF2-40B4-BE49-F238E27FC236}">
                <a16:creationId xmlns:a16="http://schemas.microsoft.com/office/drawing/2014/main" id="{EC7280E3-40FD-4E8C-A435-DFC2620A3B9C}"/>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07</a:t>
            </a:r>
          </a:p>
        </p:txBody>
      </p:sp>
      <p:sp>
        <p:nvSpPr>
          <p:cNvPr id="4" name="Clone. Set up. Run the tests.">
            <a:extLst xmlns:a="http://schemas.openxmlformats.org/drawingml/2006/main">
              <a:ext uri="{FF2B5EF4-FFF2-40B4-BE49-F238E27FC236}">
                <a16:creationId xmlns:a16="http://schemas.microsoft.com/office/drawing/2014/main" id="{49A01684-D866-4221-BB4D-677D883D8C79}"/>
              </a:ext>
            </a:extLst>
          </p:cNvPr>
          <p:cNvSpPr>
            <a:spLocks xmlns:a="http://schemas.openxmlformats.org/drawingml/2006/main" noGrp="1"/>
          </p:cNvSpPr>
          <p:nvPr/>
        </p:nvSpPr>
        <p:spPr>
          <a:xfrm xmlns:a="http://schemas.openxmlformats.org/drawingml/2006/main">
            <a:off x="742950" y="167640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08B83"/>
                </a:solidFill>
                <a:latin typeface="Arial"/>
                <a:ea typeface="Arial"/>
                <a:cs typeface="Arial"/>
              </a:defRPr>
            </a:defPPr>
            <a:lvl1pPr>
              <a:defRPr sz="2625" b="1">
                <a:solidFill>
                  <a:srgbClr val="008B83"/>
                </a:solidFill>
                <a:latin typeface="Arial"/>
                <a:ea typeface="Arial"/>
                <a:cs typeface="Arial"/>
              </a:defRPr>
            </a:lvl1pPr>
            <a:lvl2pPr>
              <a:defRPr sz="2625" b="1">
                <a:solidFill>
                  <a:srgbClr val="008B83"/>
                </a:solidFill>
                <a:latin typeface="Arial"/>
                <a:ea typeface="Arial"/>
                <a:cs typeface="Arial"/>
              </a:defRPr>
            </a:lvl2pPr>
            <a:lvl3pPr>
              <a:defRPr sz="2625" b="1">
                <a:solidFill>
                  <a:srgbClr val="008B83"/>
                </a:solidFill>
                <a:latin typeface="Arial"/>
                <a:ea typeface="Arial"/>
                <a:cs typeface="Arial"/>
              </a:defRPr>
            </a:lvl3pPr>
            <a:lvl4pPr>
              <a:defRPr sz="2625" b="1">
                <a:solidFill>
                  <a:srgbClr val="008B83"/>
                </a:solidFill>
                <a:latin typeface="Arial"/>
                <a:ea typeface="Arial"/>
                <a:cs typeface="Arial"/>
              </a:defRPr>
            </a:lvl4pPr>
            <a:lvl5pPr>
              <a:defRPr sz="2625" b="1">
                <a:solidFill>
                  <a:srgbClr val="008B83"/>
                </a:solidFill>
                <a:latin typeface="Arial"/>
                <a:ea typeface="Arial"/>
                <a:cs typeface="Arial"/>
              </a:defRPr>
            </a:lvl5pPr>
            <a:lvl6pPr>
              <a:defRPr sz="2625" b="1">
                <a:solidFill>
                  <a:srgbClr val="008B83"/>
                </a:solidFill>
                <a:latin typeface="Arial"/>
                <a:ea typeface="Arial"/>
                <a:cs typeface="Arial"/>
              </a:defRPr>
            </a:lvl6pPr>
            <a:lvl7pPr>
              <a:defRPr sz="2625" b="1">
                <a:solidFill>
                  <a:srgbClr val="008B83"/>
                </a:solidFill>
                <a:latin typeface="Arial"/>
                <a:ea typeface="Arial"/>
                <a:cs typeface="Arial"/>
              </a:defRPr>
            </a:lvl7pPr>
            <a:lvl8pPr>
              <a:defRPr sz="2625" b="1">
                <a:solidFill>
                  <a:srgbClr val="008B83"/>
                </a:solidFill>
                <a:latin typeface="Arial"/>
                <a:ea typeface="Arial"/>
                <a:cs typeface="Arial"/>
              </a:defRPr>
            </a:lvl8pPr>
            <a:lvl9pPr>
              <a:defRPr sz="2625" b="1">
                <a:solidFill>
                  <a:srgbClr val="008B83"/>
                </a:solidFill>
                <a:latin typeface="Arial"/>
                <a:ea typeface="Arial"/>
                <a:cs typeface="Arial"/>
              </a:defRPr>
            </a:lvl9pPr>
          </a:lstStyle>
          <a:p xmlns:a="http://schemas.openxmlformats.org/drawingml/2006/main">
            <a:pPr>
              <a:defRPr sz="2625" b="1">
                <a:solidFill>
                  <a:srgbClr val="008B83"/>
                </a:solidFill>
                <a:latin typeface="Arial"/>
                <a:ea typeface="Arial"/>
                <a:cs typeface="Arial"/>
              </a:defRPr>
            </a:pPr>
            <a:r>
              <a:rPr sz="2625" b="1">
                <a:solidFill>
                  <a:srgbClr val="008B83"/>
                </a:solidFill>
                <a:latin typeface="Arial"/>
                <a:ea typeface="Arial"/>
                <a:cs typeface="Arial"/>
              </a:rPr>
              <a:t>Clone. Set up. Run the tests.</a:t>
            </a:r>
          </a:p>
        </p:txBody>
      </p:sp>
      <p:sp>
        <p:nvSpPr>
          <p:cNvPr id="5" name="Synthetic stores exercise the real cache,&#10;resizing, can">
            <a:extLst xmlns:a="http://schemas.openxmlformats.org/drawingml/2006/main">
              <a:ext uri="{FF2B5EF4-FFF2-40B4-BE49-F238E27FC236}">
                <a16:creationId xmlns:a16="http://schemas.microsoft.com/office/drawing/2014/main" id="{78FA372C-13F7-4953-B8B9-DE3C0BDF3AAB}"/>
              </a:ext>
            </a:extLst>
          </p:cNvPr>
          <p:cNvSpPr>
            <a:spLocks xmlns:a="http://schemas.openxmlformats.org/drawingml/2006/main" noGrp="1"/>
          </p:cNvSpPr>
          <p:nvPr/>
        </p:nvSpPr>
        <p:spPr>
          <a:xfrm xmlns:a="http://schemas.openxmlformats.org/drawingml/2006/main">
            <a:off x="742950" y="2590800"/>
            <a:ext cx="5810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52D39"/>
                </a:solidFill>
                <a:latin typeface="Arial"/>
                <a:ea typeface="Arial"/>
                <a:cs typeface="Arial"/>
              </a:defRPr>
            </a:defPPr>
            <a:lvl1pPr>
              <a:defRPr sz="2025" b="0">
                <a:solidFill>
                  <a:srgbClr val="152D39"/>
                </a:solidFill>
                <a:latin typeface="Arial"/>
                <a:ea typeface="Arial"/>
                <a:cs typeface="Arial"/>
              </a:defRPr>
            </a:lvl1pPr>
            <a:lvl2pPr>
              <a:defRPr sz="2025" b="0">
                <a:solidFill>
                  <a:srgbClr val="152D39"/>
                </a:solidFill>
                <a:latin typeface="Arial"/>
                <a:ea typeface="Arial"/>
                <a:cs typeface="Arial"/>
              </a:defRPr>
            </a:lvl2pPr>
            <a:lvl3pPr>
              <a:defRPr sz="2025" b="0">
                <a:solidFill>
                  <a:srgbClr val="152D39"/>
                </a:solidFill>
                <a:latin typeface="Arial"/>
                <a:ea typeface="Arial"/>
                <a:cs typeface="Arial"/>
              </a:defRPr>
            </a:lvl3pPr>
            <a:lvl4pPr>
              <a:defRPr sz="2025" b="0">
                <a:solidFill>
                  <a:srgbClr val="152D39"/>
                </a:solidFill>
                <a:latin typeface="Arial"/>
                <a:ea typeface="Arial"/>
                <a:cs typeface="Arial"/>
              </a:defRPr>
            </a:lvl4pPr>
            <a:lvl5pPr>
              <a:defRPr sz="2025" b="0">
                <a:solidFill>
                  <a:srgbClr val="152D39"/>
                </a:solidFill>
                <a:latin typeface="Arial"/>
                <a:ea typeface="Arial"/>
                <a:cs typeface="Arial"/>
              </a:defRPr>
            </a:lvl5pPr>
            <a:lvl6pPr>
              <a:defRPr sz="2025" b="0">
                <a:solidFill>
                  <a:srgbClr val="152D39"/>
                </a:solidFill>
                <a:latin typeface="Arial"/>
                <a:ea typeface="Arial"/>
                <a:cs typeface="Arial"/>
              </a:defRPr>
            </a:lvl6pPr>
            <a:lvl7pPr>
              <a:defRPr sz="2025" b="0">
                <a:solidFill>
                  <a:srgbClr val="152D39"/>
                </a:solidFill>
                <a:latin typeface="Arial"/>
                <a:ea typeface="Arial"/>
                <a:cs typeface="Arial"/>
              </a:defRPr>
            </a:lvl7pPr>
            <a:lvl8pPr>
              <a:defRPr sz="2025" b="0">
                <a:solidFill>
                  <a:srgbClr val="152D39"/>
                </a:solidFill>
                <a:latin typeface="Arial"/>
                <a:ea typeface="Arial"/>
                <a:cs typeface="Arial"/>
              </a:defRPr>
            </a:lvl8pPr>
            <a:lvl9pPr>
              <a:defRPr sz="2025" b="0">
                <a:solidFill>
                  <a:srgbClr val="152D39"/>
                </a:solidFill>
                <a:latin typeface="Arial"/>
                <a:ea typeface="Arial"/>
                <a:cs typeface="Arial"/>
              </a:defRPr>
            </a:lvl9pPr>
          </a:lstStyle>
          <a:p xmlns:a="http://schemas.openxmlformats.org/drawingml/2006/main">
            <a:pPr>
              <a:defRPr sz="2025" b="0">
                <a:solidFill>
                  <a:srgbClr val="152D39"/>
                </a:solidFill>
                <a:latin typeface="Arial"/>
                <a:ea typeface="Arial"/>
                <a:cs typeface="Arial"/>
              </a:defRPr>
            </a:pPr>
            <a:r>
              <a:rPr sz="2025" b="0">
                <a:solidFill>
                  <a:srgbClr val="152D39"/>
                </a:solidFill>
                <a:latin typeface="Arial"/>
                <a:ea typeface="Arial"/>
                <a:cs typeface="Arial"/>
              </a:rPr>
              <a:t>Synthetic stores exercise the real cache,</a:t>
            </a:r>
          </a:p>
          <a:p xmlns:a="http://schemas.openxmlformats.org/drawingml/2006/main">
            <a:pPr>
              <a:defRPr sz="2025" b="0">
                <a:solidFill>
                  <a:srgbClr val="152D39"/>
                </a:solidFill>
                <a:latin typeface="Arial"/>
                <a:ea typeface="Arial"/>
                <a:cs typeface="Arial"/>
              </a:defRPr>
            </a:pPr>
            <a:r>
              <a:rPr sz="2025" b="0">
                <a:solidFill>
                  <a:srgbClr val="152D39"/>
                </a:solidFill>
                <a:latin typeface="Arial"/>
                <a:ea typeface="Arial"/>
                <a:cs typeface="Arial"/>
              </a:rPr>
              <a:t>resizing, cancellation and streaming.</a:t>
            </a:r>
          </a:p>
        </p:txBody>
      </p:sp>
      <p:sp>
        <p:nvSpPr>
          <p:cNvPr id="6" name="Recorded artifacts make the measurements&#10;inspectable. T">
            <a:extLst xmlns:a="http://schemas.openxmlformats.org/drawingml/2006/main">
              <a:ext uri="{FF2B5EF4-FFF2-40B4-BE49-F238E27FC236}">
                <a16:creationId xmlns:a16="http://schemas.microsoft.com/office/drawing/2014/main" id="{6E49D13E-B126-4240-BCE8-889D74252544}"/>
              </a:ext>
            </a:extLst>
          </p:cNvPr>
          <p:cNvSpPr>
            <a:spLocks xmlns:a="http://schemas.openxmlformats.org/drawingml/2006/main" noGrp="1"/>
          </p:cNvSpPr>
          <p:nvPr/>
        </p:nvSpPr>
        <p:spPr>
          <a:xfrm xmlns:a="http://schemas.openxmlformats.org/drawingml/2006/main">
            <a:off x="742950" y="3829050"/>
            <a:ext cx="5810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52D39"/>
                </a:solidFill>
                <a:latin typeface="Arial"/>
                <a:ea typeface="Arial"/>
                <a:cs typeface="Arial"/>
              </a:defRPr>
            </a:defPPr>
            <a:lvl1pPr>
              <a:defRPr sz="2025" b="0">
                <a:solidFill>
                  <a:srgbClr val="152D39"/>
                </a:solidFill>
                <a:latin typeface="Arial"/>
                <a:ea typeface="Arial"/>
                <a:cs typeface="Arial"/>
              </a:defRPr>
            </a:lvl1pPr>
            <a:lvl2pPr>
              <a:defRPr sz="2025" b="0">
                <a:solidFill>
                  <a:srgbClr val="152D39"/>
                </a:solidFill>
                <a:latin typeface="Arial"/>
                <a:ea typeface="Arial"/>
                <a:cs typeface="Arial"/>
              </a:defRPr>
            </a:lvl2pPr>
            <a:lvl3pPr>
              <a:defRPr sz="2025" b="0">
                <a:solidFill>
                  <a:srgbClr val="152D39"/>
                </a:solidFill>
                <a:latin typeface="Arial"/>
                <a:ea typeface="Arial"/>
                <a:cs typeface="Arial"/>
              </a:defRPr>
            </a:lvl3pPr>
            <a:lvl4pPr>
              <a:defRPr sz="2025" b="0">
                <a:solidFill>
                  <a:srgbClr val="152D39"/>
                </a:solidFill>
                <a:latin typeface="Arial"/>
                <a:ea typeface="Arial"/>
                <a:cs typeface="Arial"/>
              </a:defRPr>
            </a:lvl4pPr>
            <a:lvl5pPr>
              <a:defRPr sz="2025" b="0">
                <a:solidFill>
                  <a:srgbClr val="152D39"/>
                </a:solidFill>
                <a:latin typeface="Arial"/>
                <a:ea typeface="Arial"/>
                <a:cs typeface="Arial"/>
              </a:defRPr>
            </a:lvl5pPr>
            <a:lvl6pPr>
              <a:defRPr sz="2025" b="0">
                <a:solidFill>
                  <a:srgbClr val="152D39"/>
                </a:solidFill>
                <a:latin typeface="Arial"/>
                <a:ea typeface="Arial"/>
                <a:cs typeface="Arial"/>
              </a:defRPr>
            </a:lvl6pPr>
            <a:lvl7pPr>
              <a:defRPr sz="2025" b="0">
                <a:solidFill>
                  <a:srgbClr val="152D39"/>
                </a:solidFill>
                <a:latin typeface="Arial"/>
                <a:ea typeface="Arial"/>
                <a:cs typeface="Arial"/>
              </a:defRPr>
            </a:lvl7pPr>
            <a:lvl8pPr>
              <a:defRPr sz="2025" b="0">
                <a:solidFill>
                  <a:srgbClr val="152D39"/>
                </a:solidFill>
                <a:latin typeface="Arial"/>
                <a:ea typeface="Arial"/>
                <a:cs typeface="Arial"/>
              </a:defRPr>
            </a:lvl8pPr>
            <a:lvl9pPr>
              <a:defRPr sz="2025" b="0">
                <a:solidFill>
                  <a:srgbClr val="152D39"/>
                </a:solidFill>
                <a:latin typeface="Arial"/>
                <a:ea typeface="Arial"/>
                <a:cs typeface="Arial"/>
              </a:defRPr>
            </a:lvl9pPr>
          </a:lstStyle>
          <a:p xmlns:a="http://schemas.openxmlformats.org/drawingml/2006/main">
            <a:pPr>
              <a:defRPr sz="2025" b="0">
                <a:solidFill>
                  <a:srgbClr val="152D39"/>
                </a:solidFill>
                <a:latin typeface="Arial"/>
                <a:ea typeface="Arial"/>
                <a:cs typeface="Arial"/>
              </a:defRPr>
            </a:pPr>
            <a:r>
              <a:rPr sz="2025" b="0">
                <a:solidFill>
                  <a:srgbClr val="152D39"/>
                </a:solidFill>
                <a:latin typeface="Arial"/>
                <a:ea typeface="Arial"/>
                <a:cs typeface="Arial"/>
              </a:rPr>
              <a:t>Recorded artifacts make the measurements</a:t>
            </a:r>
          </a:p>
          <a:p xmlns:a="http://schemas.openxmlformats.org/drawingml/2006/main">
            <a:pPr>
              <a:defRPr sz="2025" b="0">
                <a:solidFill>
                  <a:srgbClr val="152D39"/>
                </a:solidFill>
                <a:latin typeface="Arial"/>
                <a:ea typeface="Arial"/>
                <a:cs typeface="Arial"/>
              </a:defRPr>
            </a:pPr>
            <a:r>
              <a:rPr sz="2025" b="0">
                <a:solidFill>
                  <a:srgbClr val="152D39"/>
                </a:solidFill>
                <a:latin typeface="Arial"/>
                <a:ea typeface="Arial"/>
                <a:cs typeface="Arial"/>
              </a:rPr>
              <a:t>inspectable. The dashboard exposes run</a:t>
            </a:r>
          </a:p>
          <a:p xmlns:a="http://schemas.openxmlformats.org/drawingml/2006/main">
            <a:pPr>
              <a:defRPr sz="2025" b="0">
                <a:solidFill>
                  <a:srgbClr val="152D39"/>
                </a:solidFill>
                <a:latin typeface="Arial"/>
                <a:ea typeface="Arial"/>
                <a:cs typeface="Arial"/>
              </a:defRPr>
            </a:pPr>
            <a:r>
              <a:rPr sz="2025" b="0">
                <a:solidFill>
                  <a:srgbClr val="152D39"/>
                </a:solidFill>
                <a:latin typeface="Arial"/>
                <a:ea typeface="Arial"/>
                <a:cs typeface="Arial"/>
              </a:rPr>
              <a:t>settings and downloadable results.</a:t>
            </a:r>
          </a:p>
        </p:txBody>
      </p:sp>
      <p:sp>
        <p:nvSpPr>
          <p:cNvPr id="7" name="Tiny random weights test mechanics.&#10;Their output is mea">
            <a:extLst xmlns:a="http://schemas.openxmlformats.org/drawingml/2006/main">
              <a:ext uri="{FF2B5EF4-FFF2-40B4-BE49-F238E27FC236}">
                <a16:creationId xmlns:a16="http://schemas.microsoft.com/office/drawing/2014/main" id="{9650AE3C-3791-45EB-81B2-2F45460228E6}"/>
              </a:ext>
            </a:extLst>
          </p:cNvPr>
          <p:cNvSpPr>
            <a:spLocks xmlns:a="http://schemas.openxmlformats.org/drawingml/2006/main" noGrp="1"/>
          </p:cNvSpPr>
          <p:nvPr/>
        </p:nvSpPr>
        <p:spPr>
          <a:xfrm xmlns:a="http://schemas.openxmlformats.org/drawingml/2006/main">
            <a:off x="742950" y="547687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2636A"/>
                </a:solidFill>
                <a:latin typeface="Arial"/>
                <a:ea typeface="Arial"/>
                <a:cs typeface="Arial"/>
              </a:defRPr>
            </a:defPPr>
            <a:lvl1pPr>
              <a:defRPr sz="1650" b="0">
                <a:solidFill>
                  <a:srgbClr val="52636A"/>
                </a:solidFill>
                <a:latin typeface="Arial"/>
                <a:ea typeface="Arial"/>
                <a:cs typeface="Arial"/>
              </a:defRPr>
            </a:lvl1pPr>
            <a:lvl2pPr>
              <a:defRPr sz="1650" b="0">
                <a:solidFill>
                  <a:srgbClr val="52636A"/>
                </a:solidFill>
                <a:latin typeface="Arial"/>
                <a:ea typeface="Arial"/>
                <a:cs typeface="Arial"/>
              </a:defRPr>
            </a:lvl2pPr>
            <a:lvl3pPr>
              <a:defRPr sz="1650" b="0">
                <a:solidFill>
                  <a:srgbClr val="52636A"/>
                </a:solidFill>
                <a:latin typeface="Arial"/>
                <a:ea typeface="Arial"/>
                <a:cs typeface="Arial"/>
              </a:defRPr>
            </a:lvl3pPr>
            <a:lvl4pPr>
              <a:defRPr sz="1650" b="0">
                <a:solidFill>
                  <a:srgbClr val="52636A"/>
                </a:solidFill>
                <a:latin typeface="Arial"/>
                <a:ea typeface="Arial"/>
                <a:cs typeface="Arial"/>
              </a:defRPr>
            </a:lvl4pPr>
            <a:lvl5pPr>
              <a:defRPr sz="1650" b="0">
                <a:solidFill>
                  <a:srgbClr val="52636A"/>
                </a:solidFill>
                <a:latin typeface="Arial"/>
                <a:ea typeface="Arial"/>
                <a:cs typeface="Arial"/>
              </a:defRPr>
            </a:lvl5pPr>
            <a:lvl6pPr>
              <a:defRPr sz="1650" b="0">
                <a:solidFill>
                  <a:srgbClr val="52636A"/>
                </a:solidFill>
                <a:latin typeface="Arial"/>
                <a:ea typeface="Arial"/>
                <a:cs typeface="Arial"/>
              </a:defRPr>
            </a:lvl6pPr>
            <a:lvl7pPr>
              <a:defRPr sz="1650" b="0">
                <a:solidFill>
                  <a:srgbClr val="52636A"/>
                </a:solidFill>
                <a:latin typeface="Arial"/>
                <a:ea typeface="Arial"/>
                <a:cs typeface="Arial"/>
              </a:defRPr>
            </a:lvl7pPr>
            <a:lvl8pPr>
              <a:defRPr sz="1650" b="0">
                <a:solidFill>
                  <a:srgbClr val="52636A"/>
                </a:solidFill>
                <a:latin typeface="Arial"/>
                <a:ea typeface="Arial"/>
                <a:cs typeface="Arial"/>
              </a:defRPr>
            </a:lvl8pPr>
            <a:lvl9pPr>
              <a:defRPr sz="1650" b="0">
                <a:solidFill>
                  <a:srgbClr val="52636A"/>
                </a:solidFill>
                <a:latin typeface="Arial"/>
                <a:ea typeface="Arial"/>
                <a:cs typeface="Arial"/>
              </a:defRPr>
            </a:lvl9pPr>
          </a:lstStyle>
          <a:p xmlns:a="http://schemas.openxmlformats.org/drawingml/2006/main">
            <a:pPr>
              <a:defRPr sz="1650" b="0">
                <a:solidFill>
                  <a:srgbClr val="52636A"/>
                </a:solidFill>
                <a:latin typeface="Arial"/>
                <a:ea typeface="Arial"/>
                <a:cs typeface="Arial"/>
              </a:defRPr>
            </a:pPr>
            <a:r>
              <a:rPr sz="1650" b="0">
                <a:solidFill>
                  <a:srgbClr val="52636A"/>
                </a:solidFill>
                <a:latin typeface="Arial"/>
                <a:ea typeface="Arial"/>
                <a:cs typeface="Arial"/>
              </a:rPr>
              <a:t>Tiny random weights test mechanics.</a:t>
            </a:r>
          </a:p>
          <a:p xmlns:a="http://schemas.openxmlformats.org/drawingml/2006/main">
            <a:pPr>
              <a:defRPr sz="1650" b="0">
                <a:solidFill>
                  <a:srgbClr val="52636A"/>
                </a:solidFill>
                <a:latin typeface="Arial"/>
                <a:ea typeface="Arial"/>
                <a:cs typeface="Arial"/>
              </a:defRPr>
            </a:pPr>
            <a:r>
              <a:rPr sz="1650" b="0">
                <a:solidFill>
                  <a:srgbClr val="52636A"/>
                </a:solidFill>
                <a:latin typeface="Arial"/>
                <a:ea typeface="Arial"/>
                <a:cs typeface="Arial"/>
              </a:rPr>
              <a:t>Their output is meaningless.</a:t>
            </a:r>
          </a:p>
        </p:txBody>
      </p:sp>
      <p:pic>
        <p:nvPicPr>
          <p:cNvPr id="8" name="">
            <a:extLst xmlns:a="http://schemas.openxmlformats.org/drawingml/2006/main">
              <a:ext uri="{FF2B5EF4-FFF2-40B4-BE49-F238E27FC236}">
                <a16:creationId xmlns:a16="http://schemas.microsoft.com/office/drawing/2014/main" id="{50CF5FC0-C4C0-4771-9E50-178D81EE92BE}"/>
              </a:ext>
            </a:extLst>
          </p:cNvPr>
          <p:cNvPicPr>
            <a:picLocks xmlns:a="http://schemas.openxmlformats.org/drawingml/2006/main" noChangeAspect="1"/>
          </p:cNvPicPr>
          <p:nvPr/>
        </p:nvPicPr>
        <p:blipFill>
          <a:blip xmlns:r="http://schemas.openxmlformats.org/officeDocument/2006/relationships" xmlns:a="http://schemas.openxmlformats.org/drawingml/2006/main" r:embed="Rc6ed6820843249df"/>
          <a:stretch xmlns:a="http://schemas.openxmlformats.org/drawingml/2006/main"/>
        </p:blipFill>
        <p:spPr>
          <a:xfrm xmlns:a="http://schemas.openxmlformats.org/drawingml/2006/main">
            <a:off x="7086600" y="1791176"/>
            <a:ext cx="4267200" cy="3913823"/>
          </a:xfrm>
          <a:prstGeom xmlns:a="http://schemas.openxmlformats.org/drawingml/2006/main" prst="rect">
            <a:avLst/>
          </a:prstGeom>
        </p:spPr>
      </p:pic>
    </p:spTree>
    <p:extLst>
      <p:ext uri="{BB962C8B-B14F-4D97-AF65-F5344CB8AC3E}">
        <p14:creationId xmlns:p14="http://schemas.microsoft.com/office/powerpoint/2010/main" val="1413083570"/>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More RAM changes the comparison">
            <a:extLst xmlns:a="http://schemas.openxmlformats.org/drawingml/2006/main">
              <a:ext uri="{FF2B5EF4-FFF2-40B4-BE49-F238E27FC236}">
                <a16:creationId xmlns:a16="http://schemas.microsoft.com/office/drawing/2014/main" id="{5864D2ED-60FF-4D8B-BA0A-4806CFD3F9F5}"/>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52D39"/>
                </a:solidFill>
                <a:latin typeface="Arial"/>
                <a:ea typeface="Arial"/>
                <a:cs typeface="Arial"/>
              </a:defRPr>
            </a:defPPr>
            <a:lvl1pPr>
              <a:defRPr sz="3375" b="1">
                <a:solidFill>
                  <a:srgbClr val="152D39"/>
                </a:solidFill>
                <a:latin typeface="Arial"/>
                <a:ea typeface="Arial"/>
                <a:cs typeface="Arial"/>
              </a:defRPr>
            </a:lvl1pPr>
            <a:lvl2pPr>
              <a:defRPr sz="3375" b="1">
                <a:solidFill>
                  <a:srgbClr val="152D39"/>
                </a:solidFill>
                <a:latin typeface="Arial"/>
                <a:ea typeface="Arial"/>
                <a:cs typeface="Arial"/>
              </a:defRPr>
            </a:lvl2pPr>
            <a:lvl3pPr>
              <a:defRPr sz="3375" b="1">
                <a:solidFill>
                  <a:srgbClr val="152D39"/>
                </a:solidFill>
                <a:latin typeface="Arial"/>
                <a:ea typeface="Arial"/>
                <a:cs typeface="Arial"/>
              </a:defRPr>
            </a:lvl3pPr>
            <a:lvl4pPr>
              <a:defRPr sz="3375" b="1">
                <a:solidFill>
                  <a:srgbClr val="152D39"/>
                </a:solidFill>
                <a:latin typeface="Arial"/>
                <a:ea typeface="Arial"/>
                <a:cs typeface="Arial"/>
              </a:defRPr>
            </a:lvl4pPr>
            <a:lvl5pPr>
              <a:defRPr sz="3375" b="1">
                <a:solidFill>
                  <a:srgbClr val="152D39"/>
                </a:solidFill>
                <a:latin typeface="Arial"/>
                <a:ea typeface="Arial"/>
                <a:cs typeface="Arial"/>
              </a:defRPr>
            </a:lvl5pPr>
            <a:lvl6pPr>
              <a:defRPr sz="3375" b="1">
                <a:solidFill>
                  <a:srgbClr val="152D39"/>
                </a:solidFill>
                <a:latin typeface="Arial"/>
                <a:ea typeface="Arial"/>
                <a:cs typeface="Arial"/>
              </a:defRPr>
            </a:lvl6pPr>
            <a:lvl7pPr>
              <a:defRPr sz="3375" b="1">
                <a:solidFill>
                  <a:srgbClr val="152D39"/>
                </a:solidFill>
                <a:latin typeface="Arial"/>
                <a:ea typeface="Arial"/>
                <a:cs typeface="Arial"/>
              </a:defRPr>
            </a:lvl7pPr>
            <a:lvl8pPr>
              <a:defRPr sz="3375" b="1">
                <a:solidFill>
                  <a:srgbClr val="152D39"/>
                </a:solidFill>
                <a:latin typeface="Arial"/>
                <a:ea typeface="Arial"/>
                <a:cs typeface="Arial"/>
              </a:defRPr>
            </a:lvl8pPr>
            <a:lvl9pPr>
              <a:defRPr sz="3375" b="1">
                <a:solidFill>
                  <a:srgbClr val="152D39"/>
                </a:solidFill>
                <a:latin typeface="Arial"/>
                <a:ea typeface="Arial"/>
                <a:cs typeface="Arial"/>
              </a:defRPr>
            </a:lvl9pPr>
          </a:lstStyle>
          <a:p xmlns:a="http://schemas.openxmlformats.org/drawingml/2006/main">
            <a:pPr>
              <a:defRPr sz="3375" b="1">
                <a:solidFill>
                  <a:srgbClr val="152D39"/>
                </a:solidFill>
                <a:latin typeface="Arial"/>
                <a:ea typeface="Arial"/>
                <a:cs typeface="Arial"/>
              </a:defRPr>
            </a:pPr>
            <a:r>
              <a:rPr sz="3375" b="1">
                <a:solidFill>
                  <a:srgbClr val="152D39"/>
                </a:solidFill>
                <a:latin typeface="Arial"/>
                <a:ea typeface="Arial"/>
                <a:cs typeface="Arial"/>
              </a:rPr>
              <a:t>More RAM changes the comparison</a:t>
            </a:r>
          </a:p>
        </p:txBody>
      </p:sp>
      <p:sp>
        <p:nvSpPr>
          <p:cNvPr id="2" name="LeanMoE">
            <a:extLst xmlns:a="http://schemas.openxmlformats.org/drawingml/2006/main">
              <a:ext uri="{FF2B5EF4-FFF2-40B4-BE49-F238E27FC236}">
                <a16:creationId xmlns:a16="http://schemas.microsoft.com/office/drawing/2014/main" id="{0688FF41-E074-444E-8301-20A4A8E0FAF5}"/>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LeanMoE</a:t>
            </a:r>
          </a:p>
        </p:txBody>
      </p:sp>
      <p:sp>
        <p:nvSpPr>
          <p:cNvPr id="3" name="08">
            <a:extLst xmlns:a="http://schemas.openxmlformats.org/drawingml/2006/main">
              <a:ext uri="{FF2B5EF4-FFF2-40B4-BE49-F238E27FC236}">
                <a16:creationId xmlns:a16="http://schemas.microsoft.com/office/drawing/2014/main" id="{1433C213-4C16-4FC7-B57B-4E5FDD4DBD6F}"/>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36A"/>
                </a:solidFill>
                <a:latin typeface="Arial"/>
                <a:ea typeface="Arial"/>
                <a:cs typeface="Arial"/>
              </a:defRPr>
            </a:defPPr>
            <a:lvl1pPr>
              <a:defRPr sz="1125" b="0">
                <a:solidFill>
                  <a:srgbClr val="52636A"/>
                </a:solidFill>
                <a:latin typeface="Arial"/>
                <a:ea typeface="Arial"/>
                <a:cs typeface="Arial"/>
              </a:defRPr>
            </a:lvl1pPr>
            <a:lvl2pPr>
              <a:defRPr sz="1125" b="0">
                <a:solidFill>
                  <a:srgbClr val="52636A"/>
                </a:solidFill>
                <a:latin typeface="Arial"/>
                <a:ea typeface="Arial"/>
                <a:cs typeface="Arial"/>
              </a:defRPr>
            </a:lvl2pPr>
            <a:lvl3pPr>
              <a:defRPr sz="1125" b="0">
                <a:solidFill>
                  <a:srgbClr val="52636A"/>
                </a:solidFill>
                <a:latin typeface="Arial"/>
                <a:ea typeface="Arial"/>
                <a:cs typeface="Arial"/>
              </a:defRPr>
            </a:lvl3pPr>
            <a:lvl4pPr>
              <a:defRPr sz="1125" b="0">
                <a:solidFill>
                  <a:srgbClr val="52636A"/>
                </a:solidFill>
                <a:latin typeface="Arial"/>
                <a:ea typeface="Arial"/>
                <a:cs typeface="Arial"/>
              </a:defRPr>
            </a:lvl4pPr>
            <a:lvl5pPr>
              <a:defRPr sz="1125" b="0">
                <a:solidFill>
                  <a:srgbClr val="52636A"/>
                </a:solidFill>
                <a:latin typeface="Arial"/>
                <a:ea typeface="Arial"/>
                <a:cs typeface="Arial"/>
              </a:defRPr>
            </a:lvl5pPr>
            <a:lvl6pPr>
              <a:defRPr sz="1125" b="0">
                <a:solidFill>
                  <a:srgbClr val="52636A"/>
                </a:solidFill>
                <a:latin typeface="Arial"/>
                <a:ea typeface="Arial"/>
                <a:cs typeface="Arial"/>
              </a:defRPr>
            </a:lvl6pPr>
            <a:lvl7pPr>
              <a:defRPr sz="1125" b="0">
                <a:solidFill>
                  <a:srgbClr val="52636A"/>
                </a:solidFill>
                <a:latin typeface="Arial"/>
                <a:ea typeface="Arial"/>
                <a:cs typeface="Arial"/>
              </a:defRPr>
            </a:lvl7pPr>
            <a:lvl8pPr>
              <a:defRPr sz="1125" b="0">
                <a:solidFill>
                  <a:srgbClr val="52636A"/>
                </a:solidFill>
                <a:latin typeface="Arial"/>
                <a:ea typeface="Arial"/>
                <a:cs typeface="Arial"/>
              </a:defRPr>
            </a:lvl8pPr>
            <a:lvl9pPr>
              <a:defRPr sz="1125" b="0">
                <a:solidFill>
                  <a:srgbClr val="52636A"/>
                </a:solidFill>
                <a:latin typeface="Arial"/>
                <a:ea typeface="Arial"/>
                <a:cs typeface="Arial"/>
              </a:defRPr>
            </a:lvl9pPr>
          </a:lstStyle>
          <a:p xmlns:a="http://schemas.openxmlformats.org/drawingml/2006/main">
            <a:pPr>
              <a:defRPr sz="1125" b="0">
                <a:solidFill>
                  <a:srgbClr val="52636A"/>
                </a:solidFill>
                <a:latin typeface="Arial"/>
                <a:ea typeface="Arial"/>
                <a:cs typeface="Arial"/>
              </a:defRPr>
            </a:pPr>
            <a:r>
              <a:rPr sz="1125" b="0">
                <a:solidFill>
                  <a:srgbClr val="52636A"/>
                </a:solidFill>
                <a:latin typeface="Arial"/>
                <a:ea typeface="Arial"/>
                <a:cs typeface="Arial"/>
              </a:rPr>
              <a:t>08</a:t>
            </a:r>
          </a:p>
        </p:txBody>
      </p:sp>
      <p:sp>
        <p:nvSpPr>
          <p:cNvPr id="4" name="16 GiB cloud VM · the same engine and Qwen store">
            <a:extLst xmlns:a="http://schemas.openxmlformats.org/drawingml/2006/main">
              <a:ext uri="{FF2B5EF4-FFF2-40B4-BE49-F238E27FC236}">
                <a16:creationId xmlns:a16="http://schemas.microsoft.com/office/drawing/2014/main" id="{8CFDFAAA-1EE7-48CC-B125-7761E73F3430}"/>
              </a:ext>
            </a:extLst>
          </p:cNvPr>
          <p:cNvSpPr>
            <a:spLocks xmlns:a="http://schemas.openxmlformats.org/drawingml/2006/main" noGrp="1"/>
          </p:cNvSpPr>
          <p:nvPr/>
        </p:nvSpPr>
        <p:spPr>
          <a:xfrm xmlns:a="http://schemas.openxmlformats.org/drawingml/2006/main">
            <a:off x="742950" y="15049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36A"/>
                </a:solidFill>
                <a:latin typeface="Arial"/>
                <a:ea typeface="Arial"/>
                <a:cs typeface="Arial"/>
              </a:defRPr>
            </a:defPPr>
            <a:lvl1pPr>
              <a:defRPr sz="1950" b="0">
                <a:solidFill>
                  <a:srgbClr val="52636A"/>
                </a:solidFill>
                <a:latin typeface="Arial"/>
                <a:ea typeface="Arial"/>
                <a:cs typeface="Arial"/>
              </a:defRPr>
            </a:lvl1pPr>
            <a:lvl2pPr>
              <a:defRPr sz="1950" b="0">
                <a:solidFill>
                  <a:srgbClr val="52636A"/>
                </a:solidFill>
                <a:latin typeface="Arial"/>
                <a:ea typeface="Arial"/>
                <a:cs typeface="Arial"/>
              </a:defRPr>
            </a:lvl2pPr>
            <a:lvl3pPr>
              <a:defRPr sz="1950" b="0">
                <a:solidFill>
                  <a:srgbClr val="52636A"/>
                </a:solidFill>
                <a:latin typeface="Arial"/>
                <a:ea typeface="Arial"/>
                <a:cs typeface="Arial"/>
              </a:defRPr>
            </a:lvl3pPr>
            <a:lvl4pPr>
              <a:defRPr sz="1950" b="0">
                <a:solidFill>
                  <a:srgbClr val="52636A"/>
                </a:solidFill>
                <a:latin typeface="Arial"/>
                <a:ea typeface="Arial"/>
                <a:cs typeface="Arial"/>
              </a:defRPr>
            </a:lvl4pPr>
            <a:lvl5pPr>
              <a:defRPr sz="1950" b="0">
                <a:solidFill>
                  <a:srgbClr val="52636A"/>
                </a:solidFill>
                <a:latin typeface="Arial"/>
                <a:ea typeface="Arial"/>
                <a:cs typeface="Arial"/>
              </a:defRPr>
            </a:lvl5pPr>
            <a:lvl6pPr>
              <a:defRPr sz="1950" b="0">
                <a:solidFill>
                  <a:srgbClr val="52636A"/>
                </a:solidFill>
                <a:latin typeface="Arial"/>
                <a:ea typeface="Arial"/>
                <a:cs typeface="Arial"/>
              </a:defRPr>
            </a:lvl6pPr>
            <a:lvl7pPr>
              <a:defRPr sz="1950" b="0">
                <a:solidFill>
                  <a:srgbClr val="52636A"/>
                </a:solidFill>
                <a:latin typeface="Arial"/>
                <a:ea typeface="Arial"/>
                <a:cs typeface="Arial"/>
              </a:defRPr>
            </a:lvl7pPr>
            <a:lvl8pPr>
              <a:defRPr sz="1950" b="0">
                <a:solidFill>
                  <a:srgbClr val="52636A"/>
                </a:solidFill>
                <a:latin typeface="Arial"/>
                <a:ea typeface="Arial"/>
                <a:cs typeface="Arial"/>
              </a:defRPr>
            </a:lvl8pPr>
            <a:lvl9pPr>
              <a:defRPr sz="1950" b="0">
                <a:solidFill>
                  <a:srgbClr val="52636A"/>
                </a:solidFill>
                <a:latin typeface="Arial"/>
                <a:ea typeface="Arial"/>
                <a:cs typeface="Arial"/>
              </a:defRPr>
            </a:lvl9pPr>
          </a:lstStyle>
          <a:p xmlns:a="http://schemas.openxmlformats.org/drawingml/2006/main">
            <a:pPr>
              <a:defRPr sz="1950" b="0">
                <a:solidFill>
                  <a:srgbClr val="52636A"/>
                </a:solidFill>
                <a:latin typeface="Arial"/>
                <a:ea typeface="Arial"/>
                <a:cs typeface="Arial"/>
              </a:defRPr>
            </a:pPr>
            <a:r>
              <a:rPr sz="1950" b="0">
                <a:solidFill>
                  <a:srgbClr val="52636A"/>
                </a:solidFill>
                <a:latin typeface="Arial"/>
                <a:ea typeface="Arial"/>
                <a:cs typeface="Arial"/>
              </a:rPr>
              <a:t>16 GiB cloud VM · the same engine and Qwen store</a:t>
            </a:r>
          </a:p>
        </p:txBody>
      </p:sp>
      <p:sp>
        <p:nvSpPr>
          <p:cNvPr id="5" name="Mean decode tokens/s">
            <a:extLst xmlns:a="http://schemas.openxmlformats.org/drawingml/2006/main">
              <a:ext uri="{FF2B5EF4-FFF2-40B4-BE49-F238E27FC236}">
                <a16:creationId xmlns:a16="http://schemas.microsoft.com/office/drawing/2014/main" id="{B8828D20-0C9B-451F-BB33-BA0D73238870}"/>
              </a:ext>
            </a:extLst>
          </p:cNvPr>
          <p:cNvSpPr>
            <a:spLocks xmlns:a="http://schemas.openxmlformats.org/drawingml/2006/main" noGrp="1"/>
          </p:cNvSpPr>
          <p:nvPr/>
        </p:nvSpPr>
        <p:spPr>
          <a:xfrm xmlns:a="http://schemas.openxmlformats.org/drawingml/2006/main">
            <a:off x="742950" y="20574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36A"/>
                </a:solidFill>
                <a:latin typeface="Arial"/>
                <a:ea typeface="Arial"/>
                <a:cs typeface="Arial"/>
              </a:defRPr>
            </a:defPPr>
            <a:lvl1pPr>
              <a:defRPr sz="1500" b="0">
                <a:solidFill>
                  <a:srgbClr val="52636A"/>
                </a:solidFill>
                <a:latin typeface="Arial"/>
                <a:ea typeface="Arial"/>
                <a:cs typeface="Arial"/>
              </a:defRPr>
            </a:lvl1pPr>
            <a:lvl2pPr>
              <a:defRPr sz="1500" b="0">
                <a:solidFill>
                  <a:srgbClr val="52636A"/>
                </a:solidFill>
                <a:latin typeface="Arial"/>
                <a:ea typeface="Arial"/>
                <a:cs typeface="Arial"/>
              </a:defRPr>
            </a:lvl2pPr>
            <a:lvl3pPr>
              <a:defRPr sz="1500" b="0">
                <a:solidFill>
                  <a:srgbClr val="52636A"/>
                </a:solidFill>
                <a:latin typeface="Arial"/>
                <a:ea typeface="Arial"/>
                <a:cs typeface="Arial"/>
              </a:defRPr>
            </a:lvl3pPr>
            <a:lvl4pPr>
              <a:defRPr sz="1500" b="0">
                <a:solidFill>
                  <a:srgbClr val="52636A"/>
                </a:solidFill>
                <a:latin typeface="Arial"/>
                <a:ea typeface="Arial"/>
                <a:cs typeface="Arial"/>
              </a:defRPr>
            </a:lvl4pPr>
            <a:lvl5pPr>
              <a:defRPr sz="1500" b="0">
                <a:solidFill>
                  <a:srgbClr val="52636A"/>
                </a:solidFill>
                <a:latin typeface="Arial"/>
                <a:ea typeface="Arial"/>
                <a:cs typeface="Arial"/>
              </a:defRPr>
            </a:lvl5pPr>
            <a:lvl6pPr>
              <a:defRPr sz="1500" b="0">
                <a:solidFill>
                  <a:srgbClr val="52636A"/>
                </a:solidFill>
                <a:latin typeface="Arial"/>
                <a:ea typeface="Arial"/>
                <a:cs typeface="Arial"/>
              </a:defRPr>
            </a:lvl6pPr>
            <a:lvl7pPr>
              <a:defRPr sz="1500" b="0">
                <a:solidFill>
                  <a:srgbClr val="52636A"/>
                </a:solidFill>
                <a:latin typeface="Arial"/>
                <a:ea typeface="Arial"/>
                <a:cs typeface="Arial"/>
              </a:defRPr>
            </a:lvl7pPr>
            <a:lvl8pPr>
              <a:defRPr sz="1500" b="0">
                <a:solidFill>
                  <a:srgbClr val="52636A"/>
                </a:solidFill>
                <a:latin typeface="Arial"/>
                <a:ea typeface="Arial"/>
                <a:cs typeface="Arial"/>
              </a:defRPr>
            </a:lvl8pPr>
            <a:lvl9pPr>
              <a:defRPr sz="1500" b="0">
                <a:solidFill>
                  <a:srgbClr val="52636A"/>
                </a:solidFill>
                <a:latin typeface="Arial"/>
                <a:ea typeface="Arial"/>
                <a:cs typeface="Arial"/>
              </a:defRPr>
            </a:lvl9pPr>
          </a:lstStyle>
          <a:p xmlns:a="http://schemas.openxmlformats.org/drawingml/2006/main">
            <a:pPr>
              <a:defRPr sz="1500" b="0">
                <a:solidFill>
                  <a:srgbClr val="52636A"/>
                </a:solidFill>
                <a:latin typeface="Arial"/>
                <a:ea typeface="Arial"/>
                <a:cs typeface="Arial"/>
              </a:defRPr>
            </a:pPr>
            <a:r>
              <a:rPr sz="1500" b="0">
                <a:solidFill>
                  <a:srgbClr val="52636A"/>
                </a:solidFill>
                <a:latin typeface="Arial"/>
                <a:ea typeface="Arial"/>
                <a:cs typeface="Arial"/>
              </a:rPr>
              <a:t>Mean decode tokens/s</a:t>
            </a:r>
          </a:p>
        </p:txBody>
      </p:sp>
      <p:graphicFrame>
        <p:nvGraphicFramePr>
          <p:cNvPr id="6" name="Chart">
            <a:extLst xmlns:a="http://schemas.openxmlformats.org/drawingml/2006/main">
              <a:ext uri="{FF2B5EF4-FFF2-40B4-BE49-F238E27FC236}">
                <a16:creationId xmlns:a16="http://schemas.microsoft.com/office/drawing/2014/main" id="{88253316-2B8C-4DCA-8FB3-06B31CD064A3}"/>
              </a:ext>
            </a:extLst>
          </p:cNvPr>
          <p:cNvGraphicFramePr/>
          <p:nvPr/>
        </p:nvGraphicFramePr>
        <p:xfrm>
          <a:off xmlns:a="http://schemas.openxmlformats.org/drawingml/2006/main" x="685800" y="2305050"/>
          <a:ext xmlns:a="http://schemas.openxmlformats.org/drawingml/2006/main" cx="6715125" cy="3114675"/>
        </p:xfrm>
        <a:graphic xmlns:a="http://schemas.openxmlformats.org/drawingml/2006/main">
          <a:graphicData uri="http://schemas.openxmlformats.org/drawingml/2006/chart">
            <c:chart xmlns:r="http://schemas.openxmlformats.org/officeDocument/2006/relationships" xmlns:c="http://schemas.openxmlformats.org/drawingml/2006/chart" r:id="Rf024689c0dce44f1"/>
          </a:graphicData>
        </a:graphic>
      </p:graphicFrame>
      <p:sp>
        <p:nvSpPr>
          <p:cNvPr id="7" name="6.58×">
            <a:extLst xmlns:a="http://schemas.openxmlformats.org/drawingml/2006/main">
              <a:ext uri="{FF2B5EF4-FFF2-40B4-BE49-F238E27FC236}">
                <a16:creationId xmlns:a16="http://schemas.microsoft.com/office/drawing/2014/main" id="{8C0CE041-D047-4F1D-9340-8B6D92AA0DBC}"/>
              </a:ext>
            </a:extLst>
          </p:cNvPr>
          <p:cNvSpPr>
            <a:spLocks xmlns:a="http://schemas.openxmlformats.org/drawingml/2006/main" noGrp="1"/>
          </p:cNvSpPr>
          <p:nvPr/>
        </p:nvSpPr>
        <p:spPr>
          <a:xfrm xmlns:a="http://schemas.openxmlformats.org/drawingml/2006/main">
            <a:off x="8239125" y="24003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008B83"/>
                </a:solidFill>
                <a:latin typeface="Arial"/>
                <a:ea typeface="Arial"/>
                <a:cs typeface="Arial"/>
              </a:defRPr>
            </a:defPPr>
            <a:lvl1pPr>
              <a:defRPr sz="4950" b="1">
                <a:solidFill>
                  <a:srgbClr val="008B83"/>
                </a:solidFill>
                <a:latin typeface="Arial"/>
                <a:ea typeface="Arial"/>
                <a:cs typeface="Arial"/>
              </a:defRPr>
            </a:lvl1pPr>
            <a:lvl2pPr>
              <a:defRPr sz="4950" b="1">
                <a:solidFill>
                  <a:srgbClr val="008B83"/>
                </a:solidFill>
                <a:latin typeface="Arial"/>
                <a:ea typeface="Arial"/>
                <a:cs typeface="Arial"/>
              </a:defRPr>
            </a:lvl2pPr>
            <a:lvl3pPr>
              <a:defRPr sz="4950" b="1">
                <a:solidFill>
                  <a:srgbClr val="008B83"/>
                </a:solidFill>
                <a:latin typeface="Arial"/>
                <a:ea typeface="Arial"/>
                <a:cs typeface="Arial"/>
              </a:defRPr>
            </a:lvl3pPr>
            <a:lvl4pPr>
              <a:defRPr sz="4950" b="1">
                <a:solidFill>
                  <a:srgbClr val="008B83"/>
                </a:solidFill>
                <a:latin typeface="Arial"/>
                <a:ea typeface="Arial"/>
                <a:cs typeface="Arial"/>
              </a:defRPr>
            </a:lvl4pPr>
            <a:lvl5pPr>
              <a:defRPr sz="4950" b="1">
                <a:solidFill>
                  <a:srgbClr val="008B83"/>
                </a:solidFill>
                <a:latin typeface="Arial"/>
                <a:ea typeface="Arial"/>
                <a:cs typeface="Arial"/>
              </a:defRPr>
            </a:lvl5pPr>
            <a:lvl6pPr>
              <a:defRPr sz="4950" b="1">
                <a:solidFill>
                  <a:srgbClr val="008B83"/>
                </a:solidFill>
                <a:latin typeface="Arial"/>
                <a:ea typeface="Arial"/>
                <a:cs typeface="Arial"/>
              </a:defRPr>
            </a:lvl6pPr>
            <a:lvl7pPr>
              <a:defRPr sz="4950" b="1">
                <a:solidFill>
                  <a:srgbClr val="008B83"/>
                </a:solidFill>
                <a:latin typeface="Arial"/>
                <a:ea typeface="Arial"/>
                <a:cs typeface="Arial"/>
              </a:defRPr>
            </a:lvl7pPr>
            <a:lvl8pPr>
              <a:defRPr sz="4950" b="1">
                <a:solidFill>
                  <a:srgbClr val="008B83"/>
                </a:solidFill>
                <a:latin typeface="Arial"/>
                <a:ea typeface="Arial"/>
                <a:cs typeface="Arial"/>
              </a:defRPr>
            </a:lvl8pPr>
            <a:lvl9pPr>
              <a:defRPr sz="4950" b="1">
                <a:solidFill>
                  <a:srgbClr val="008B83"/>
                </a:solidFill>
                <a:latin typeface="Arial"/>
                <a:ea typeface="Arial"/>
                <a:cs typeface="Arial"/>
              </a:defRPr>
            </a:lvl9pPr>
          </a:lstStyle>
          <a:p xmlns:a="http://schemas.openxmlformats.org/drawingml/2006/main">
            <a:pPr>
              <a:defRPr sz="4950" b="1">
                <a:solidFill>
                  <a:srgbClr val="008B83"/>
                </a:solidFill>
                <a:latin typeface="Arial"/>
                <a:ea typeface="Arial"/>
                <a:cs typeface="Arial"/>
              </a:defRPr>
            </a:pPr>
            <a:r>
              <a:rPr sz="4950" b="1">
                <a:solidFill>
                  <a:srgbClr val="008B83"/>
                </a:solidFill>
                <a:latin typeface="Arial"/>
                <a:ea typeface="Arial"/>
                <a:cs typeface="Arial"/>
              </a:rPr>
              <a:t>6.58×</a:t>
            </a:r>
          </a:p>
        </p:txBody>
      </p:sp>
      <p:sp>
        <p:nvSpPr>
          <p:cNvPr id="8" name="gain from automatic&#10;cache sizing">
            <a:extLst xmlns:a="http://schemas.openxmlformats.org/drawingml/2006/main">
              <a:ext uri="{FF2B5EF4-FFF2-40B4-BE49-F238E27FC236}">
                <a16:creationId xmlns:a16="http://schemas.microsoft.com/office/drawing/2014/main" id="{C6655801-E240-4378-BF8E-275A7159FCDE}"/>
              </a:ext>
            </a:extLst>
          </p:cNvPr>
          <p:cNvSpPr>
            <a:spLocks xmlns:a="http://schemas.openxmlformats.org/drawingml/2006/main" noGrp="1"/>
          </p:cNvSpPr>
          <p:nvPr/>
        </p:nvSpPr>
        <p:spPr>
          <a:xfrm xmlns:a="http://schemas.openxmlformats.org/drawingml/2006/main">
            <a:off x="8267700" y="3352800"/>
            <a:ext cx="304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52D39"/>
                </a:solidFill>
                <a:latin typeface="Arial"/>
                <a:ea typeface="Arial"/>
                <a:cs typeface="Arial"/>
              </a:defRPr>
            </a:defPPr>
            <a:lvl1pPr>
              <a:defRPr sz="2025" b="1">
                <a:solidFill>
                  <a:srgbClr val="152D39"/>
                </a:solidFill>
                <a:latin typeface="Arial"/>
                <a:ea typeface="Arial"/>
                <a:cs typeface="Arial"/>
              </a:defRPr>
            </a:lvl1pPr>
            <a:lvl2pPr>
              <a:defRPr sz="2025" b="1">
                <a:solidFill>
                  <a:srgbClr val="152D39"/>
                </a:solidFill>
                <a:latin typeface="Arial"/>
                <a:ea typeface="Arial"/>
                <a:cs typeface="Arial"/>
              </a:defRPr>
            </a:lvl2pPr>
            <a:lvl3pPr>
              <a:defRPr sz="2025" b="1">
                <a:solidFill>
                  <a:srgbClr val="152D39"/>
                </a:solidFill>
                <a:latin typeface="Arial"/>
                <a:ea typeface="Arial"/>
                <a:cs typeface="Arial"/>
              </a:defRPr>
            </a:lvl3pPr>
            <a:lvl4pPr>
              <a:defRPr sz="2025" b="1">
                <a:solidFill>
                  <a:srgbClr val="152D39"/>
                </a:solidFill>
                <a:latin typeface="Arial"/>
                <a:ea typeface="Arial"/>
                <a:cs typeface="Arial"/>
              </a:defRPr>
            </a:lvl4pPr>
            <a:lvl5pPr>
              <a:defRPr sz="2025" b="1">
                <a:solidFill>
                  <a:srgbClr val="152D39"/>
                </a:solidFill>
                <a:latin typeface="Arial"/>
                <a:ea typeface="Arial"/>
                <a:cs typeface="Arial"/>
              </a:defRPr>
            </a:lvl5pPr>
            <a:lvl6pPr>
              <a:defRPr sz="2025" b="1">
                <a:solidFill>
                  <a:srgbClr val="152D39"/>
                </a:solidFill>
                <a:latin typeface="Arial"/>
                <a:ea typeface="Arial"/>
                <a:cs typeface="Arial"/>
              </a:defRPr>
            </a:lvl6pPr>
            <a:lvl7pPr>
              <a:defRPr sz="2025" b="1">
                <a:solidFill>
                  <a:srgbClr val="152D39"/>
                </a:solidFill>
                <a:latin typeface="Arial"/>
                <a:ea typeface="Arial"/>
                <a:cs typeface="Arial"/>
              </a:defRPr>
            </a:lvl7pPr>
            <a:lvl8pPr>
              <a:defRPr sz="2025" b="1">
                <a:solidFill>
                  <a:srgbClr val="152D39"/>
                </a:solidFill>
                <a:latin typeface="Arial"/>
                <a:ea typeface="Arial"/>
                <a:cs typeface="Arial"/>
              </a:defRPr>
            </a:lvl8pPr>
            <a:lvl9pPr>
              <a:defRPr sz="2025" b="1">
                <a:solidFill>
                  <a:srgbClr val="152D39"/>
                </a:solidFill>
                <a:latin typeface="Arial"/>
                <a:ea typeface="Arial"/>
                <a:cs typeface="Arial"/>
              </a:defRPr>
            </a:lvl9pPr>
          </a:lstStyle>
          <a:p xmlns:a="http://schemas.openxmlformats.org/drawingml/2006/main">
            <a:pPr>
              <a:defRPr sz="2025" b="1">
                <a:solidFill>
                  <a:srgbClr val="152D39"/>
                </a:solidFill>
                <a:latin typeface="Arial"/>
                <a:ea typeface="Arial"/>
                <a:cs typeface="Arial"/>
              </a:defRPr>
            </a:pPr>
            <a:r>
              <a:rPr sz="2025" b="1">
                <a:solidFill>
                  <a:srgbClr val="152D39"/>
                </a:solidFill>
                <a:latin typeface="Arial"/>
                <a:ea typeface="Arial"/>
                <a:cs typeface="Arial"/>
              </a:rPr>
              <a:t>gain from automatic</a:t>
            </a:r>
          </a:p>
          <a:p xmlns:a="http://schemas.openxmlformats.org/drawingml/2006/main">
            <a:pPr>
              <a:defRPr sz="2025" b="1">
                <a:solidFill>
                  <a:srgbClr val="152D39"/>
                </a:solidFill>
                <a:latin typeface="Arial"/>
                <a:ea typeface="Arial"/>
                <a:cs typeface="Arial"/>
              </a:defRPr>
            </a:pPr>
            <a:r>
              <a:rPr sz="2025" b="1">
                <a:solidFill>
                  <a:srgbClr val="152D39"/>
                </a:solidFill>
                <a:latin typeface="Arial"/>
                <a:ea typeface="Arial"/>
                <a:cs typeface="Arial"/>
              </a:rPr>
              <a:t>cache sizing</a:t>
            </a:r>
          </a:p>
        </p:txBody>
      </p:sp>
      <p:sp>
        <p:nvSpPr>
          <p:cNvPr id="9" name="LeanMoE was about 9%&#10;lower in throughput.">
            <a:extLst xmlns:a="http://schemas.openxmlformats.org/drawingml/2006/main">
              <a:ext uri="{FF2B5EF4-FFF2-40B4-BE49-F238E27FC236}">
                <a16:creationId xmlns:a16="http://schemas.microsoft.com/office/drawing/2014/main" id="{831038CE-DF5F-4BAD-9429-006DAEC68B8E}"/>
              </a:ext>
            </a:extLst>
          </p:cNvPr>
          <p:cNvSpPr>
            <a:spLocks xmlns:a="http://schemas.openxmlformats.org/drawingml/2006/main" noGrp="1"/>
          </p:cNvSpPr>
          <p:nvPr/>
        </p:nvSpPr>
        <p:spPr>
          <a:xfrm xmlns:a="http://schemas.openxmlformats.org/drawingml/2006/main">
            <a:off x="8267700" y="457200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36A"/>
                </a:solidFill>
                <a:latin typeface="Arial"/>
                <a:ea typeface="Arial"/>
                <a:cs typeface="Arial"/>
              </a:defRPr>
            </a:defPPr>
            <a:lvl1pPr>
              <a:defRPr sz="1800" b="0">
                <a:solidFill>
                  <a:srgbClr val="52636A"/>
                </a:solidFill>
                <a:latin typeface="Arial"/>
                <a:ea typeface="Arial"/>
                <a:cs typeface="Arial"/>
              </a:defRPr>
            </a:lvl1pPr>
            <a:lvl2pPr>
              <a:defRPr sz="1800" b="0">
                <a:solidFill>
                  <a:srgbClr val="52636A"/>
                </a:solidFill>
                <a:latin typeface="Arial"/>
                <a:ea typeface="Arial"/>
                <a:cs typeface="Arial"/>
              </a:defRPr>
            </a:lvl2pPr>
            <a:lvl3pPr>
              <a:defRPr sz="1800" b="0">
                <a:solidFill>
                  <a:srgbClr val="52636A"/>
                </a:solidFill>
                <a:latin typeface="Arial"/>
                <a:ea typeface="Arial"/>
                <a:cs typeface="Arial"/>
              </a:defRPr>
            </a:lvl3pPr>
            <a:lvl4pPr>
              <a:defRPr sz="1800" b="0">
                <a:solidFill>
                  <a:srgbClr val="52636A"/>
                </a:solidFill>
                <a:latin typeface="Arial"/>
                <a:ea typeface="Arial"/>
                <a:cs typeface="Arial"/>
              </a:defRPr>
            </a:lvl4pPr>
            <a:lvl5pPr>
              <a:defRPr sz="1800" b="0">
                <a:solidFill>
                  <a:srgbClr val="52636A"/>
                </a:solidFill>
                <a:latin typeface="Arial"/>
                <a:ea typeface="Arial"/>
                <a:cs typeface="Arial"/>
              </a:defRPr>
            </a:lvl5pPr>
            <a:lvl6pPr>
              <a:defRPr sz="1800" b="0">
                <a:solidFill>
                  <a:srgbClr val="52636A"/>
                </a:solidFill>
                <a:latin typeface="Arial"/>
                <a:ea typeface="Arial"/>
                <a:cs typeface="Arial"/>
              </a:defRPr>
            </a:lvl6pPr>
            <a:lvl7pPr>
              <a:defRPr sz="1800" b="0">
                <a:solidFill>
                  <a:srgbClr val="52636A"/>
                </a:solidFill>
                <a:latin typeface="Arial"/>
                <a:ea typeface="Arial"/>
                <a:cs typeface="Arial"/>
              </a:defRPr>
            </a:lvl7pPr>
            <a:lvl8pPr>
              <a:defRPr sz="1800" b="0">
                <a:solidFill>
                  <a:srgbClr val="52636A"/>
                </a:solidFill>
                <a:latin typeface="Arial"/>
                <a:ea typeface="Arial"/>
                <a:cs typeface="Arial"/>
              </a:defRPr>
            </a:lvl8pPr>
            <a:lvl9pPr>
              <a:defRPr sz="1800" b="0">
                <a:solidFill>
                  <a:srgbClr val="52636A"/>
                </a:solidFill>
                <a:latin typeface="Arial"/>
                <a:ea typeface="Arial"/>
                <a:cs typeface="Arial"/>
              </a:defRPr>
            </a:lvl9pPr>
          </a:lstStyle>
          <a:p xmlns:a="http://schemas.openxmlformats.org/drawingml/2006/main">
            <a:pPr>
              <a:defRPr sz="1800" b="0">
                <a:solidFill>
                  <a:srgbClr val="52636A"/>
                </a:solidFill>
                <a:latin typeface="Arial"/>
                <a:ea typeface="Arial"/>
                <a:cs typeface="Arial"/>
              </a:defRPr>
            </a:pPr>
            <a:r>
              <a:rPr sz="1800" b="0">
                <a:solidFill>
                  <a:srgbClr val="52636A"/>
                </a:solidFill>
                <a:latin typeface="Arial"/>
                <a:ea typeface="Arial"/>
                <a:cs typeface="Arial"/>
              </a:rPr>
              <a:t>LeanMoE was about 9%</a:t>
            </a:r>
          </a:p>
          <a:p xmlns:a="http://schemas.openxmlformats.org/drawingml/2006/main">
            <a:pPr>
              <a:defRPr sz="1800" b="0">
                <a:solidFill>
                  <a:srgbClr val="52636A"/>
                </a:solidFill>
                <a:latin typeface="Arial"/>
                <a:ea typeface="Arial"/>
                <a:cs typeface="Arial"/>
              </a:defRPr>
            </a:pPr>
            <a:r>
              <a:rPr sz="1800" b="0">
                <a:solidFill>
                  <a:srgbClr val="52636A"/>
                </a:solidFill>
                <a:latin typeface="Arial"/>
                <a:ea typeface="Arial"/>
                <a:cs typeface="Arial"/>
              </a:rPr>
              <a:t>lower in throughput.</a:t>
            </a:r>
          </a:p>
        </p:txBody>
      </p:sp>
      <p:sp>
        <p:nvSpPr>
          <p:cNvPr id="10" name="The local-memory problem remains the focus. Cloud provi">
            <a:extLst xmlns:a="http://schemas.openxmlformats.org/drawingml/2006/main">
              <a:ext uri="{FF2B5EF4-FFF2-40B4-BE49-F238E27FC236}">
                <a16:creationId xmlns:a16="http://schemas.microsoft.com/office/drawing/2014/main" id="{74625B5E-727B-48C8-976B-0BFC13C4C803}"/>
              </a:ext>
            </a:extLst>
          </p:cNvPr>
          <p:cNvSpPr>
            <a:spLocks xmlns:a="http://schemas.openxmlformats.org/drawingml/2006/main" noGrp="1"/>
          </p:cNvSpPr>
          <p:nvPr/>
        </p:nvSpPr>
        <p:spPr>
          <a:xfrm xmlns:a="http://schemas.openxmlformats.org/drawingml/2006/main">
            <a:off x="742950" y="58293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36A"/>
                </a:solidFill>
                <a:latin typeface="Arial"/>
                <a:ea typeface="Arial"/>
                <a:cs typeface="Arial"/>
              </a:defRPr>
            </a:defPPr>
            <a:lvl1pPr>
              <a:defRPr sz="1425" b="0">
                <a:solidFill>
                  <a:srgbClr val="52636A"/>
                </a:solidFill>
                <a:latin typeface="Arial"/>
                <a:ea typeface="Arial"/>
                <a:cs typeface="Arial"/>
              </a:defRPr>
            </a:lvl1pPr>
            <a:lvl2pPr>
              <a:defRPr sz="1425" b="0">
                <a:solidFill>
                  <a:srgbClr val="52636A"/>
                </a:solidFill>
                <a:latin typeface="Arial"/>
                <a:ea typeface="Arial"/>
                <a:cs typeface="Arial"/>
              </a:defRPr>
            </a:lvl2pPr>
            <a:lvl3pPr>
              <a:defRPr sz="1425" b="0">
                <a:solidFill>
                  <a:srgbClr val="52636A"/>
                </a:solidFill>
                <a:latin typeface="Arial"/>
                <a:ea typeface="Arial"/>
                <a:cs typeface="Arial"/>
              </a:defRPr>
            </a:lvl3pPr>
            <a:lvl4pPr>
              <a:defRPr sz="1425" b="0">
                <a:solidFill>
                  <a:srgbClr val="52636A"/>
                </a:solidFill>
                <a:latin typeface="Arial"/>
                <a:ea typeface="Arial"/>
                <a:cs typeface="Arial"/>
              </a:defRPr>
            </a:lvl4pPr>
            <a:lvl5pPr>
              <a:defRPr sz="1425" b="0">
                <a:solidFill>
                  <a:srgbClr val="52636A"/>
                </a:solidFill>
                <a:latin typeface="Arial"/>
                <a:ea typeface="Arial"/>
                <a:cs typeface="Arial"/>
              </a:defRPr>
            </a:lvl5pPr>
            <a:lvl6pPr>
              <a:defRPr sz="1425" b="0">
                <a:solidFill>
                  <a:srgbClr val="52636A"/>
                </a:solidFill>
                <a:latin typeface="Arial"/>
                <a:ea typeface="Arial"/>
                <a:cs typeface="Arial"/>
              </a:defRPr>
            </a:lvl6pPr>
            <a:lvl7pPr>
              <a:defRPr sz="1425" b="0">
                <a:solidFill>
                  <a:srgbClr val="52636A"/>
                </a:solidFill>
                <a:latin typeface="Arial"/>
                <a:ea typeface="Arial"/>
                <a:cs typeface="Arial"/>
              </a:defRPr>
            </a:lvl7pPr>
            <a:lvl8pPr>
              <a:defRPr sz="1425" b="0">
                <a:solidFill>
                  <a:srgbClr val="52636A"/>
                </a:solidFill>
                <a:latin typeface="Arial"/>
                <a:ea typeface="Arial"/>
                <a:cs typeface="Arial"/>
              </a:defRPr>
            </a:lvl8pPr>
            <a:lvl9pPr>
              <a:defRPr sz="1425" b="0">
                <a:solidFill>
                  <a:srgbClr val="52636A"/>
                </a:solidFill>
                <a:latin typeface="Arial"/>
                <a:ea typeface="Arial"/>
                <a:cs typeface="Arial"/>
              </a:defRPr>
            </a:lvl9pPr>
          </a:lstStyle>
          <a:p xmlns:a="http://schemas.openxmlformats.org/drawingml/2006/main">
            <a:pPr>
              <a:defRPr sz="1425" b="0">
                <a:solidFill>
                  <a:srgbClr val="52636A"/>
                </a:solidFill>
                <a:latin typeface="Arial"/>
                <a:ea typeface="Arial"/>
                <a:cs typeface="Arial"/>
              </a:defRPr>
            </a:pPr>
            <a:r>
              <a:rPr sz="1425" b="0">
                <a:solidFill>
                  <a:srgbClr val="52636A"/>
                </a:solidFill>
                <a:latin typeface="Arial"/>
                <a:ea typeface="Arial"/>
                <a:cs typeface="Arial"/>
              </a:rPr>
              <a:t>The local-memory problem remains the focus. Cloud provides remote access.</a:t>
            </a:r>
          </a:p>
          <a:p xmlns:a="http://schemas.openxmlformats.org/drawingml/2006/main">
            <a:pPr>
              <a:defRPr sz="1425" b="0">
                <a:solidFill>
                  <a:srgbClr val="52636A"/>
                </a:solidFill>
                <a:latin typeface="Arial"/>
                <a:ea typeface="Arial"/>
                <a:cs typeface="Arial"/>
              </a:defRPr>
            </a:pPr>
            <a:r>
              <a:rPr sz="1425" b="0">
                <a:solidFill>
                  <a:srgbClr val="52636A"/>
                </a:solidFill>
                <a:latin typeface="Arial"/>
                <a:ea typeface="Arial"/>
                <a:cs typeface="Arial"/>
              </a:rPr>
              <a:t>One prompt, two main repeats, unequal memory use and uncontrolled OS caches.</a:t>
            </a:r>
          </a:p>
        </p:txBody>
      </p:sp>
    </p:spTree>
    <p:extLst>
      <p:ext uri="{BB962C8B-B14F-4D97-AF65-F5344CB8AC3E}">
        <p14:creationId xmlns:p14="http://schemas.microsoft.com/office/powerpoint/2010/main" val="1735116335"/>
      </p:ext>
    </p:extLst>
  </p:cSld>
</p:sld>
</file>

<file path=ppt/slides/slide9.xml><?xml version="1.0" encoding="utf-8"?>
<p:sld xmlns:p="http://schemas.openxmlformats.org/presentationml/2006/main">
  <p:cSld>
    <p:bg>
      <p:bgPr>
        <a:solidFill xmlns:a="http://schemas.openxmlformats.org/drawingml/2006/main">
          <a:srgbClr val="03152F"/>
        </a:solidFill>
      </p:bgPr>
    </p:bg>
    <p:spTree>
      <p:nvGrpSpPr>
        <p:cNvPr id="1" name=""/>
        <p:cNvGrpSpPr/>
        <p:nvPr/>
      </p:nvGrpSpPr>
      <p:grpSpPr>
        <a:xfrm xmlns:a="http://schemas.openxmlformats.org/drawingml/2006/main"/>
      </p:grpSpPr>
      <p:sp>
        <p:nvSpPr>
          <p:cNvPr id="10" name="What I would build next">
            <a:extLst xmlns:a="http://schemas.openxmlformats.org/drawingml/2006/main">
              <a:ext uri="{FF2B5EF4-FFF2-40B4-BE49-F238E27FC236}">
                <a16:creationId xmlns:a16="http://schemas.microsoft.com/office/drawing/2014/main" id="{E8E06498-FAD8-4ED2-990D-47E8F459C165}"/>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Arial"/>
                <a:ea typeface="Arial"/>
                <a:cs typeface="Arial"/>
              </a:defRPr>
            </a:defPPr>
            <a:lvl1pPr>
              <a:defRPr sz="3375" b="1">
                <a:solidFill>
                  <a:srgbClr val="FFFFFF"/>
                </a:solidFill>
                <a:latin typeface="Arial"/>
                <a:ea typeface="Arial"/>
                <a:cs typeface="Arial"/>
              </a:defRPr>
            </a:lvl1pPr>
            <a:lvl2pPr>
              <a:defRPr sz="3375" b="1">
                <a:solidFill>
                  <a:srgbClr val="FFFFFF"/>
                </a:solidFill>
                <a:latin typeface="Arial"/>
                <a:ea typeface="Arial"/>
                <a:cs typeface="Arial"/>
              </a:defRPr>
            </a:lvl2pPr>
            <a:lvl3pPr>
              <a:defRPr sz="3375" b="1">
                <a:solidFill>
                  <a:srgbClr val="FFFFFF"/>
                </a:solidFill>
                <a:latin typeface="Arial"/>
                <a:ea typeface="Arial"/>
                <a:cs typeface="Arial"/>
              </a:defRPr>
            </a:lvl3pPr>
            <a:lvl4pPr>
              <a:defRPr sz="3375" b="1">
                <a:solidFill>
                  <a:srgbClr val="FFFFFF"/>
                </a:solidFill>
                <a:latin typeface="Arial"/>
                <a:ea typeface="Arial"/>
                <a:cs typeface="Arial"/>
              </a:defRPr>
            </a:lvl4pPr>
            <a:lvl5pPr>
              <a:defRPr sz="3375" b="1">
                <a:solidFill>
                  <a:srgbClr val="FFFFFF"/>
                </a:solidFill>
                <a:latin typeface="Arial"/>
                <a:ea typeface="Arial"/>
                <a:cs typeface="Arial"/>
              </a:defRPr>
            </a:lvl5pPr>
            <a:lvl6pPr>
              <a:defRPr sz="3375" b="1">
                <a:solidFill>
                  <a:srgbClr val="FFFFFF"/>
                </a:solidFill>
                <a:latin typeface="Arial"/>
                <a:ea typeface="Arial"/>
                <a:cs typeface="Arial"/>
              </a:defRPr>
            </a:lvl6pPr>
            <a:lvl7pPr>
              <a:defRPr sz="3375" b="1">
                <a:solidFill>
                  <a:srgbClr val="FFFFFF"/>
                </a:solidFill>
                <a:latin typeface="Arial"/>
                <a:ea typeface="Arial"/>
                <a:cs typeface="Arial"/>
              </a:defRPr>
            </a:lvl7pPr>
            <a:lvl8pPr>
              <a:defRPr sz="3375" b="1">
                <a:solidFill>
                  <a:srgbClr val="FFFFFF"/>
                </a:solidFill>
                <a:latin typeface="Arial"/>
                <a:ea typeface="Arial"/>
                <a:cs typeface="Arial"/>
              </a:defRPr>
            </a:lvl8pPr>
            <a:lvl9pPr>
              <a:defRPr sz="3375" b="1">
                <a:solidFill>
                  <a:srgbClr val="FFFFFF"/>
                </a:solidFill>
                <a:latin typeface="Arial"/>
                <a:ea typeface="Arial"/>
                <a:cs typeface="Arial"/>
              </a:defRPr>
            </a:lvl9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What I would build next</a:t>
            </a:r>
          </a:p>
        </p:txBody>
      </p:sp>
      <p:sp>
        <p:nvSpPr>
          <p:cNvPr id="2" name="LeanMoE">
            <a:extLst xmlns:a="http://schemas.openxmlformats.org/drawingml/2006/main">
              <a:ext uri="{FF2B5EF4-FFF2-40B4-BE49-F238E27FC236}">
                <a16:creationId xmlns:a16="http://schemas.microsoft.com/office/drawing/2014/main" id="{BABEF8E1-111B-412D-8111-20E84534E758}"/>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LeanMoE</a:t>
            </a:r>
          </a:p>
        </p:txBody>
      </p:sp>
      <p:sp>
        <p:nvSpPr>
          <p:cNvPr id="3" name="09">
            <a:extLst xmlns:a="http://schemas.openxmlformats.org/drawingml/2006/main">
              <a:ext uri="{FF2B5EF4-FFF2-40B4-BE49-F238E27FC236}">
                <a16:creationId xmlns:a16="http://schemas.microsoft.com/office/drawing/2014/main" id="{FA83C490-9279-4DF2-8691-677D31873BC8}"/>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09</a:t>
            </a:r>
          </a:p>
        </p:txBody>
      </p:sp>
      <p:sp>
        <p:nvSpPr>
          <p:cNvPr id="4" name="Task success, with a latency requirement">
            <a:extLst xmlns:a="http://schemas.openxmlformats.org/drawingml/2006/main">
              <a:ext uri="{FF2B5EF4-FFF2-40B4-BE49-F238E27FC236}">
                <a16:creationId xmlns:a16="http://schemas.microsoft.com/office/drawing/2014/main" id="{FD9E1411-BBEB-4A39-8097-C20DE36D3EEC}"/>
              </a:ext>
            </a:extLst>
          </p:cNvPr>
          <p:cNvSpPr>
            <a:spLocks xmlns:a="http://schemas.openxmlformats.org/drawingml/2006/main" noGrp="1"/>
          </p:cNvSpPr>
          <p:nvPr/>
        </p:nvSpPr>
        <p:spPr>
          <a:xfrm xmlns:a="http://schemas.openxmlformats.org/drawingml/2006/main">
            <a:off x="742950" y="16954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FFFFFF"/>
                </a:solidFill>
                <a:latin typeface="Arial"/>
                <a:ea typeface="Arial"/>
                <a:cs typeface="Arial"/>
              </a:defRPr>
            </a:defPPr>
            <a:lvl1pPr>
              <a:defRPr sz="2625" b="1">
                <a:solidFill>
                  <a:srgbClr val="FFFFFF"/>
                </a:solidFill>
                <a:latin typeface="Arial"/>
                <a:ea typeface="Arial"/>
                <a:cs typeface="Arial"/>
              </a:defRPr>
            </a:lvl1pPr>
            <a:lvl2pPr>
              <a:defRPr sz="2625" b="1">
                <a:solidFill>
                  <a:srgbClr val="FFFFFF"/>
                </a:solidFill>
                <a:latin typeface="Arial"/>
                <a:ea typeface="Arial"/>
                <a:cs typeface="Arial"/>
              </a:defRPr>
            </a:lvl2pPr>
            <a:lvl3pPr>
              <a:defRPr sz="2625" b="1">
                <a:solidFill>
                  <a:srgbClr val="FFFFFF"/>
                </a:solidFill>
                <a:latin typeface="Arial"/>
                <a:ea typeface="Arial"/>
                <a:cs typeface="Arial"/>
              </a:defRPr>
            </a:lvl3pPr>
            <a:lvl4pPr>
              <a:defRPr sz="2625" b="1">
                <a:solidFill>
                  <a:srgbClr val="FFFFFF"/>
                </a:solidFill>
                <a:latin typeface="Arial"/>
                <a:ea typeface="Arial"/>
                <a:cs typeface="Arial"/>
              </a:defRPr>
            </a:lvl4pPr>
            <a:lvl5pPr>
              <a:defRPr sz="2625" b="1">
                <a:solidFill>
                  <a:srgbClr val="FFFFFF"/>
                </a:solidFill>
                <a:latin typeface="Arial"/>
                <a:ea typeface="Arial"/>
                <a:cs typeface="Arial"/>
              </a:defRPr>
            </a:lvl5pPr>
            <a:lvl6pPr>
              <a:defRPr sz="2625" b="1">
                <a:solidFill>
                  <a:srgbClr val="FFFFFF"/>
                </a:solidFill>
                <a:latin typeface="Arial"/>
                <a:ea typeface="Arial"/>
                <a:cs typeface="Arial"/>
              </a:defRPr>
            </a:lvl6pPr>
            <a:lvl7pPr>
              <a:defRPr sz="2625" b="1">
                <a:solidFill>
                  <a:srgbClr val="FFFFFF"/>
                </a:solidFill>
                <a:latin typeface="Arial"/>
                <a:ea typeface="Arial"/>
                <a:cs typeface="Arial"/>
              </a:defRPr>
            </a:lvl7pPr>
            <a:lvl8pPr>
              <a:defRPr sz="2625" b="1">
                <a:solidFill>
                  <a:srgbClr val="FFFFFF"/>
                </a:solidFill>
                <a:latin typeface="Arial"/>
                <a:ea typeface="Arial"/>
                <a:cs typeface="Arial"/>
              </a:defRPr>
            </a:lvl8pPr>
            <a:lvl9pPr>
              <a:defRPr sz="2625" b="1">
                <a:solidFill>
                  <a:srgbClr val="FFFFFF"/>
                </a:solidFill>
                <a:latin typeface="Arial"/>
                <a:ea typeface="Arial"/>
                <a:cs typeface="Arial"/>
              </a:defRPr>
            </a:lvl9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Task success, with a latency requirement</a:t>
            </a:r>
          </a:p>
        </p:txBody>
      </p:sp>
      <p:sp>
        <p:nvSpPr>
          <p:cNvPr id="5" name="Measure useful answers, rather than token agreement alo">
            <a:extLst xmlns:a="http://schemas.openxmlformats.org/drawingml/2006/main">
              <a:ext uri="{FF2B5EF4-FFF2-40B4-BE49-F238E27FC236}">
                <a16:creationId xmlns:a16="http://schemas.microsoft.com/office/drawing/2014/main" id="{17BDE973-A73D-4A07-9086-7CE9FF18C2A9}"/>
              </a:ext>
            </a:extLst>
          </p:cNvPr>
          <p:cNvSpPr>
            <a:spLocks xmlns:a="http://schemas.openxmlformats.org/drawingml/2006/main" noGrp="1"/>
          </p:cNvSpPr>
          <p:nvPr/>
        </p:nvSpPr>
        <p:spPr>
          <a:xfrm xmlns:a="http://schemas.openxmlformats.org/drawingml/2006/main">
            <a:off x="742950" y="2333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ED0D5"/>
                </a:solidFill>
                <a:latin typeface="Arial"/>
                <a:ea typeface="Arial"/>
                <a:cs typeface="Arial"/>
              </a:defRPr>
            </a:defPPr>
            <a:lvl1pPr>
              <a:defRPr sz="1950" b="0">
                <a:solidFill>
                  <a:srgbClr val="BED0D5"/>
                </a:solidFill>
                <a:latin typeface="Arial"/>
                <a:ea typeface="Arial"/>
                <a:cs typeface="Arial"/>
              </a:defRPr>
            </a:lvl1pPr>
            <a:lvl2pPr>
              <a:defRPr sz="1950" b="0">
                <a:solidFill>
                  <a:srgbClr val="BED0D5"/>
                </a:solidFill>
                <a:latin typeface="Arial"/>
                <a:ea typeface="Arial"/>
                <a:cs typeface="Arial"/>
              </a:defRPr>
            </a:lvl2pPr>
            <a:lvl3pPr>
              <a:defRPr sz="1950" b="0">
                <a:solidFill>
                  <a:srgbClr val="BED0D5"/>
                </a:solidFill>
                <a:latin typeface="Arial"/>
                <a:ea typeface="Arial"/>
                <a:cs typeface="Arial"/>
              </a:defRPr>
            </a:lvl3pPr>
            <a:lvl4pPr>
              <a:defRPr sz="1950" b="0">
                <a:solidFill>
                  <a:srgbClr val="BED0D5"/>
                </a:solidFill>
                <a:latin typeface="Arial"/>
                <a:ea typeface="Arial"/>
                <a:cs typeface="Arial"/>
              </a:defRPr>
            </a:lvl4pPr>
            <a:lvl5pPr>
              <a:defRPr sz="1950" b="0">
                <a:solidFill>
                  <a:srgbClr val="BED0D5"/>
                </a:solidFill>
                <a:latin typeface="Arial"/>
                <a:ea typeface="Arial"/>
                <a:cs typeface="Arial"/>
              </a:defRPr>
            </a:lvl5pPr>
            <a:lvl6pPr>
              <a:defRPr sz="1950" b="0">
                <a:solidFill>
                  <a:srgbClr val="BED0D5"/>
                </a:solidFill>
                <a:latin typeface="Arial"/>
                <a:ea typeface="Arial"/>
                <a:cs typeface="Arial"/>
              </a:defRPr>
            </a:lvl6pPr>
            <a:lvl7pPr>
              <a:defRPr sz="1950" b="0">
                <a:solidFill>
                  <a:srgbClr val="BED0D5"/>
                </a:solidFill>
                <a:latin typeface="Arial"/>
                <a:ea typeface="Arial"/>
                <a:cs typeface="Arial"/>
              </a:defRPr>
            </a:lvl7pPr>
            <a:lvl8pPr>
              <a:defRPr sz="1950" b="0">
                <a:solidFill>
                  <a:srgbClr val="BED0D5"/>
                </a:solidFill>
                <a:latin typeface="Arial"/>
                <a:ea typeface="Arial"/>
                <a:cs typeface="Arial"/>
              </a:defRPr>
            </a:lvl8pPr>
            <a:lvl9pPr>
              <a:defRPr sz="1950" b="0">
                <a:solidFill>
                  <a:srgbClr val="BED0D5"/>
                </a:solidFill>
                <a:latin typeface="Arial"/>
                <a:ea typeface="Arial"/>
                <a:cs typeface="Arial"/>
              </a:defRPr>
            </a:lvl9pPr>
          </a:lstStyle>
          <a:p xmlns:a="http://schemas.openxmlformats.org/drawingml/2006/main">
            <a:pPr>
              <a:defRPr sz="1950" b="0">
                <a:solidFill>
                  <a:srgbClr val="BED0D5"/>
                </a:solidFill>
                <a:latin typeface="Arial"/>
                <a:ea typeface="Arial"/>
                <a:cs typeface="Arial"/>
              </a:defRPr>
            </a:pPr>
            <a:r>
              <a:rPr sz="1950" b="0">
                <a:solidFill>
                  <a:srgbClr val="BED0D5"/>
                </a:solidFill>
                <a:latin typeface="Arial"/>
                <a:ea typeface="Arial"/>
                <a:cs typeface="Arial"/>
              </a:rPr>
              <a:t>Measure useful answers, rather than token agreement alone.</a:t>
            </a:r>
          </a:p>
        </p:txBody>
      </p:sp>
      <p:sp>
        <p:nvSpPr>
          <p:cNvPr id="6" name="More devices, more MoE models">
            <a:extLst xmlns:a="http://schemas.openxmlformats.org/drawingml/2006/main">
              <a:ext uri="{FF2B5EF4-FFF2-40B4-BE49-F238E27FC236}">
                <a16:creationId xmlns:a16="http://schemas.microsoft.com/office/drawing/2014/main" id="{04889672-81DF-4B89-87EA-E3994438A2A3}"/>
              </a:ext>
            </a:extLst>
          </p:cNvPr>
          <p:cNvSpPr>
            <a:spLocks xmlns:a="http://schemas.openxmlformats.org/drawingml/2006/main" noGrp="1"/>
          </p:cNvSpPr>
          <p:nvPr/>
        </p:nvSpPr>
        <p:spPr>
          <a:xfrm xmlns:a="http://schemas.openxmlformats.org/drawingml/2006/main">
            <a:off x="742950" y="33051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FFFFFF"/>
                </a:solidFill>
                <a:latin typeface="Arial"/>
                <a:ea typeface="Arial"/>
                <a:cs typeface="Arial"/>
              </a:defRPr>
            </a:defPPr>
            <a:lvl1pPr>
              <a:defRPr sz="2625" b="1">
                <a:solidFill>
                  <a:srgbClr val="FFFFFF"/>
                </a:solidFill>
                <a:latin typeface="Arial"/>
                <a:ea typeface="Arial"/>
                <a:cs typeface="Arial"/>
              </a:defRPr>
            </a:lvl1pPr>
            <a:lvl2pPr>
              <a:defRPr sz="2625" b="1">
                <a:solidFill>
                  <a:srgbClr val="FFFFFF"/>
                </a:solidFill>
                <a:latin typeface="Arial"/>
                <a:ea typeface="Arial"/>
                <a:cs typeface="Arial"/>
              </a:defRPr>
            </a:lvl2pPr>
            <a:lvl3pPr>
              <a:defRPr sz="2625" b="1">
                <a:solidFill>
                  <a:srgbClr val="FFFFFF"/>
                </a:solidFill>
                <a:latin typeface="Arial"/>
                <a:ea typeface="Arial"/>
                <a:cs typeface="Arial"/>
              </a:defRPr>
            </a:lvl3pPr>
            <a:lvl4pPr>
              <a:defRPr sz="2625" b="1">
                <a:solidFill>
                  <a:srgbClr val="FFFFFF"/>
                </a:solidFill>
                <a:latin typeface="Arial"/>
                <a:ea typeface="Arial"/>
                <a:cs typeface="Arial"/>
              </a:defRPr>
            </a:lvl4pPr>
            <a:lvl5pPr>
              <a:defRPr sz="2625" b="1">
                <a:solidFill>
                  <a:srgbClr val="FFFFFF"/>
                </a:solidFill>
                <a:latin typeface="Arial"/>
                <a:ea typeface="Arial"/>
                <a:cs typeface="Arial"/>
              </a:defRPr>
            </a:lvl5pPr>
            <a:lvl6pPr>
              <a:defRPr sz="2625" b="1">
                <a:solidFill>
                  <a:srgbClr val="FFFFFF"/>
                </a:solidFill>
                <a:latin typeface="Arial"/>
                <a:ea typeface="Arial"/>
                <a:cs typeface="Arial"/>
              </a:defRPr>
            </a:lvl6pPr>
            <a:lvl7pPr>
              <a:defRPr sz="2625" b="1">
                <a:solidFill>
                  <a:srgbClr val="FFFFFF"/>
                </a:solidFill>
                <a:latin typeface="Arial"/>
                <a:ea typeface="Arial"/>
                <a:cs typeface="Arial"/>
              </a:defRPr>
            </a:lvl7pPr>
            <a:lvl8pPr>
              <a:defRPr sz="2625" b="1">
                <a:solidFill>
                  <a:srgbClr val="FFFFFF"/>
                </a:solidFill>
                <a:latin typeface="Arial"/>
                <a:ea typeface="Arial"/>
                <a:cs typeface="Arial"/>
              </a:defRPr>
            </a:lvl8pPr>
            <a:lvl9pPr>
              <a:defRPr sz="2625" b="1">
                <a:solidFill>
                  <a:srgbClr val="FFFFFF"/>
                </a:solidFill>
                <a:latin typeface="Arial"/>
                <a:ea typeface="Arial"/>
                <a:cs typeface="Arial"/>
              </a:defRPr>
            </a:lvl9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More devices, more MoE models</a:t>
            </a:r>
          </a:p>
        </p:txBody>
      </p:sp>
      <p:sp>
        <p:nvSpPr>
          <p:cNvPr id="7" name="Find where the memory and I/O trade-off holds.">
            <a:extLst xmlns:a="http://schemas.openxmlformats.org/drawingml/2006/main">
              <a:ext uri="{FF2B5EF4-FFF2-40B4-BE49-F238E27FC236}">
                <a16:creationId xmlns:a16="http://schemas.microsoft.com/office/drawing/2014/main" id="{72899F2E-1E55-43E7-828B-06F104471E13}"/>
              </a:ext>
            </a:extLst>
          </p:cNvPr>
          <p:cNvSpPr>
            <a:spLocks xmlns:a="http://schemas.openxmlformats.org/drawingml/2006/main" noGrp="1"/>
          </p:cNvSpPr>
          <p:nvPr/>
        </p:nvSpPr>
        <p:spPr>
          <a:xfrm xmlns:a="http://schemas.openxmlformats.org/drawingml/2006/main">
            <a:off x="742950" y="3943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ED0D5"/>
                </a:solidFill>
                <a:latin typeface="Arial"/>
                <a:ea typeface="Arial"/>
                <a:cs typeface="Arial"/>
              </a:defRPr>
            </a:defPPr>
            <a:lvl1pPr>
              <a:defRPr sz="1950" b="0">
                <a:solidFill>
                  <a:srgbClr val="BED0D5"/>
                </a:solidFill>
                <a:latin typeface="Arial"/>
                <a:ea typeface="Arial"/>
                <a:cs typeface="Arial"/>
              </a:defRPr>
            </a:lvl1pPr>
            <a:lvl2pPr>
              <a:defRPr sz="1950" b="0">
                <a:solidFill>
                  <a:srgbClr val="BED0D5"/>
                </a:solidFill>
                <a:latin typeface="Arial"/>
                <a:ea typeface="Arial"/>
                <a:cs typeface="Arial"/>
              </a:defRPr>
            </a:lvl2pPr>
            <a:lvl3pPr>
              <a:defRPr sz="1950" b="0">
                <a:solidFill>
                  <a:srgbClr val="BED0D5"/>
                </a:solidFill>
                <a:latin typeface="Arial"/>
                <a:ea typeface="Arial"/>
                <a:cs typeface="Arial"/>
              </a:defRPr>
            </a:lvl3pPr>
            <a:lvl4pPr>
              <a:defRPr sz="1950" b="0">
                <a:solidFill>
                  <a:srgbClr val="BED0D5"/>
                </a:solidFill>
                <a:latin typeface="Arial"/>
                <a:ea typeface="Arial"/>
                <a:cs typeface="Arial"/>
              </a:defRPr>
            </a:lvl4pPr>
            <a:lvl5pPr>
              <a:defRPr sz="1950" b="0">
                <a:solidFill>
                  <a:srgbClr val="BED0D5"/>
                </a:solidFill>
                <a:latin typeface="Arial"/>
                <a:ea typeface="Arial"/>
                <a:cs typeface="Arial"/>
              </a:defRPr>
            </a:lvl5pPr>
            <a:lvl6pPr>
              <a:defRPr sz="1950" b="0">
                <a:solidFill>
                  <a:srgbClr val="BED0D5"/>
                </a:solidFill>
                <a:latin typeface="Arial"/>
                <a:ea typeface="Arial"/>
                <a:cs typeface="Arial"/>
              </a:defRPr>
            </a:lvl6pPr>
            <a:lvl7pPr>
              <a:defRPr sz="1950" b="0">
                <a:solidFill>
                  <a:srgbClr val="BED0D5"/>
                </a:solidFill>
                <a:latin typeface="Arial"/>
                <a:ea typeface="Arial"/>
                <a:cs typeface="Arial"/>
              </a:defRPr>
            </a:lvl7pPr>
            <a:lvl8pPr>
              <a:defRPr sz="1950" b="0">
                <a:solidFill>
                  <a:srgbClr val="BED0D5"/>
                </a:solidFill>
                <a:latin typeface="Arial"/>
                <a:ea typeface="Arial"/>
                <a:cs typeface="Arial"/>
              </a:defRPr>
            </a:lvl8pPr>
            <a:lvl9pPr>
              <a:defRPr sz="1950" b="0">
                <a:solidFill>
                  <a:srgbClr val="BED0D5"/>
                </a:solidFill>
                <a:latin typeface="Arial"/>
                <a:ea typeface="Arial"/>
                <a:cs typeface="Arial"/>
              </a:defRPr>
            </a:lvl9pPr>
          </a:lstStyle>
          <a:p xmlns:a="http://schemas.openxmlformats.org/drawingml/2006/main">
            <a:pPr>
              <a:defRPr sz="1950" b="0">
                <a:solidFill>
                  <a:srgbClr val="BED0D5"/>
                </a:solidFill>
                <a:latin typeface="Arial"/>
                <a:ea typeface="Arial"/>
                <a:cs typeface="Arial"/>
              </a:defRPr>
            </a:pPr>
            <a:r>
              <a:rPr sz="1950" b="0">
                <a:solidFill>
                  <a:srgbClr val="BED0D5"/>
                </a:solidFill>
                <a:latin typeface="Arial"/>
                <a:ea typeface="Arial"/>
                <a:cs typeface="Arial"/>
              </a:rPr>
              <a:t>Find where the memory and I/O trade-off holds.</a:t>
            </a:r>
          </a:p>
        </p:txBody>
      </p:sp>
      <p:sp>
        <p:nvSpPr>
          <p:cNvPr id="8" name="Large models on the hardware people have.">
            <a:extLst xmlns:a="http://schemas.openxmlformats.org/drawingml/2006/main">
              <a:ext uri="{FF2B5EF4-FFF2-40B4-BE49-F238E27FC236}">
                <a16:creationId xmlns:a16="http://schemas.microsoft.com/office/drawing/2014/main" id="{AAC772B2-984C-4A73-92E1-24D5A1F18AA8}"/>
              </a:ext>
            </a:extLst>
          </p:cNvPr>
          <p:cNvSpPr>
            <a:spLocks xmlns:a="http://schemas.openxmlformats.org/drawingml/2006/main" noGrp="1"/>
          </p:cNvSpPr>
          <p:nvPr/>
        </p:nvSpPr>
        <p:spPr>
          <a:xfrm xmlns:a="http://schemas.openxmlformats.org/drawingml/2006/main">
            <a:off x="742950" y="5057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32DBC7"/>
                </a:solidFill>
                <a:latin typeface="Arial"/>
                <a:ea typeface="Arial"/>
                <a:cs typeface="Arial"/>
              </a:defRPr>
            </a:defPPr>
            <a:lvl1pPr>
              <a:defRPr sz="2775" b="1">
                <a:solidFill>
                  <a:srgbClr val="32DBC7"/>
                </a:solidFill>
                <a:latin typeface="Arial"/>
                <a:ea typeface="Arial"/>
                <a:cs typeface="Arial"/>
              </a:defRPr>
            </a:lvl1pPr>
            <a:lvl2pPr>
              <a:defRPr sz="2775" b="1">
                <a:solidFill>
                  <a:srgbClr val="32DBC7"/>
                </a:solidFill>
                <a:latin typeface="Arial"/>
                <a:ea typeface="Arial"/>
                <a:cs typeface="Arial"/>
              </a:defRPr>
            </a:lvl2pPr>
            <a:lvl3pPr>
              <a:defRPr sz="2775" b="1">
                <a:solidFill>
                  <a:srgbClr val="32DBC7"/>
                </a:solidFill>
                <a:latin typeface="Arial"/>
                <a:ea typeface="Arial"/>
                <a:cs typeface="Arial"/>
              </a:defRPr>
            </a:lvl3pPr>
            <a:lvl4pPr>
              <a:defRPr sz="2775" b="1">
                <a:solidFill>
                  <a:srgbClr val="32DBC7"/>
                </a:solidFill>
                <a:latin typeface="Arial"/>
                <a:ea typeface="Arial"/>
                <a:cs typeface="Arial"/>
              </a:defRPr>
            </a:lvl4pPr>
            <a:lvl5pPr>
              <a:defRPr sz="2775" b="1">
                <a:solidFill>
                  <a:srgbClr val="32DBC7"/>
                </a:solidFill>
                <a:latin typeface="Arial"/>
                <a:ea typeface="Arial"/>
                <a:cs typeface="Arial"/>
              </a:defRPr>
            </a:lvl5pPr>
            <a:lvl6pPr>
              <a:defRPr sz="2775" b="1">
                <a:solidFill>
                  <a:srgbClr val="32DBC7"/>
                </a:solidFill>
                <a:latin typeface="Arial"/>
                <a:ea typeface="Arial"/>
                <a:cs typeface="Arial"/>
              </a:defRPr>
            </a:lvl6pPr>
            <a:lvl7pPr>
              <a:defRPr sz="2775" b="1">
                <a:solidFill>
                  <a:srgbClr val="32DBC7"/>
                </a:solidFill>
                <a:latin typeface="Arial"/>
                <a:ea typeface="Arial"/>
                <a:cs typeface="Arial"/>
              </a:defRPr>
            </a:lvl7pPr>
            <a:lvl8pPr>
              <a:defRPr sz="2775" b="1">
                <a:solidFill>
                  <a:srgbClr val="32DBC7"/>
                </a:solidFill>
                <a:latin typeface="Arial"/>
                <a:ea typeface="Arial"/>
                <a:cs typeface="Arial"/>
              </a:defRPr>
            </a:lvl8pPr>
            <a:lvl9pPr>
              <a:defRPr sz="2775" b="1">
                <a:solidFill>
                  <a:srgbClr val="32DBC7"/>
                </a:solidFill>
                <a:latin typeface="Arial"/>
                <a:ea typeface="Arial"/>
                <a:cs typeface="Arial"/>
              </a:defRPr>
            </a:lvl9pPr>
          </a:lstStyle>
          <a:p xmlns:a="http://schemas.openxmlformats.org/drawingml/2006/main">
            <a:pPr>
              <a:defRPr sz="2775" b="1">
                <a:solidFill>
                  <a:srgbClr val="32DBC7"/>
                </a:solidFill>
                <a:latin typeface="Arial"/>
                <a:ea typeface="Arial"/>
                <a:cs typeface="Arial"/>
              </a:defRPr>
            </a:pPr>
            <a:r>
              <a:rPr sz="2775" b="1">
                <a:solidFill>
                  <a:srgbClr val="32DBC7"/>
                </a:solidFill>
                <a:latin typeface="Arial"/>
                <a:ea typeface="Arial"/>
                <a:cs typeface="Arial"/>
              </a:rPr>
              <a:t>Large models on the hardware people have.</a:t>
            </a:r>
          </a:p>
        </p:txBody>
      </p:sp>
      <p:sp>
        <p:nvSpPr>
          <p:cNvPr id="9" name="github.com/No6Name8/LeanMoE">
            <a:extLst xmlns:a="http://schemas.openxmlformats.org/drawingml/2006/main">
              <a:ext uri="{FF2B5EF4-FFF2-40B4-BE49-F238E27FC236}">
                <a16:creationId xmlns:a16="http://schemas.microsoft.com/office/drawing/2014/main" id="{142B74F0-5275-49AF-9B7C-0CF24FEB7910}"/>
              </a:ext>
            </a:extLst>
          </p:cNvPr>
          <p:cNvSpPr>
            <a:spLocks xmlns:a="http://schemas.openxmlformats.org/drawingml/2006/main" noGrp="1"/>
          </p:cNvSpPr>
          <p:nvPr/>
        </p:nvSpPr>
        <p:spPr>
          <a:xfrm xmlns:a="http://schemas.openxmlformats.org/drawingml/2006/main">
            <a:off x="742950" y="58578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github.com/No6Name8/LeanMoE</a:t>
            </a:r>
          </a:p>
        </p:txBody>
      </p:sp>
    </p:spTree>
    <p:extLst>
      <p:ext uri="{BB962C8B-B14F-4D97-AF65-F5344CB8AC3E}">
        <p14:creationId xmlns:p14="http://schemas.microsoft.com/office/powerpoint/2010/main" val="13321835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2026-10-30T23:38:39.9460000Z</dcterms:created>
  <dcterms:modified xsi:type="dcterms:W3CDTF">2026-10-30T23:38:39.9460000Z</dcterms:modified>
</coreProperties>
</file>